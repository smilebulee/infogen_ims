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60" r:id="rId5"/>
    <p:sldId id="261" r:id="rId6"/>
    <p:sldId id="264" r:id="rId7"/>
    <p:sldId id="262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63D2B7-96E6-CB83-9A19-85FB742CB3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021A5B2-9308-61A7-5CE0-16C98AEB0E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BE3053-9D3E-4802-4AC1-BCA438A59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45CE8-10D8-4EEF-891E-4E2F5C753181}" type="datetimeFigureOut">
              <a:rPr lang="ko-KR" altLang="en-US" smtClean="0"/>
              <a:t>2023-10-26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C2058F-086C-EEB3-CF14-293D835E8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3E5D1C-D3B7-5C89-43AA-29F32E2B8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9D03D-E310-4C6B-B004-2046619476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2966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409242-0D3D-CBA4-BE4A-DC67BCDCE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45CE8-10D8-4EEF-891E-4E2F5C753181}" type="datetimeFigureOut">
              <a:rPr lang="ko-KR" altLang="en-US" smtClean="0"/>
              <a:t>2023-10-26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F41C72-D96B-37BA-15A2-57CA0EBCD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3B9B91-70AC-64BE-AC15-18822761A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9D03D-E310-4C6B-B004-204661947687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5E56AB8F-085D-4D03-131F-70131F8B55BE}"/>
              </a:ext>
            </a:extLst>
          </p:cNvPr>
          <p:cNvCxnSpPr>
            <a:cxnSpLocks/>
          </p:cNvCxnSpPr>
          <p:nvPr userDrawn="1"/>
        </p:nvCxnSpPr>
        <p:spPr>
          <a:xfrm>
            <a:off x="0" y="6389795"/>
            <a:ext cx="12192000" cy="0"/>
          </a:xfrm>
          <a:prstGeom prst="line">
            <a:avLst/>
          </a:prstGeom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2D33468-0D03-1AD2-0A13-058854A92A24}"/>
              </a:ext>
            </a:extLst>
          </p:cNvPr>
          <p:cNvGrpSpPr/>
          <p:nvPr userDrawn="1"/>
        </p:nvGrpSpPr>
        <p:grpSpPr>
          <a:xfrm>
            <a:off x="418729" y="682601"/>
            <a:ext cx="11349286" cy="5554712"/>
            <a:chOff x="340217" y="0"/>
            <a:chExt cx="9221295" cy="6858000"/>
          </a:xfrm>
        </p:grpSpPr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4BFF4266-62B6-63F4-600F-620D565E1081}"/>
                </a:ext>
              </a:extLst>
            </p:cNvPr>
            <p:cNvCxnSpPr/>
            <p:nvPr userDrawn="1"/>
          </p:nvCxnSpPr>
          <p:spPr>
            <a:xfrm>
              <a:off x="340217" y="0"/>
              <a:ext cx="0" cy="68580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CE22F7B-A2CE-8573-555C-A70EDD86E2EB}"/>
                </a:ext>
              </a:extLst>
            </p:cNvPr>
            <p:cNvCxnSpPr/>
            <p:nvPr userDrawn="1"/>
          </p:nvCxnSpPr>
          <p:spPr>
            <a:xfrm>
              <a:off x="9561512" y="0"/>
              <a:ext cx="0" cy="68580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7CAECB5-8202-35B5-09B9-BC309883647F}"/>
              </a:ext>
            </a:extLst>
          </p:cNvPr>
          <p:cNvCxnSpPr>
            <a:cxnSpLocks/>
          </p:cNvCxnSpPr>
          <p:nvPr userDrawn="1"/>
        </p:nvCxnSpPr>
        <p:spPr>
          <a:xfrm>
            <a:off x="0" y="647700"/>
            <a:ext cx="12192000" cy="0"/>
          </a:xfrm>
          <a:prstGeom prst="line">
            <a:avLst/>
          </a:prstGeom>
          <a:ln w="539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2621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0E078B4-5E00-8D5F-AAB2-47AB981DC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EF6C39-671D-97C8-E63A-07B1B86C9A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A78472-40DF-28EE-73FF-0020475BD0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445CE8-10D8-4EEF-891E-4E2F5C753181}" type="datetimeFigureOut">
              <a:rPr lang="ko-KR" altLang="en-US" smtClean="0"/>
              <a:t>2023-10-26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80BE53-7D34-23A4-F2FE-75080B2467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F57A28-0B02-A259-6F2E-010DEC9019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9D03D-E310-4C6B-B004-2046619476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4161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mailto:shyunpark@lgupluspartners.co.kr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D05209E-6F0A-F2C7-BA8C-CD2C157BF89A}"/>
              </a:ext>
            </a:extLst>
          </p:cNvPr>
          <p:cNvSpPr txBox="1"/>
          <p:nvPr/>
        </p:nvSpPr>
        <p:spPr>
          <a:xfrm>
            <a:off x="4048003" y="3075057"/>
            <a:ext cx="40959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dirty="0"/>
              <a:t>SMMS</a:t>
            </a:r>
            <a:r>
              <a:rPr lang="ko-KR" altLang="en-US" sz="4000" dirty="0"/>
              <a:t> 업무 리뷰</a:t>
            </a:r>
          </a:p>
        </p:txBody>
      </p:sp>
    </p:spTree>
    <p:extLst>
      <p:ext uri="{BB962C8B-B14F-4D97-AF65-F5344CB8AC3E}">
        <p14:creationId xmlns:p14="http://schemas.microsoft.com/office/powerpoint/2010/main" val="824430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D05209E-6F0A-F2C7-BA8C-CD2C157BF89A}"/>
              </a:ext>
            </a:extLst>
          </p:cNvPr>
          <p:cNvSpPr txBox="1"/>
          <p:nvPr/>
        </p:nvSpPr>
        <p:spPr>
          <a:xfrm>
            <a:off x="4599436" y="1843950"/>
            <a:ext cx="2993127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dirty="0"/>
              <a:t>1. </a:t>
            </a:r>
            <a:r>
              <a:rPr lang="ko-KR" altLang="en-US" sz="4000" dirty="0"/>
              <a:t>구성도</a:t>
            </a:r>
            <a:endParaRPr lang="en-US" altLang="ko-KR" sz="4000" dirty="0"/>
          </a:p>
          <a:p>
            <a:r>
              <a:rPr lang="en-US" altLang="ko-KR" sz="4000" dirty="0"/>
              <a:t>2. </a:t>
            </a:r>
            <a:r>
              <a:rPr lang="ko-KR" altLang="en-US" sz="4000" dirty="0"/>
              <a:t>개발 정보</a:t>
            </a:r>
            <a:endParaRPr lang="en-US" altLang="ko-KR" sz="4000" dirty="0"/>
          </a:p>
          <a:p>
            <a:r>
              <a:rPr lang="en-US" altLang="ko-KR" sz="4000" dirty="0"/>
              <a:t>3. AGENT</a:t>
            </a:r>
          </a:p>
          <a:p>
            <a:r>
              <a:rPr lang="en-US" altLang="ko-KR" sz="4000" dirty="0"/>
              <a:t>4. History</a:t>
            </a:r>
          </a:p>
          <a:p>
            <a:r>
              <a:rPr lang="en-US" altLang="ko-KR" sz="4000" dirty="0"/>
              <a:t>5. </a:t>
            </a:r>
            <a:r>
              <a:rPr lang="ko-KR" altLang="en-US" sz="4000" dirty="0"/>
              <a:t>정기점검</a:t>
            </a:r>
            <a:endParaRPr lang="en-US" altLang="ko-KR" sz="4000" dirty="0"/>
          </a:p>
        </p:txBody>
      </p:sp>
    </p:spTree>
    <p:extLst>
      <p:ext uri="{BB962C8B-B14F-4D97-AF65-F5344CB8AC3E}">
        <p14:creationId xmlns:p14="http://schemas.microsoft.com/office/powerpoint/2010/main" val="4188074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모서리가 둥근 직사각형 445">
            <a:extLst>
              <a:ext uri="{FF2B5EF4-FFF2-40B4-BE49-F238E27FC236}">
                <a16:creationId xmlns:a16="http://schemas.microsoft.com/office/drawing/2014/main" id="{1352901F-842D-2EAB-A05E-9054E7C4DFAF}"/>
              </a:ext>
            </a:extLst>
          </p:cNvPr>
          <p:cNvSpPr/>
          <p:nvPr/>
        </p:nvSpPr>
        <p:spPr>
          <a:xfrm>
            <a:off x="186928" y="1065258"/>
            <a:ext cx="7267253" cy="3904115"/>
          </a:xfrm>
          <a:prstGeom prst="roundRect">
            <a:avLst>
              <a:gd name="adj" fmla="val 3257"/>
            </a:avLst>
          </a:prstGeom>
          <a:solidFill>
            <a:sysClr val="window" lastClr="FFFFFF"/>
          </a:solidFill>
          <a:ln w="12700" cap="flat" cmpd="sng" algn="ctr">
            <a:solidFill>
              <a:srgbClr val="70AD47">
                <a:shade val="50000"/>
              </a:srgbClr>
            </a:solidFill>
            <a:prstDash val="solid"/>
            <a:miter lim="800000"/>
          </a:ln>
          <a:effectLst/>
        </p:spPr>
        <p:txBody>
          <a:bodyPr lIns="89319" tIns="44659" rIns="89319" bIns="44659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CD805F-6D39-F223-56EA-4D04FC92C210}"/>
              </a:ext>
            </a:extLst>
          </p:cNvPr>
          <p:cNvSpPr txBox="1"/>
          <p:nvPr/>
        </p:nvSpPr>
        <p:spPr>
          <a:xfrm>
            <a:off x="218402" y="147447"/>
            <a:ext cx="74709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SMMS </a:t>
            </a:r>
            <a:r>
              <a:rPr lang="ko-KR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구성도</a:t>
            </a:r>
          </a:p>
        </p:txBody>
      </p:sp>
      <p:sp>
        <p:nvSpPr>
          <p:cNvPr id="5" name="슬라이드 번호 개체 틀 8">
            <a:extLst>
              <a:ext uri="{FF2B5EF4-FFF2-40B4-BE49-F238E27FC236}">
                <a16:creationId xmlns:a16="http://schemas.microsoft.com/office/drawing/2014/main" id="{2397384E-700C-42D0-19F1-0400C36E0875}"/>
              </a:ext>
            </a:extLst>
          </p:cNvPr>
          <p:cNvSpPr txBox="1">
            <a:spLocks/>
          </p:cNvSpPr>
          <p:nvPr/>
        </p:nvSpPr>
        <p:spPr>
          <a:xfrm>
            <a:off x="7736114" y="6935455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37EC674-D154-435A-8F5A-215FC1287B62}" type="slidenum">
              <a:rPr lang="ko-KR" altLang="en-US" smtClean="0">
                <a:latin typeface="+mn-ea"/>
              </a:rPr>
              <a:pPr/>
              <a:t>3</a:t>
            </a:fld>
            <a:endParaRPr lang="ko-KR" altLang="en-US" dirty="0">
              <a:latin typeface="+mn-ea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503D0BF-A7A1-5512-9B44-17797535ED20}"/>
              </a:ext>
            </a:extLst>
          </p:cNvPr>
          <p:cNvSpPr txBox="1"/>
          <p:nvPr/>
        </p:nvSpPr>
        <p:spPr>
          <a:xfrm>
            <a:off x="3499767" y="984737"/>
            <a:ext cx="641573" cy="169277"/>
          </a:xfrm>
          <a:prstGeom prst="rect">
            <a:avLst/>
          </a:prstGeom>
          <a:solidFill>
            <a:sysClr val="window" lastClr="FFFFFF"/>
          </a:solidFill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54976"/>
                </a:solidFill>
                <a:effectLst/>
                <a:uLnTx/>
                <a:uFillTx/>
                <a:latin typeface="+mn-ea"/>
              </a:rPr>
              <a:t>각 그룹사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C14E3082-1411-E99C-6E13-0416470B0898}"/>
              </a:ext>
            </a:extLst>
          </p:cNvPr>
          <p:cNvSpPr txBox="1"/>
          <p:nvPr/>
        </p:nvSpPr>
        <p:spPr>
          <a:xfrm>
            <a:off x="4982906" y="730272"/>
            <a:ext cx="2423741" cy="169277"/>
          </a:xfrm>
          <a:prstGeom prst="rect">
            <a:avLst/>
          </a:prstGeom>
          <a:solidFill>
            <a:sysClr val="window" lastClr="FFFFFF"/>
          </a:solidFill>
          <a:ln>
            <a:noFill/>
          </a:ln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신한 메시징 모니터링 시스템</a:t>
            </a:r>
            <a:r>
              <a:rPr kumimoji="0" lang="en-US" altLang="ko-KR" sz="11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 (SMMS)</a:t>
            </a:r>
            <a:endParaRPr kumimoji="0" lang="ko-KR" altLang="en-US" sz="1100" b="1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60" name="모서리가 둥근 직사각형 445">
            <a:extLst>
              <a:ext uri="{FF2B5EF4-FFF2-40B4-BE49-F238E27FC236}">
                <a16:creationId xmlns:a16="http://schemas.microsoft.com/office/drawing/2014/main" id="{D0B6FAFF-21CE-6C59-BACD-67B7A886EA69}"/>
              </a:ext>
            </a:extLst>
          </p:cNvPr>
          <p:cNvSpPr/>
          <p:nvPr/>
        </p:nvSpPr>
        <p:spPr>
          <a:xfrm>
            <a:off x="8122369" y="3583445"/>
            <a:ext cx="3749323" cy="2942601"/>
          </a:xfrm>
          <a:prstGeom prst="roundRect">
            <a:avLst>
              <a:gd name="adj" fmla="val 3257"/>
            </a:avLst>
          </a:prstGeom>
          <a:solidFill>
            <a:sysClr val="window" lastClr="FFFFFF"/>
          </a:solidFill>
          <a:ln w="12700" cap="flat" cmpd="sng" algn="ctr">
            <a:solidFill>
              <a:srgbClr val="70AD47">
                <a:shade val="50000"/>
              </a:srgbClr>
            </a:solidFill>
            <a:prstDash val="solid"/>
            <a:miter lim="800000"/>
          </a:ln>
          <a:effectLst/>
        </p:spPr>
        <p:txBody>
          <a:bodyPr lIns="89319" tIns="44659" rIns="89319" bIns="44659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grpSp>
        <p:nvGrpSpPr>
          <p:cNvPr id="672" name="그룹 671">
            <a:extLst>
              <a:ext uri="{FF2B5EF4-FFF2-40B4-BE49-F238E27FC236}">
                <a16:creationId xmlns:a16="http://schemas.microsoft.com/office/drawing/2014/main" id="{443C67AD-AC30-87BE-5A7C-D545CC4B164E}"/>
              </a:ext>
            </a:extLst>
          </p:cNvPr>
          <p:cNvGrpSpPr/>
          <p:nvPr/>
        </p:nvGrpSpPr>
        <p:grpSpPr>
          <a:xfrm>
            <a:off x="338617" y="1280299"/>
            <a:ext cx="3404257" cy="1001080"/>
            <a:chOff x="782745" y="1488219"/>
            <a:chExt cx="3404257" cy="1001080"/>
          </a:xfrm>
        </p:grpSpPr>
        <p:sp>
          <p:nvSpPr>
            <p:cNvPr id="520" name="모서리가 둥근 직사각형 146">
              <a:extLst>
                <a:ext uri="{FF2B5EF4-FFF2-40B4-BE49-F238E27FC236}">
                  <a16:creationId xmlns:a16="http://schemas.microsoft.com/office/drawing/2014/main" id="{AC57B79F-F90C-8ED1-7E97-98CB6D9599BC}"/>
                </a:ext>
              </a:extLst>
            </p:cNvPr>
            <p:cNvSpPr/>
            <p:nvPr/>
          </p:nvSpPr>
          <p:spPr>
            <a:xfrm>
              <a:off x="844651" y="1573681"/>
              <a:ext cx="3270149" cy="845267"/>
            </a:xfrm>
            <a:prstGeom prst="roundRect">
              <a:avLst>
                <a:gd name="adj" fmla="val 0"/>
              </a:avLst>
            </a:prstGeom>
            <a:solidFill>
              <a:srgbClr val="D4E3F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521" name="모서리가 둥근 직사각형 43">
              <a:extLst>
                <a:ext uri="{FF2B5EF4-FFF2-40B4-BE49-F238E27FC236}">
                  <a16:creationId xmlns:a16="http://schemas.microsoft.com/office/drawing/2014/main" id="{0399F13C-9D39-B36B-B4D0-0603CDC0ED4B}"/>
                </a:ext>
              </a:extLst>
            </p:cNvPr>
            <p:cNvSpPr/>
            <p:nvPr/>
          </p:nvSpPr>
          <p:spPr>
            <a:xfrm>
              <a:off x="782745" y="1488219"/>
              <a:ext cx="3404257" cy="1001080"/>
            </a:xfrm>
            <a:prstGeom prst="roundRect">
              <a:avLst>
                <a:gd name="adj" fmla="val 4458"/>
              </a:avLst>
            </a:prstGeom>
            <a:noFill/>
            <a:ln w="19050" cap="flat" cmpd="sng" algn="ctr">
              <a:solidFill>
                <a:srgbClr val="718BC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grpSp>
          <p:nvGrpSpPr>
            <p:cNvPr id="535" name="그룹 534">
              <a:extLst>
                <a:ext uri="{FF2B5EF4-FFF2-40B4-BE49-F238E27FC236}">
                  <a16:creationId xmlns:a16="http://schemas.microsoft.com/office/drawing/2014/main" id="{7D686F85-753D-D637-0AB6-50D00CA0F7CD}"/>
                </a:ext>
              </a:extLst>
            </p:cNvPr>
            <p:cNvGrpSpPr/>
            <p:nvPr/>
          </p:nvGrpSpPr>
          <p:grpSpPr>
            <a:xfrm>
              <a:off x="890294" y="2042096"/>
              <a:ext cx="951534" cy="380908"/>
              <a:chOff x="2390679" y="3043337"/>
              <a:chExt cx="898585" cy="362660"/>
            </a:xfrm>
          </p:grpSpPr>
          <p:grpSp>
            <p:nvGrpSpPr>
              <p:cNvPr id="536" name="그룹 535">
                <a:extLst>
                  <a:ext uri="{FF2B5EF4-FFF2-40B4-BE49-F238E27FC236}">
                    <a16:creationId xmlns:a16="http://schemas.microsoft.com/office/drawing/2014/main" id="{52A2FF9C-47D3-BCDA-E0CC-E5B501007687}"/>
                  </a:ext>
                </a:extLst>
              </p:cNvPr>
              <p:cNvGrpSpPr/>
              <p:nvPr/>
            </p:nvGrpSpPr>
            <p:grpSpPr>
              <a:xfrm>
                <a:off x="2548087" y="3043337"/>
                <a:ext cx="741177" cy="225928"/>
                <a:chOff x="2638426" y="6588126"/>
                <a:chExt cx="2890392" cy="881063"/>
              </a:xfrm>
              <a:solidFill>
                <a:srgbClr val="718BC5"/>
              </a:solidFill>
            </p:grpSpPr>
            <p:sp>
              <p:nvSpPr>
                <p:cNvPr id="538" name="Freeform 401">
                  <a:extLst>
                    <a:ext uri="{FF2B5EF4-FFF2-40B4-BE49-F238E27FC236}">
                      <a16:creationId xmlns:a16="http://schemas.microsoft.com/office/drawing/2014/main" id="{1B1F3EA4-D828-BF19-3447-27D50C2C5DA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727326" y="6588126"/>
                  <a:ext cx="690563" cy="881063"/>
                </a:xfrm>
                <a:custGeom>
                  <a:avLst/>
                  <a:gdLst>
                    <a:gd name="T0" fmla="*/ 1209 w 1209"/>
                    <a:gd name="T1" fmla="*/ 1261 h 1544"/>
                    <a:gd name="T2" fmla="*/ 1209 w 1209"/>
                    <a:gd name="T3" fmla="*/ 25 h 1544"/>
                    <a:gd name="T4" fmla="*/ 1184 w 1209"/>
                    <a:gd name="T5" fmla="*/ 0 h 1544"/>
                    <a:gd name="T6" fmla="*/ 26 w 1209"/>
                    <a:gd name="T7" fmla="*/ 0 h 1544"/>
                    <a:gd name="T8" fmla="*/ 0 w 1209"/>
                    <a:gd name="T9" fmla="*/ 25 h 1544"/>
                    <a:gd name="T10" fmla="*/ 0 w 1209"/>
                    <a:gd name="T11" fmla="*/ 386 h 1544"/>
                    <a:gd name="T12" fmla="*/ 51 w 1209"/>
                    <a:gd name="T13" fmla="*/ 386 h 1544"/>
                    <a:gd name="T14" fmla="*/ 51 w 1209"/>
                    <a:gd name="T15" fmla="*/ 51 h 1544"/>
                    <a:gd name="T16" fmla="*/ 1158 w 1209"/>
                    <a:gd name="T17" fmla="*/ 51 h 1544"/>
                    <a:gd name="T18" fmla="*/ 1158 w 1209"/>
                    <a:gd name="T19" fmla="*/ 1235 h 1544"/>
                    <a:gd name="T20" fmla="*/ 926 w 1209"/>
                    <a:gd name="T21" fmla="*/ 1235 h 1544"/>
                    <a:gd name="T22" fmla="*/ 901 w 1209"/>
                    <a:gd name="T23" fmla="*/ 1261 h 1544"/>
                    <a:gd name="T24" fmla="*/ 901 w 1209"/>
                    <a:gd name="T25" fmla="*/ 1492 h 1544"/>
                    <a:gd name="T26" fmla="*/ 51 w 1209"/>
                    <a:gd name="T27" fmla="*/ 1492 h 1544"/>
                    <a:gd name="T28" fmla="*/ 51 w 1209"/>
                    <a:gd name="T29" fmla="*/ 1106 h 1544"/>
                    <a:gd name="T30" fmla="*/ 0 w 1209"/>
                    <a:gd name="T31" fmla="*/ 1106 h 1544"/>
                    <a:gd name="T32" fmla="*/ 0 w 1209"/>
                    <a:gd name="T33" fmla="*/ 1518 h 1544"/>
                    <a:gd name="T34" fmla="*/ 26 w 1209"/>
                    <a:gd name="T35" fmla="*/ 1544 h 1544"/>
                    <a:gd name="T36" fmla="*/ 926 w 1209"/>
                    <a:gd name="T37" fmla="*/ 1544 h 1544"/>
                    <a:gd name="T38" fmla="*/ 944 w 1209"/>
                    <a:gd name="T39" fmla="*/ 1536 h 1544"/>
                    <a:gd name="T40" fmla="*/ 1202 w 1209"/>
                    <a:gd name="T41" fmla="*/ 1279 h 1544"/>
                    <a:gd name="T42" fmla="*/ 1207 w 1209"/>
                    <a:gd name="T43" fmla="*/ 1271 h 1544"/>
                    <a:gd name="T44" fmla="*/ 1207 w 1209"/>
                    <a:gd name="T45" fmla="*/ 1269 h 1544"/>
                    <a:gd name="T46" fmla="*/ 1209 w 1209"/>
                    <a:gd name="T47" fmla="*/ 1261 h 1544"/>
                    <a:gd name="T48" fmla="*/ 952 w 1209"/>
                    <a:gd name="T49" fmla="*/ 1286 h 1544"/>
                    <a:gd name="T50" fmla="*/ 1122 w 1209"/>
                    <a:gd name="T51" fmla="*/ 1286 h 1544"/>
                    <a:gd name="T52" fmla="*/ 952 w 1209"/>
                    <a:gd name="T53" fmla="*/ 1456 h 1544"/>
                    <a:gd name="T54" fmla="*/ 952 w 1209"/>
                    <a:gd name="T55" fmla="*/ 1286 h 1544"/>
                    <a:gd name="T56" fmla="*/ 952 w 1209"/>
                    <a:gd name="T57" fmla="*/ 1286 h 1544"/>
                    <a:gd name="T58" fmla="*/ 952 w 1209"/>
                    <a:gd name="T59" fmla="*/ 1286 h 15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1209" h="1544">
                      <a:moveTo>
                        <a:pt x="1209" y="1261"/>
                      </a:moveTo>
                      <a:cubicBezTo>
                        <a:pt x="1209" y="25"/>
                        <a:pt x="1209" y="25"/>
                        <a:pt x="1209" y="25"/>
                      </a:cubicBezTo>
                      <a:cubicBezTo>
                        <a:pt x="1209" y="10"/>
                        <a:pt x="1199" y="0"/>
                        <a:pt x="118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cubicBezTo>
                        <a:pt x="10" y="0"/>
                        <a:pt x="0" y="10"/>
                        <a:pt x="0" y="25"/>
                      </a:cubicBezTo>
                      <a:cubicBezTo>
                        <a:pt x="0" y="386"/>
                        <a:pt x="0" y="386"/>
                        <a:pt x="0" y="386"/>
                      </a:cubicBezTo>
                      <a:cubicBezTo>
                        <a:pt x="51" y="386"/>
                        <a:pt x="51" y="386"/>
                        <a:pt x="51" y="386"/>
                      </a:cubicBezTo>
                      <a:cubicBezTo>
                        <a:pt x="51" y="51"/>
                        <a:pt x="51" y="51"/>
                        <a:pt x="51" y="51"/>
                      </a:cubicBezTo>
                      <a:cubicBezTo>
                        <a:pt x="1158" y="51"/>
                        <a:pt x="1158" y="51"/>
                        <a:pt x="1158" y="51"/>
                      </a:cubicBezTo>
                      <a:cubicBezTo>
                        <a:pt x="1158" y="1235"/>
                        <a:pt x="1158" y="1235"/>
                        <a:pt x="1158" y="1235"/>
                      </a:cubicBezTo>
                      <a:cubicBezTo>
                        <a:pt x="926" y="1235"/>
                        <a:pt x="926" y="1235"/>
                        <a:pt x="926" y="1235"/>
                      </a:cubicBezTo>
                      <a:cubicBezTo>
                        <a:pt x="911" y="1235"/>
                        <a:pt x="901" y="1245"/>
                        <a:pt x="901" y="1261"/>
                      </a:cubicBezTo>
                      <a:cubicBezTo>
                        <a:pt x="901" y="1492"/>
                        <a:pt x="901" y="1492"/>
                        <a:pt x="901" y="1492"/>
                      </a:cubicBezTo>
                      <a:cubicBezTo>
                        <a:pt x="51" y="1492"/>
                        <a:pt x="51" y="1492"/>
                        <a:pt x="51" y="1492"/>
                      </a:cubicBezTo>
                      <a:cubicBezTo>
                        <a:pt x="51" y="1106"/>
                        <a:pt x="51" y="1106"/>
                        <a:pt x="51" y="1106"/>
                      </a:cubicBezTo>
                      <a:cubicBezTo>
                        <a:pt x="0" y="1106"/>
                        <a:pt x="0" y="1106"/>
                        <a:pt x="0" y="1106"/>
                      </a:cubicBezTo>
                      <a:cubicBezTo>
                        <a:pt x="0" y="1518"/>
                        <a:pt x="0" y="1518"/>
                        <a:pt x="0" y="1518"/>
                      </a:cubicBezTo>
                      <a:cubicBezTo>
                        <a:pt x="0" y="1534"/>
                        <a:pt x="10" y="1544"/>
                        <a:pt x="26" y="1544"/>
                      </a:cubicBezTo>
                      <a:cubicBezTo>
                        <a:pt x="926" y="1544"/>
                        <a:pt x="926" y="1544"/>
                        <a:pt x="926" y="1544"/>
                      </a:cubicBezTo>
                      <a:cubicBezTo>
                        <a:pt x="934" y="1544"/>
                        <a:pt x="939" y="1541"/>
                        <a:pt x="944" y="1536"/>
                      </a:cubicBezTo>
                      <a:cubicBezTo>
                        <a:pt x="1202" y="1279"/>
                        <a:pt x="1202" y="1279"/>
                        <a:pt x="1202" y="1279"/>
                      </a:cubicBezTo>
                      <a:cubicBezTo>
                        <a:pt x="1204" y="1276"/>
                        <a:pt x="1204" y="1274"/>
                        <a:pt x="1207" y="1271"/>
                      </a:cubicBezTo>
                      <a:cubicBezTo>
                        <a:pt x="1207" y="1269"/>
                        <a:pt x="1207" y="1269"/>
                        <a:pt x="1207" y="1269"/>
                      </a:cubicBezTo>
                      <a:cubicBezTo>
                        <a:pt x="1209" y="1266"/>
                        <a:pt x="1209" y="1263"/>
                        <a:pt x="1209" y="1261"/>
                      </a:cubicBezTo>
                      <a:close/>
                      <a:moveTo>
                        <a:pt x="952" y="1286"/>
                      </a:moveTo>
                      <a:cubicBezTo>
                        <a:pt x="1122" y="1286"/>
                        <a:pt x="1122" y="1286"/>
                        <a:pt x="1122" y="1286"/>
                      </a:cubicBezTo>
                      <a:cubicBezTo>
                        <a:pt x="952" y="1456"/>
                        <a:pt x="952" y="1456"/>
                        <a:pt x="952" y="1456"/>
                      </a:cubicBezTo>
                      <a:lnTo>
                        <a:pt x="952" y="1286"/>
                      </a:lnTo>
                      <a:close/>
                      <a:moveTo>
                        <a:pt x="952" y="1286"/>
                      </a:moveTo>
                      <a:cubicBezTo>
                        <a:pt x="952" y="1286"/>
                        <a:pt x="952" y="1286"/>
                        <a:pt x="952" y="1286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539" name="Freeform 402">
                  <a:extLst>
                    <a:ext uri="{FF2B5EF4-FFF2-40B4-BE49-F238E27FC236}">
                      <a16:creationId xmlns:a16="http://schemas.microsoft.com/office/drawing/2014/main" id="{50BA88FA-D2F5-DB9A-0952-659501D3121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638426" y="6823076"/>
                  <a:ext cx="338138" cy="323850"/>
                </a:xfrm>
                <a:custGeom>
                  <a:avLst/>
                  <a:gdLst>
                    <a:gd name="T0" fmla="*/ 334 w 591"/>
                    <a:gd name="T1" fmla="*/ 567 h 567"/>
                    <a:gd name="T2" fmla="*/ 591 w 591"/>
                    <a:gd name="T3" fmla="*/ 567 h 567"/>
                    <a:gd name="T4" fmla="*/ 591 w 591"/>
                    <a:gd name="T5" fmla="*/ 515 h 567"/>
                    <a:gd name="T6" fmla="*/ 514 w 591"/>
                    <a:gd name="T7" fmla="*/ 515 h 567"/>
                    <a:gd name="T8" fmla="*/ 514 w 591"/>
                    <a:gd name="T9" fmla="*/ 26 h 567"/>
                    <a:gd name="T10" fmla="*/ 488 w 591"/>
                    <a:gd name="T11" fmla="*/ 0 h 567"/>
                    <a:gd name="T12" fmla="*/ 334 w 591"/>
                    <a:gd name="T13" fmla="*/ 0 h 567"/>
                    <a:gd name="T14" fmla="*/ 308 w 591"/>
                    <a:gd name="T15" fmla="*/ 26 h 567"/>
                    <a:gd name="T16" fmla="*/ 308 w 591"/>
                    <a:gd name="T17" fmla="*/ 181 h 567"/>
                    <a:gd name="T18" fmla="*/ 180 w 591"/>
                    <a:gd name="T19" fmla="*/ 181 h 567"/>
                    <a:gd name="T20" fmla="*/ 154 w 591"/>
                    <a:gd name="T21" fmla="*/ 206 h 567"/>
                    <a:gd name="T22" fmla="*/ 154 w 591"/>
                    <a:gd name="T23" fmla="*/ 309 h 567"/>
                    <a:gd name="T24" fmla="*/ 25 w 591"/>
                    <a:gd name="T25" fmla="*/ 309 h 567"/>
                    <a:gd name="T26" fmla="*/ 0 w 591"/>
                    <a:gd name="T27" fmla="*/ 335 h 567"/>
                    <a:gd name="T28" fmla="*/ 0 w 591"/>
                    <a:gd name="T29" fmla="*/ 541 h 567"/>
                    <a:gd name="T30" fmla="*/ 25 w 591"/>
                    <a:gd name="T31" fmla="*/ 567 h 567"/>
                    <a:gd name="T32" fmla="*/ 334 w 591"/>
                    <a:gd name="T33" fmla="*/ 567 h 567"/>
                    <a:gd name="T34" fmla="*/ 360 w 591"/>
                    <a:gd name="T35" fmla="*/ 52 h 567"/>
                    <a:gd name="T36" fmla="*/ 463 w 591"/>
                    <a:gd name="T37" fmla="*/ 52 h 567"/>
                    <a:gd name="T38" fmla="*/ 463 w 591"/>
                    <a:gd name="T39" fmla="*/ 515 h 567"/>
                    <a:gd name="T40" fmla="*/ 360 w 591"/>
                    <a:gd name="T41" fmla="*/ 515 h 567"/>
                    <a:gd name="T42" fmla="*/ 360 w 591"/>
                    <a:gd name="T43" fmla="*/ 52 h 567"/>
                    <a:gd name="T44" fmla="*/ 205 w 591"/>
                    <a:gd name="T45" fmla="*/ 232 h 567"/>
                    <a:gd name="T46" fmla="*/ 308 w 591"/>
                    <a:gd name="T47" fmla="*/ 232 h 567"/>
                    <a:gd name="T48" fmla="*/ 308 w 591"/>
                    <a:gd name="T49" fmla="*/ 515 h 567"/>
                    <a:gd name="T50" fmla="*/ 205 w 591"/>
                    <a:gd name="T51" fmla="*/ 515 h 567"/>
                    <a:gd name="T52" fmla="*/ 205 w 591"/>
                    <a:gd name="T53" fmla="*/ 232 h 567"/>
                    <a:gd name="T54" fmla="*/ 51 w 591"/>
                    <a:gd name="T55" fmla="*/ 361 h 567"/>
                    <a:gd name="T56" fmla="*/ 154 w 591"/>
                    <a:gd name="T57" fmla="*/ 361 h 567"/>
                    <a:gd name="T58" fmla="*/ 154 w 591"/>
                    <a:gd name="T59" fmla="*/ 515 h 567"/>
                    <a:gd name="T60" fmla="*/ 51 w 591"/>
                    <a:gd name="T61" fmla="*/ 515 h 567"/>
                    <a:gd name="T62" fmla="*/ 51 w 591"/>
                    <a:gd name="T63" fmla="*/ 361 h 567"/>
                    <a:gd name="T64" fmla="*/ 51 w 591"/>
                    <a:gd name="T65" fmla="*/ 361 h 567"/>
                    <a:gd name="T66" fmla="*/ 51 w 591"/>
                    <a:gd name="T67" fmla="*/ 361 h 5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591" h="567">
                      <a:moveTo>
                        <a:pt x="334" y="567"/>
                      </a:moveTo>
                      <a:cubicBezTo>
                        <a:pt x="591" y="567"/>
                        <a:pt x="591" y="567"/>
                        <a:pt x="591" y="567"/>
                      </a:cubicBezTo>
                      <a:cubicBezTo>
                        <a:pt x="591" y="515"/>
                        <a:pt x="591" y="515"/>
                        <a:pt x="591" y="515"/>
                      </a:cubicBezTo>
                      <a:cubicBezTo>
                        <a:pt x="514" y="515"/>
                        <a:pt x="514" y="515"/>
                        <a:pt x="514" y="515"/>
                      </a:cubicBezTo>
                      <a:cubicBezTo>
                        <a:pt x="514" y="26"/>
                        <a:pt x="514" y="26"/>
                        <a:pt x="514" y="26"/>
                      </a:cubicBezTo>
                      <a:cubicBezTo>
                        <a:pt x="514" y="11"/>
                        <a:pt x="504" y="0"/>
                        <a:pt x="488" y="0"/>
                      </a:cubicBezTo>
                      <a:cubicBezTo>
                        <a:pt x="334" y="0"/>
                        <a:pt x="334" y="0"/>
                        <a:pt x="334" y="0"/>
                      </a:cubicBezTo>
                      <a:cubicBezTo>
                        <a:pt x="319" y="0"/>
                        <a:pt x="308" y="11"/>
                        <a:pt x="308" y="26"/>
                      </a:cubicBezTo>
                      <a:cubicBezTo>
                        <a:pt x="308" y="181"/>
                        <a:pt x="308" y="181"/>
                        <a:pt x="308" y="181"/>
                      </a:cubicBezTo>
                      <a:cubicBezTo>
                        <a:pt x="180" y="181"/>
                        <a:pt x="180" y="181"/>
                        <a:pt x="180" y="181"/>
                      </a:cubicBezTo>
                      <a:cubicBezTo>
                        <a:pt x="164" y="181"/>
                        <a:pt x="154" y="191"/>
                        <a:pt x="154" y="206"/>
                      </a:cubicBezTo>
                      <a:cubicBezTo>
                        <a:pt x="154" y="309"/>
                        <a:pt x="154" y="309"/>
                        <a:pt x="154" y="309"/>
                      </a:cubicBezTo>
                      <a:cubicBezTo>
                        <a:pt x="25" y="309"/>
                        <a:pt x="25" y="309"/>
                        <a:pt x="25" y="309"/>
                      </a:cubicBezTo>
                      <a:cubicBezTo>
                        <a:pt x="10" y="309"/>
                        <a:pt x="0" y="320"/>
                        <a:pt x="0" y="335"/>
                      </a:cubicBezTo>
                      <a:cubicBezTo>
                        <a:pt x="0" y="541"/>
                        <a:pt x="0" y="541"/>
                        <a:pt x="0" y="541"/>
                      </a:cubicBezTo>
                      <a:cubicBezTo>
                        <a:pt x="0" y="556"/>
                        <a:pt x="10" y="567"/>
                        <a:pt x="25" y="567"/>
                      </a:cubicBezTo>
                      <a:lnTo>
                        <a:pt x="334" y="567"/>
                      </a:lnTo>
                      <a:close/>
                      <a:moveTo>
                        <a:pt x="360" y="52"/>
                      </a:moveTo>
                      <a:cubicBezTo>
                        <a:pt x="463" y="52"/>
                        <a:pt x="463" y="52"/>
                        <a:pt x="463" y="52"/>
                      </a:cubicBezTo>
                      <a:cubicBezTo>
                        <a:pt x="463" y="515"/>
                        <a:pt x="463" y="515"/>
                        <a:pt x="463" y="515"/>
                      </a:cubicBezTo>
                      <a:cubicBezTo>
                        <a:pt x="360" y="515"/>
                        <a:pt x="360" y="515"/>
                        <a:pt x="360" y="515"/>
                      </a:cubicBezTo>
                      <a:lnTo>
                        <a:pt x="360" y="52"/>
                      </a:lnTo>
                      <a:close/>
                      <a:moveTo>
                        <a:pt x="205" y="232"/>
                      </a:moveTo>
                      <a:cubicBezTo>
                        <a:pt x="308" y="232"/>
                        <a:pt x="308" y="232"/>
                        <a:pt x="308" y="232"/>
                      </a:cubicBezTo>
                      <a:cubicBezTo>
                        <a:pt x="308" y="515"/>
                        <a:pt x="308" y="515"/>
                        <a:pt x="308" y="515"/>
                      </a:cubicBezTo>
                      <a:cubicBezTo>
                        <a:pt x="205" y="515"/>
                        <a:pt x="205" y="515"/>
                        <a:pt x="205" y="515"/>
                      </a:cubicBezTo>
                      <a:lnTo>
                        <a:pt x="205" y="232"/>
                      </a:lnTo>
                      <a:close/>
                      <a:moveTo>
                        <a:pt x="51" y="361"/>
                      </a:moveTo>
                      <a:cubicBezTo>
                        <a:pt x="154" y="361"/>
                        <a:pt x="154" y="361"/>
                        <a:pt x="154" y="361"/>
                      </a:cubicBezTo>
                      <a:cubicBezTo>
                        <a:pt x="154" y="515"/>
                        <a:pt x="154" y="515"/>
                        <a:pt x="154" y="515"/>
                      </a:cubicBezTo>
                      <a:cubicBezTo>
                        <a:pt x="51" y="515"/>
                        <a:pt x="51" y="515"/>
                        <a:pt x="51" y="515"/>
                      </a:cubicBezTo>
                      <a:lnTo>
                        <a:pt x="51" y="361"/>
                      </a:lnTo>
                      <a:close/>
                      <a:moveTo>
                        <a:pt x="51" y="361"/>
                      </a:moveTo>
                      <a:cubicBezTo>
                        <a:pt x="51" y="361"/>
                        <a:pt x="51" y="361"/>
                        <a:pt x="51" y="361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540" name="Freeform 403">
                  <a:extLst>
                    <a:ext uri="{FF2B5EF4-FFF2-40B4-BE49-F238E27FC236}">
                      <a16:creationId xmlns:a16="http://schemas.microsoft.com/office/drawing/2014/main" id="{47F1A4AA-B132-7E09-E27A-3D4F30ED388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990851" y="6675438"/>
                  <a:ext cx="338138" cy="279400"/>
                </a:xfrm>
                <a:custGeom>
                  <a:avLst/>
                  <a:gdLst>
                    <a:gd name="T0" fmla="*/ 592 w 592"/>
                    <a:gd name="T1" fmla="*/ 463 h 489"/>
                    <a:gd name="T2" fmla="*/ 592 w 592"/>
                    <a:gd name="T3" fmla="*/ 26 h 489"/>
                    <a:gd name="T4" fmla="*/ 566 w 592"/>
                    <a:gd name="T5" fmla="*/ 0 h 489"/>
                    <a:gd name="T6" fmla="*/ 26 w 592"/>
                    <a:gd name="T7" fmla="*/ 0 h 489"/>
                    <a:gd name="T8" fmla="*/ 0 w 592"/>
                    <a:gd name="T9" fmla="*/ 26 h 489"/>
                    <a:gd name="T10" fmla="*/ 0 w 592"/>
                    <a:gd name="T11" fmla="*/ 463 h 489"/>
                    <a:gd name="T12" fmla="*/ 26 w 592"/>
                    <a:gd name="T13" fmla="*/ 489 h 489"/>
                    <a:gd name="T14" fmla="*/ 566 w 592"/>
                    <a:gd name="T15" fmla="*/ 489 h 489"/>
                    <a:gd name="T16" fmla="*/ 592 w 592"/>
                    <a:gd name="T17" fmla="*/ 463 h 489"/>
                    <a:gd name="T18" fmla="*/ 541 w 592"/>
                    <a:gd name="T19" fmla="*/ 155 h 489"/>
                    <a:gd name="T20" fmla="*/ 232 w 592"/>
                    <a:gd name="T21" fmla="*/ 155 h 489"/>
                    <a:gd name="T22" fmla="*/ 232 w 592"/>
                    <a:gd name="T23" fmla="*/ 51 h 489"/>
                    <a:gd name="T24" fmla="*/ 541 w 592"/>
                    <a:gd name="T25" fmla="*/ 51 h 489"/>
                    <a:gd name="T26" fmla="*/ 541 w 592"/>
                    <a:gd name="T27" fmla="*/ 155 h 489"/>
                    <a:gd name="T28" fmla="*/ 180 w 592"/>
                    <a:gd name="T29" fmla="*/ 51 h 489"/>
                    <a:gd name="T30" fmla="*/ 180 w 592"/>
                    <a:gd name="T31" fmla="*/ 155 h 489"/>
                    <a:gd name="T32" fmla="*/ 52 w 592"/>
                    <a:gd name="T33" fmla="*/ 155 h 489"/>
                    <a:gd name="T34" fmla="*/ 52 w 592"/>
                    <a:gd name="T35" fmla="*/ 51 h 489"/>
                    <a:gd name="T36" fmla="*/ 180 w 592"/>
                    <a:gd name="T37" fmla="*/ 51 h 489"/>
                    <a:gd name="T38" fmla="*/ 52 w 592"/>
                    <a:gd name="T39" fmla="*/ 206 h 489"/>
                    <a:gd name="T40" fmla="*/ 180 w 592"/>
                    <a:gd name="T41" fmla="*/ 206 h 489"/>
                    <a:gd name="T42" fmla="*/ 180 w 592"/>
                    <a:gd name="T43" fmla="*/ 438 h 489"/>
                    <a:gd name="T44" fmla="*/ 52 w 592"/>
                    <a:gd name="T45" fmla="*/ 438 h 489"/>
                    <a:gd name="T46" fmla="*/ 52 w 592"/>
                    <a:gd name="T47" fmla="*/ 206 h 489"/>
                    <a:gd name="T48" fmla="*/ 232 w 592"/>
                    <a:gd name="T49" fmla="*/ 438 h 489"/>
                    <a:gd name="T50" fmla="*/ 232 w 592"/>
                    <a:gd name="T51" fmla="*/ 206 h 489"/>
                    <a:gd name="T52" fmla="*/ 541 w 592"/>
                    <a:gd name="T53" fmla="*/ 206 h 489"/>
                    <a:gd name="T54" fmla="*/ 541 w 592"/>
                    <a:gd name="T55" fmla="*/ 438 h 489"/>
                    <a:gd name="T56" fmla="*/ 232 w 592"/>
                    <a:gd name="T57" fmla="*/ 438 h 489"/>
                    <a:gd name="T58" fmla="*/ 232 w 592"/>
                    <a:gd name="T59" fmla="*/ 438 h 489"/>
                    <a:gd name="T60" fmla="*/ 232 w 592"/>
                    <a:gd name="T61" fmla="*/ 438 h 4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592" h="489">
                      <a:moveTo>
                        <a:pt x="592" y="463"/>
                      </a:moveTo>
                      <a:cubicBezTo>
                        <a:pt x="592" y="26"/>
                        <a:pt x="592" y="26"/>
                        <a:pt x="592" y="26"/>
                      </a:cubicBezTo>
                      <a:cubicBezTo>
                        <a:pt x="592" y="10"/>
                        <a:pt x="582" y="0"/>
                        <a:pt x="566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cubicBezTo>
                        <a:pt x="10" y="0"/>
                        <a:pt x="0" y="10"/>
                        <a:pt x="0" y="26"/>
                      </a:cubicBezTo>
                      <a:cubicBezTo>
                        <a:pt x="0" y="463"/>
                        <a:pt x="0" y="463"/>
                        <a:pt x="0" y="463"/>
                      </a:cubicBezTo>
                      <a:cubicBezTo>
                        <a:pt x="0" y="479"/>
                        <a:pt x="10" y="489"/>
                        <a:pt x="26" y="489"/>
                      </a:cubicBezTo>
                      <a:cubicBezTo>
                        <a:pt x="566" y="489"/>
                        <a:pt x="566" y="489"/>
                        <a:pt x="566" y="489"/>
                      </a:cubicBezTo>
                      <a:cubicBezTo>
                        <a:pt x="582" y="489"/>
                        <a:pt x="592" y="479"/>
                        <a:pt x="592" y="463"/>
                      </a:cubicBezTo>
                      <a:close/>
                      <a:moveTo>
                        <a:pt x="541" y="155"/>
                      </a:moveTo>
                      <a:cubicBezTo>
                        <a:pt x="232" y="155"/>
                        <a:pt x="232" y="155"/>
                        <a:pt x="232" y="155"/>
                      </a:cubicBezTo>
                      <a:cubicBezTo>
                        <a:pt x="232" y="51"/>
                        <a:pt x="232" y="51"/>
                        <a:pt x="232" y="51"/>
                      </a:cubicBezTo>
                      <a:cubicBezTo>
                        <a:pt x="541" y="51"/>
                        <a:pt x="541" y="51"/>
                        <a:pt x="541" y="51"/>
                      </a:cubicBezTo>
                      <a:lnTo>
                        <a:pt x="541" y="155"/>
                      </a:lnTo>
                      <a:close/>
                      <a:moveTo>
                        <a:pt x="180" y="51"/>
                      </a:moveTo>
                      <a:cubicBezTo>
                        <a:pt x="180" y="155"/>
                        <a:pt x="180" y="155"/>
                        <a:pt x="180" y="155"/>
                      </a:cubicBezTo>
                      <a:cubicBezTo>
                        <a:pt x="52" y="155"/>
                        <a:pt x="52" y="155"/>
                        <a:pt x="52" y="155"/>
                      </a:cubicBezTo>
                      <a:cubicBezTo>
                        <a:pt x="52" y="51"/>
                        <a:pt x="52" y="51"/>
                        <a:pt x="52" y="51"/>
                      </a:cubicBezTo>
                      <a:lnTo>
                        <a:pt x="180" y="51"/>
                      </a:lnTo>
                      <a:close/>
                      <a:moveTo>
                        <a:pt x="52" y="206"/>
                      </a:moveTo>
                      <a:cubicBezTo>
                        <a:pt x="180" y="206"/>
                        <a:pt x="180" y="206"/>
                        <a:pt x="180" y="206"/>
                      </a:cubicBezTo>
                      <a:cubicBezTo>
                        <a:pt x="180" y="438"/>
                        <a:pt x="180" y="438"/>
                        <a:pt x="180" y="438"/>
                      </a:cubicBezTo>
                      <a:cubicBezTo>
                        <a:pt x="52" y="438"/>
                        <a:pt x="52" y="438"/>
                        <a:pt x="52" y="438"/>
                      </a:cubicBezTo>
                      <a:lnTo>
                        <a:pt x="52" y="206"/>
                      </a:lnTo>
                      <a:close/>
                      <a:moveTo>
                        <a:pt x="232" y="438"/>
                      </a:moveTo>
                      <a:cubicBezTo>
                        <a:pt x="232" y="206"/>
                        <a:pt x="232" y="206"/>
                        <a:pt x="232" y="206"/>
                      </a:cubicBezTo>
                      <a:cubicBezTo>
                        <a:pt x="541" y="206"/>
                        <a:pt x="541" y="206"/>
                        <a:pt x="541" y="206"/>
                      </a:cubicBezTo>
                      <a:cubicBezTo>
                        <a:pt x="541" y="438"/>
                        <a:pt x="541" y="438"/>
                        <a:pt x="541" y="438"/>
                      </a:cubicBezTo>
                      <a:lnTo>
                        <a:pt x="232" y="438"/>
                      </a:lnTo>
                      <a:close/>
                      <a:moveTo>
                        <a:pt x="232" y="438"/>
                      </a:moveTo>
                      <a:cubicBezTo>
                        <a:pt x="232" y="438"/>
                        <a:pt x="232" y="438"/>
                        <a:pt x="232" y="438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541" name="Rectangle 404">
                  <a:extLst>
                    <a:ext uri="{FF2B5EF4-FFF2-40B4-BE49-F238E27FC236}">
                      <a16:creationId xmlns:a16="http://schemas.microsoft.com/office/drawing/2014/main" id="{BA4553BC-EBA6-9DD7-65DC-06A3A57518F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06726" y="6999288"/>
                  <a:ext cx="307975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542" name="Rectangle 405">
                  <a:extLst>
                    <a:ext uri="{FF2B5EF4-FFF2-40B4-BE49-F238E27FC236}">
                      <a16:creationId xmlns:a16="http://schemas.microsoft.com/office/drawing/2014/main" id="{33D30825-E21E-1705-CCA5-FFCDE4F413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06726" y="7072313"/>
                  <a:ext cx="307975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543" name="Rectangle 407">
                  <a:extLst>
                    <a:ext uri="{FF2B5EF4-FFF2-40B4-BE49-F238E27FC236}">
                      <a16:creationId xmlns:a16="http://schemas.microsoft.com/office/drawing/2014/main" id="{F3EEAD93-8C85-CFAA-A749-2843E3B212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06725" y="7146926"/>
                  <a:ext cx="307975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544" name="Rectangle 408">
                  <a:extLst>
                    <a:ext uri="{FF2B5EF4-FFF2-40B4-BE49-F238E27FC236}">
                      <a16:creationId xmlns:a16="http://schemas.microsoft.com/office/drawing/2014/main" id="{E2BA4F60-EABF-45AE-EAC5-09B91D57A3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00350" y="6675438"/>
                  <a:ext cx="88900" cy="3016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545" name="Rectangle 409">
                  <a:extLst>
                    <a:ext uri="{FF2B5EF4-FFF2-40B4-BE49-F238E27FC236}">
                      <a16:creationId xmlns:a16="http://schemas.microsoft.com/office/drawing/2014/main" id="{9FB4E70C-24CE-6058-4422-22A565F8C1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97054" y="6753303"/>
                  <a:ext cx="131764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546" name="Rectangle 410">
                  <a:extLst>
                    <a:ext uri="{FF2B5EF4-FFF2-40B4-BE49-F238E27FC236}">
                      <a16:creationId xmlns:a16="http://schemas.microsoft.com/office/drawing/2014/main" id="{22B81C04-A92F-312C-249F-D9B44D0C68B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00350" y="7219951"/>
                  <a:ext cx="103188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547" name="Rectangle 411">
                  <a:extLst>
                    <a:ext uri="{FF2B5EF4-FFF2-40B4-BE49-F238E27FC236}">
                      <a16:creationId xmlns:a16="http://schemas.microsoft.com/office/drawing/2014/main" id="{80D34347-DE93-4279-A066-1A8959C5E2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47988" y="7219951"/>
                  <a:ext cx="101600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548" name="Rectangle 412">
                  <a:extLst>
                    <a:ext uri="{FF2B5EF4-FFF2-40B4-BE49-F238E27FC236}">
                      <a16:creationId xmlns:a16="http://schemas.microsoft.com/office/drawing/2014/main" id="{FB4871FC-619C-9515-3758-99792FBAEA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94038" y="7219951"/>
                  <a:ext cx="103188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549" name="Rectangle 413">
                  <a:extLst>
                    <a:ext uri="{FF2B5EF4-FFF2-40B4-BE49-F238E27FC236}">
                      <a16:creationId xmlns:a16="http://schemas.microsoft.com/office/drawing/2014/main" id="{C9742AA8-2787-D188-85D6-3B3C480B748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00350" y="7292976"/>
                  <a:ext cx="103188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550" name="Rectangle 414">
                  <a:extLst>
                    <a:ext uri="{FF2B5EF4-FFF2-40B4-BE49-F238E27FC236}">
                      <a16:creationId xmlns:a16="http://schemas.microsoft.com/office/drawing/2014/main" id="{4E253B5F-D985-D1D2-B21B-FE76D24813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47988" y="7292976"/>
                  <a:ext cx="101600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551" name="Rectangle 415">
                  <a:extLst>
                    <a:ext uri="{FF2B5EF4-FFF2-40B4-BE49-F238E27FC236}">
                      <a16:creationId xmlns:a16="http://schemas.microsoft.com/office/drawing/2014/main" id="{864DDDF1-D099-B571-AD9F-3A6E1AF164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94038" y="7292976"/>
                  <a:ext cx="103188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552" name="Rectangle 416">
                  <a:extLst>
                    <a:ext uri="{FF2B5EF4-FFF2-40B4-BE49-F238E27FC236}">
                      <a16:creationId xmlns:a16="http://schemas.microsoft.com/office/drawing/2014/main" id="{764346D1-FE26-D7D3-1B05-9960E8330C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00350" y="7366001"/>
                  <a:ext cx="103188" cy="3016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553" name="Rectangle 417">
                  <a:extLst>
                    <a:ext uri="{FF2B5EF4-FFF2-40B4-BE49-F238E27FC236}">
                      <a16:creationId xmlns:a16="http://schemas.microsoft.com/office/drawing/2014/main" id="{A189F97A-3274-FD10-A960-7187FC6AD4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47988" y="7366001"/>
                  <a:ext cx="101600" cy="3016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554" name="Rectangle 418">
                  <a:extLst>
                    <a:ext uri="{FF2B5EF4-FFF2-40B4-BE49-F238E27FC236}">
                      <a16:creationId xmlns:a16="http://schemas.microsoft.com/office/drawing/2014/main" id="{E5CD6D75-A779-A71B-FBEC-D74E20D4589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94038" y="7366001"/>
                  <a:ext cx="103188" cy="3016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</p:grpSp>
          <p:sp>
            <p:nvSpPr>
              <p:cNvPr id="537" name="직사각형 12">
                <a:extLst>
                  <a:ext uri="{FF2B5EF4-FFF2-40B4-BE49-F238E27FC236}">
                    <a16:creationId xmlns:a16="http://schemas.microsoft.com/office/drawing/2014/main" id="{DD0CFB6D-D61A-4A51-454E-92082E2046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0679" y="3274133"/>
                <a:ext cx="514694" cy="131864"/>
              </a:xfrm>
              <a:prstGeom prst="rect">
                <a:avLst/>
              </a:prstGeom>
              <a:solidFill>
                <a:srgbClr val="70AD47"/>
              </a:solidFill>
              <a:ln w="12700" cap="flat" cmpd="sng" algn="ctr">
                <a:solidFill>
                  <a:srgbClr val="70AD47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wrap="non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5pPr>
                <a:lvl6pPr marL="2514600" indent="-228600" defTabSz="890588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6pPr>
                <a:lvl7pPr marL="2971800" indent="-228600" defTabSz="890588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7pPr>
                <a:lvl8pPr marL="3429000" indent="-228600" defTabSz="890588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8pPr>
                <a:lvl9pPr marL="3886200" indent="-228600" defTabSz="890588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9pPr>
              </a:lstStyle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0" cap="none" spc="-50" normalizeH="0" baseline="0" noProof="0" dirty="0">
                    <a:ln>
                      <a:solidFill>
                        <a:prstClr val="white">
                          <a:alpha val="500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메타테이블</a:t>
                </a:r>
                <a:endParaRPr kumimoji="0" lang="en-US" altLang="ko-KR" sz="900" b="0" i="0" u="none" strike="noStrike" kern="0" cap="none" spc="-50" normalizeH="0" baseline="0" noProof="0" dirty="0">
                  <a:ln>
                    <a:solidFill>
                      <a:prstClr val="white">
                        <a:alpha val="500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endParaRPr>
              </a:p>
            </p:txBody>
          </p:sp>
        </p:grpSp>
        <p:sp>
          <p:nvSpPr>
            <p:cNvPr id="603" name="직사각형 602">
              <a:extLst>
                <a:ext uri="{FF2B5EF4-FFF2-40B4-BE49-F238E27FC236}">
                  <a16:creationId xmlns:a16="http://schemas.microsoft.com/office/drawing/2014/main" id="{5732077B-DDE8-D9D6-D811-BC5508C91868}"/>
                </a:ext>
              </a:extLst>
            </p:cNvPr>
            <p:cNvSpPr/>
            <p:nvPr/>
          </p:nvSpPr>
          <p:spPr>
            <a:xfrm>
              <a:off x="2793094" y="1659340"/>
              <a:ext cx="1230063" cy="714662"/>
            </a:xfrm>
            <a:prstGeom prst="rect">
              <a:avLst/>
            </a:prstGeom>
            <a:solidFill>
              <a:srgbClr val="70AD47"/>
            </a:solidFill>
            <a:ln w="12700" cap="flat" cmpd="sng" algn="ctr">
              <a:solidFill>
                <a:srgbClr val="70AD47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lIns="89319" tIns="44659" rIns="89319" bIns="44659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+mn-ea"/>
                  <a:cs typeface="+mn-cs"/>
                </a:rPr>
                <a:t>SMMS-Agent </a:t>
              </a:r>
            </a:p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+mn-ea"/>
                  <a:cs typeface="+mn-cs"/>
                </a:rPr>
                <a:t>(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+mn-ea"/>
                  <a:cs typeface="+mn-cs"/>
                </a:rPr>
                <a:t>송신 </a:t>
              </a:r>
              <a:r>
                <a:rPr kumimoji="0" lang="en-US" altLang="ko-KR" sz="7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+mn-ea"/>
                  <a:cs typeface="+mn-cs"/>
                </a:rPr>
                <a:t>Thread)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+mn-ea"/>
                  <a:cs typeface="+mn-cs"/>
                </a:rPr>
                <a:t>  </a:t>
              </a:r>
            </a:p>
          </p:txBody>
        </p:sp>
        <p:grpSp>
          <p:nvGrpSpPr>
            <p:cNvPr id="609" name="그룹 608">
              <a:extLst>
                <a:ext uri="{FF2B5EF4-FFF2-40B4-BE49-F238E27FC236}">
                  <a16:creationId xmlns:a16="http://schemas.microsoft.com/office/drawing/2014/main" id="{2BA5AC29-E411-A51B-1B36-879516AFC8A5}"/>
                </a:ext>
              </a:extLst>
            </p:cNvPr>
            <p:cNvGrpSpPr/>
            <p:nvPr/>
          </p:nvGrpSpPr>
          <p:grpSpPr>
            <a:xfrm>
              <a:off x="877133" y="1609757"/>
              <a:ext cx="606724" cy="271535"/>
              <a:chOff x="958525" y="1526415"/>
              <a:chExt cx="606724" cy="271535"/>
            </a:xfrm>
          </p:grpSpPr>
          <p:sp>
            <p:nvSpPr>
              <p:cNvPr id="442" name="원통 295">
                <a:extLst>
                  <a:ext uri="{FF2B5EF4-FFF2-40B4-BE49-F238E27FC236}">
                    <a16:creationId xmlns:a16="http://schemas.microsoft.com/office/drawing/2014/main" id="{350081EE-D5CB-F650-46A2-456955AE5CC7}"/>
                  </a:ext>
                </a:extLst>
              </p:cNvPr>
              <p:cNvSpPr/>
              <p:nvPr/>
            </p:nvSpPr>
            <p:spPr>
              <a:xfrm>
                <a:off x="958525" y="1526415"/>
                <a:ext cx="606724" cy="271535"/>
              </a:xfrm>
              <a:prstGeom prst="can">
                <a:avLst/>
              </a:prstGeom>
              <a:solidFill>
                <a:srgbClr val="354976"/>
              </a:solidFill>
              <a:ln w="9525" cap="flat" cmpd="sng" algn="ctr">
                <a:solidFill>
                  <a:sysClr val="window" lastClr="FFFFFF"/>
                </a:solidFill>
                <a:prstDash val="solid"/>
                <a:miter lim="800000"/>
              </a:ln>
              <a:effectLst/>
            </p:spPr>
            <p:txBody>
              <a:bodyPr lIns="89319" tIns="44659" rIns="89319" bIns="44659"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443" name="직사각형 442">
                <a:extLst>
                  <a:ext uri="{FF2B5EF4-FFF2-40B4-BE49-F238E27FC236}">
                    <a16:creationId xmlns:a16="http://schemas.microsoft.com/office/drawing/2014/main" id="{80898A84-BD57-8AA8-76B4-7EB675BCF9DE}"/>
                  </a:ext>
                </a:extLst>
              </p:cNvPr>
              <p:cNvSpPr/>
              <p:nvPr/>
            </p:nvSpPr>
            <p:spPr>
              <a:xfrm>
                <a:off x="966515" y="1621112"/>
                <a:ext cx="590746" cy="153888"/>
              </a:xfrm>
              <a:prstGeom prst="rect">
                <a:avLst/>
              </a:prstGeom>
            </p:spPr>
            <p:txBody>
              <a:bodyPr wrap="square" lIns="0" tIns="0" rIns="0" bIns="0" anchor="ctr">
                <a:spAutoFit/>
              </a:bodyPr>
              <a:lstStyle/>
              <a:p>
                <a:pPr algn="ctr" defTabSz="457200" latinLnBrk="0"/>
                <a:r>
                  <a:rPr lang="en-US" altLang="ko-KR" sz="100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+mn-ea"/>
                  </a:rPr>
                  <a:t>UMS DB</a:t>
                </a:r>
              </a:p>
            </p:txBody>
          </p:sp>
        </p:grpSp>
        <p:cxnSp>
          <p:nvCxnSpPr>
            <p:cNvPr id="610" name="직선 화살표 연결선 609">
              <a:extLst>
                <a:ext uri="{FF2B5EF4-FFF2-40B4-BE49-F238E27FC236}">
                  <a16:creationId xmlns:a16="http://schemas.microsoft.com/office/drawing/2014/main" id="{AA3A8488-33C7-F4DB-F6EC-82C81327F957}"/>
                </a:ext>
              </a:extLst>
            </p:cNvPr>
            <p:cNvCxnSpPr>
              <a:cxnSpLocks/>
            </p:cNvCxnSpPr>
            <p:nvPr/>
          </p:nvCxnSpPr>
          <p:spPr>
            <a:xfrm>
              <a:off x="1173443" y="1885681"/>
              <a:ext cx="0" cy="146890"/>
            </a:xfrm>
            <a:prstGeom prst="straightConnector1">
              <a:avLst/>
            </a:prstGeom>
            <a:noFill/>
            <a:ln w="6350" cap="flat" cmpd="sng" algn="ctr">
              <a:solidFill>
                <a:srgbClr val="FF0000"/>
              </a:solidFill>
              <a:prstDash val="solid"/>
              <a:miter lim="800000"/>
              <a:tailEnd type="triangle" w="sm" len="sm"/>
            </a:ln>
            <a:effectLst/>
          </p:spPr>
        </p:cxnSp>
        <p:sp>
          <p:nvSpPr>
            <p:cNvPr id="611" name="직사각형 610">
              <a:extLst>
                <a:ext uri="{FF2B5EF4-FFF2-40B4-BE49-F238E27FC236}">
                  <a16:creationId xmlns:a16="http://schemas.microsoft.com/office/drawing/2014/main" id="{DA1EC780-77A0-2FD6-A616-997B988614C8}"/>
                </a:ext>
              </a:extLst>
            </p:cNvPr>
            <p:cNvSpPr/>
            <p:nvPr/>
          </p:nvSpPr>
          <p:spPr>
            <a:xfrm>
              <a:off x="1780167" y="1651644"/>
              <a:ext cx="775357" cy="279780"/>
            </a:xfrm>
            <a:prstGeom prst="rect">
              <a:avLst/>
            </a:prstGeom>
            <a:solidFill>
              <a:sysClr val="window" lastClr="FFFFFF"/>
            </a:solidFill>
            <a:ln w="9525" cap="flat" cmpd="sng" algn="ctr">
              <a:noFill/>
              <a:prstDash val="solid"/>
              <a:miter lim="800000"/>
            </a:ln>
            <a:effectLst/>
          </p:spPr>
          <p:txBody>
            <a:bodyPr lIns="89319" tIns="44659" rIns="89319" bIns="44659" rtlCol="0" anchor="ctr"/>
            <a:lstStyle/>
            <a:p>
              <a:pPr algn="ctr" defTabSz="457200" latinLnBrk="0"/>
              <a:r>
                <a:rPr lang="ko-KR" altLang="en-US" sz="1000" kern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</a:rPr>
                <a:t>분배기</a:t>
              </a:r>
            </a:p>
          </p:txBody>
        </p:sp>
        <p:cxnSp>
          <p:nvCxnSpPr>
            <p:cNvPr id="612" name="연결선: 꺾임 301">
              <a:extLst>
                <a:ext uri="{FF2B5EF4-FFF2-40B4-BE49-F238E27FC236}">
                  <a16:creationId xmlns:a16="http://schemas.microsoft.com/office/drawing/2014/main" id="{34D6BFB2-B6CB-819D-5305-70E888F02FA8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1296219" y="1803343"/>
              <a:ext cx="481810" cy="361541"/>
            </a:xfrm>
            <a:prstGeom prst="bentConnector3">
              <a:avLst>
                <a:gd name="adj1" fmla="val 50000"/>
              </a:avLst>
            </a:prstGeom>
            <a:noFill/>
            <a:ln w="22225" cap="flat" cmpd="sng" algn="ctr">
              <a:solidFill>
                <a:srgbClr val="FF0000"/>
              </a:solidFill>
              <a:prstDash val="solid"/>
              <a:miter lim="800000"/>
              <a:tailEnd type="triangle" w="sm" len="sm"/>
            </a:ln>
            <a:effectLst/>
          </p:spPr>
        </p:cxnSp>
        <p:cxnSp>
          <p:nvCxnSpPr>
            <p:cNvPr id="613" name="연결선: 꺾임 854">
              <a:extLst>
                <a:ext uri="{FF2B5EF4-FFF2-40B4-BE49-F238E27FC236}">
                  <a16:creationId xmlns:a16="http://schemas.microsoft.com/office/drawing/2014/main" id="{22BEC2EA-555C-7EC0-3ED3-29F98319B9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5869" y="2260610"/>
              <a:ext cx="1287878" cy="90009"/>
            </a:xfrm>
            <a:prstGeom prst="bentConnector3">
              <a:avLst/>
            </a:prstGeom>
            <a:noFill/>
            <a:ln w="635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  <a:tailEnd type="triangle" w="sm" len="sm"/>
            </a:ln>
            <a:effectLst/>
          </p:spPr>
        </p:cxnSp>
      </p:grpSp>
      <p:cxnSp>
        <p:nvCxnSpPr>
          <p:cNvPr id="615" name="꺾인 연결선 509">
            <a:extLst>
              <a:ext uri="{FF2B5EF4-FFF2-40B4-BE49-F238E27FC236}">
                <a16:creationId xmlns:a16="http://schemas.microsoft.com/office/drawing/2014/main" id="{8D06855C-8D1F-7CCC-DA06-DDEFD2A3D578}"/>
              </a:ext>
            </a:extLst>
          </p:cNvPr>
          <p:cNvCxnSpPr>
            <a:cxnSpLocks/>
            <a:endCxn id="829" idx="2"/>
          </p:cNvCxnSpPr>
          <p:nvPr/>
        </p:nvCxnSpPr>
        <p:spPr>
          <a:xfrm rot="10800000">
            <a:off x="3820556" y="4969374"/>
            <a:ext cx="4259257" cy="873445"/>
          </a:xfrm>
          <a:prstGeom prst="bentConnector2">
            <a:avLst/>
          </a:prstGeom>
          <a:noFill/>
          <a:ln w="6350" cap="flat" cmpd="sng" algn="ctr">
            <a:solidFill>
              <a:srgbClr val="D11E31"/>
            </a:solidFill>
            <a:prstDash val="solid"/>
            <a:miter lim="800000"/>
            <a:headEnd type="triangle" w="sm" len="sm"/>
            <a:tailEnd type="none" w="sm" len="sm"/>
          </a:ln>
          <a:effectLst/>
        </p:spPr>
      </p:cxnSp>
      <p:sp>
        <p:nvSpPr>
          <p:cNvPr id="619" name="모서리가 둥근 직사각형 444">
            <a:extLst>
              <a:ext uri="{FF2B5EF4-FFF2-40B4-BE49-F238E27FC236}">
                <a16:creationId xmlns:a16="http://schemas.microsoft.com/office/drawing/2014/main" id="{5E5D4CE7-033A-CA9A-54A6-E35E13FCB809}"/>
              </a:ext>
            </a:extLst>
          </p:cNvPr>
          <p:cNvSpPr/>
          <p:nvPr/>
        </p:nvSpPr>
        <p:spPr>
          <a:xfrm>
            <a:off x="8187471" y="3716793"/>
            <a:ext cx="3641664" cy="2749486"/>
          </a:xfrm>
          <a:prstGeom prst="roundRect">
            <a:avLst>
              <a:gd name="adj" fmla="val 2145"/>
            </a:avLst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rgbClr val="70AD47">
                <a:shade val="50000"/>
              </a:srgbClr>
            </a:solidFill>
            <a:prstDash val="solid"/>
            <a:miter lim="800000"/>
          </a:ln>
          <a:effectLst/>
        </p:spPr>
        <p:txBody>
          <a:bodyPr lIns="89319" tIns="44659" rIns="89319" bIns="44659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73273B9-225C-38A6-7314-B3EC5720C47F}"/>
              </a:ext>
            </a:extLst>
          </p:cNvPr>
          <p:cNvSpPr/>
          <p:nvPr/>
        </p:nvSpPr>
        <p:spPr>
          <a:xfrm>
            <a:off x="8341884" y="5948558"/>
            <a:ext cx="1111554" cy="397293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9319" tIns="44659" rIns="89319" bIns="44659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19" name="모서리가 둥근 직사각형 418">
            <a:extLst>
              <a:ext uri="{FF2B5EF4-FFF2-40B4-BE49-F238E27FC236}">
                <a16:creationId xmlns:a16="http://schemas.microsoft.com/office/drawing/2014/main" id="{4245B7C7-5604-41D1-BE8C-84AF827A9DAB}"/>
              </a:ext>
            </a:extLst>
          </p:cNvPr>
          <p:cNvSpPr/>
          <p:nvPr/>
        </p:nvSpPr>
        <p:spPr>
          <a:xfrm>
            <a:off x="8249928" y="5205310"/>
            <a:ext cx="1669140" cy="1233553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rgbClr val="70AD47">
                <a:shade val="50000"/>
              </a:srgbClr>
            </a:solidFill>
            <a:prstDash val="solid"/>
            <a:miter lim="800000"/>
          </a:ln>
          <a:effectLst/>
        </p:spPr>
        <p:txBody>
          <a:bodyPr lIns="89319" tIns="44659" rIns="89319" bIns="44659" rtlCol="0" anchor="ctr"/>
          <a:lstStyle/>
          <a:p>
            <a:pPr algn="ctr" defTabSz="457200" latinLnBrk="0"/>
            <a:endParaRPr lang="ko-KR" altLang="en-US" kern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latin typeface="+mn-ea"/>
            </a:endParaRPr>
          </a:p>
        </p:txBody>
      </p:sp>
      <p:grpSp>
        <p:nvGrpSpPr>
          <p:cNvPr id="241" name="그룹 240">
            <a:extLst>
              <a:ext uri="{FF2B5EF4-FFF2-40B4-BE49-F238E27FC236}">
                <a16:creationId xmlns:a16="http://schemas.microsoft.com/office/drawing/2014/main" id="{A8A07FEA-9CB9-7527-D06B-C5C25CB22DE0}"/>
              </a:ext>
            </a:extLst>
          </p:cNvPr>
          <p:cNvGrpSpPr/>
          <p:nvPr/>
        </p:nvGrpSpPr>
        <p:grpSpPr>
          <a:xfrm>
            <a:off x="8478407" y="5561575"/>
            <a:ext cx="490444" cy="672463"/>
            <a:chOff x="6742142" y="5445970"/>
            <a:chExt cx="312708" cy="356418"/>
          </a:xfrm>
        </p:grpSpPr>
        <p:sp>
          <p:nvSpPr>
            <p:cNvPr id="242" name="Freeform 17">
              <a:extLst>
                <a:ext uri="{FF2B5EF4-FFF2-40B4-BE49-F238E27FC236}">
                  <a16:creationId xmlns:a16="http://schemas.microsoft.com/office/drawing/2014/main" id="{B49BE2AF-5F2F-70C5-CE09-406678F279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42142" y="5445970"/>
              <a:ext cx="312708" cy="356418"/>
            </a:xfrm>
            <a:custGeom>
              <a:avLst/>
              <a:gdLst>
                <a:gd name="T0" fmla="*/ 135 w 270"/>
                <a:gd name="T1" fmla="*/ 0 h 308"/>
                <a:gd name="T2" fmla="*/ 0 w 270"/>
                <a:gd name="T3" fmla="*/ 62 h 308"/>
                <a:gd name="T4" fmla="*/ 0 w 270"/>
                <a:gd name="T5" fmla="*/ 245 h 308"/>
                <a:gd name="T6" fmla="*/ 135 w 270"/>
                <a:gd name="T7" fmla="*/ 308 h 308"/>
                <a:gd name="T8" fmla="*/ 270 w 270"/>
                <a:gd name="T9" fmla="*/ 245 h 308"/>
                <a:gd name="T10" fmla="*/ 270 w 270"/>
                <a:gd name="T11" fmla="*/ 62 h 308"/>
                <a:gd name="T12" fmla="*/ 135 w 270"/>
                <a:gd name="T13" fmla="*/ 0 h 308"/>
                <a:gd name="T14" fmla="*/ 251 w 270"/>
                <a:gd name="T15" fmla="*/ 245 h 308"/>
                <a:gd name="T16" fmla="*/ 135 w 270"/>
                <a:gd name="T17" fmla="*/ 289 h 308"/>
                <a:gd name="T18" fmla="*/ 19 w 270"/>
                <a:gd name="T19" fmla="*/ 245 h 308"/>
                <a:gd name="T20" fmla="*/ 19 w 270"/>
                <a:gd name="T21" fmla="*/ 209 h 308"/>
                <a:gd name="T22" fmla="*/ 135 w 270"/>
                <a:gd name="T23" fmla="*/ 241 h 308"/>
                <a:gd name="T24" fmla="*/ 251 w 270"/>
                <a:gd name="T25" fmla="*/ 209 h 308"/>
                <a:gd name="T26" fmla="*/ 251 w 270"/>
                <a:gd name="T27" fmla="*/ 245 h 308"/>
                <a:gd name="T28" fmla="*/ 251 w 270"/>
                <a:gd name="T29" fmla="*/ 188 h 308"/>
                <a:gd name="T30" fmla="*/ 251 w 270"/>
                <a:gd name="T31" fmla="*/ 188 h 308"/>
                <a:gd name="T32" fmla="*/ 251 w 270"/>
                <a:gd name="T33" fmla="*/ 188 h 308"/>
                <a:gd name="T34" fmla="*/ 135 w 270"/>
                <a:gd name="T35" fmla="*/ 231 h 308"/>
                <a:gd name="T36" fmla="*/ 19 w 270"/>
                <a:gd name="T37" fmla="*/ 188 h 308"/>
                <a:gd name="T38" fmla="*/ 19 w 270"/>
                <a:gd name="T39" fmla="*/ 188 h 308"/>
                <a:gd name="T40" fmla="*/ 19 w 270"/>
                <a:gd name="T41" fmla="*/ 188 h 308"/>
                <a:gd name="T42" fmla="*/ 19 w 270"/>
                <a:gd name="T43" fmla="*/ 152 h 308"/>
                <a:gd name="T44" fmla="*/ 135 w 270"/>
                <a:gd name="T45" fmla="*/ 183 h 308"/>
                <a:gd name="T46" fmla="*/ 251 w 270"/>
                <a:gd name="T47" fmla="*/ 152 h 308"/>
                <a:gd name="T48" fmla="*/ 251 w 270"/>
                <a:gd name="T49" fmla="*/ 188 h 308"/>
                <a:gd name="T50" fmla="*/ 251 w 270"/>
                <a:gd name="T51" fmla="*/ 130 h 308"/>
                <a:gd name="T52" fmla="*/ 251 w 270"/>
                <a:gd name="T53" fmla="*/ 130 h 308"/>
                <a:gd name="T54" fmla="*/ 251 w 270"/>
                <a:gd name="T55" fmla="*/ 130 h 308"/>
                <a:gd name="T56" fmla="*/ 135 w 270"/>
                <a:gd name="T57" fmla="*/ 173 h 308"/>
                <a:gd name="T58" fmla="*/ 19 w 270"/>
                <a:gd name="T59" fmla="*/ 130 h 308"/>
                <a:gd name="T60" fmla="*/ 19 w 270"/>
                <a:gd name="T61" fmla="*/ 130 h 308"/>
                <a:gd name="T62" fmla="*/ 19 w 270"/>
                <a:gd name="T63" fmla="*/ 130 h 308"/>
                <a:gd name="T64" fmla="*/ 19 w 270"/>
                <a:gd name="T65" fmla="*/ 97 h 308"/>
                <a:gd name="T66" fmla="*/ 135 w 270"/>
                <a:gd name="T67" fmla="*/ 125 h 308"/>
                <a:gd name="T68" fmla="*/ 251 w 270"/>
                <a:gd name="T69" fmla="*/ 97 h 308"/>
                <a:gd name="T70" fmla="*/ 251 w 270"/>
                <a:gd name="T71" fmla="*/ 130 h 308"/>
                <a:gd name="T72" fmla="*/ 135 w 270"/>
                <a:gd name="T73" fmla="*/ 106 h 308"/>
                <a:gd name="T74" fmla="*/ 19 w 270"/>
                <a:gd name="T75" fmla="*/ 62 h 308"/>
                <a:gd name="T76" fmla="*/ 135 w 270"/>
                <a:gd name="T77" fmla="*/ 19 h 308"/>
                <a:gd name="T78" fmla="*/ 251 w 270"/>
                <a:gd name="T79" fmla="*/ 62 h 308"/>
                <a:gd name="T80" fmla="*/ 135 w 270"/>
                <a:gd name="T81" fmla="*/ 106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70" h="308">
                  <a:moveTo>
                    <a:pt x="135" y="0"/>
                  </a:moveTo>
                  <a:cubicBezTo>
                    <a:pt x="70" y="0"/>
                    <a:pt x="0" y="19"/>
                    <a:pt x="0" y="62"/>
                  </a:cubicBezTo>
                  <a:cubicBezTo>
                    <a:pt x="0" y="245"/>
                    <a:pt x="0" y="245"/>
                    <a:pt x="0" y="245"/>
                  </a:cubicBezTo>
                  <a:cubicBezTo>
                    <a:pt x="0" y="289"/>
                    <a:pt x="70" y="308"/>
                    <a:pt x="135" y="308"/>
                  </a:cubicBezTo>
                  <a:cubicBezTo>
                    <a:pt x="200" y="308"/>
                    <a:pt x="270" y="289"/>
                    <a:pt x="270" y="245"/>
                  </a:cubicBezTo>
                  <a:cubicBezTo>
                    <a:pt x="270" y="62"/>
                    <a:pt x="270" y="62"/>
                    <a:pt x="270" y="62"/>
                  </a:cubicBezTo>
                  <a:cubicBezTo>
                    <a:pt x="270" y="19"/>
                    <a:pt x="200" y="0"/>
                    <a:pt x="135" y="0"/>
                  </a:cubicBezTo>
                  <a:close/>
                  <a:moveTo>
                    <a:pt x="251" y="245"/>
                  </a:moveTo>
                  <a:cubicBezTo>
                    <a:pt x="251" y="269"/>
                    <a:pt x="199" y="289"/>
                    <a:pt x="135" y="289"/>
                  </a:cubicBezTo>
                  <a:cubicBezTo>
                    <a:pt x="71" y="289"/>
                    <a:pt x="19" y="269"/>
                    <a:pt x="19" y="245"/>
                  </a:cubicBezTo>
                  <a:cubicBezTo>
                    <a:pt x="19" y="209"/>
                    <a:pt x="19" y="209"/>
                    <a:pt x="19" y="209"/>
                  </a:cubicBezTo>
                  <a:cubicBezTo>
                    <a:pt x="39" y="230"/>
                    <a:pt x="87" y="241"/>
                    <a:pt x="135" y="241"/>
                  </a:cubicBezTo>
                  <a:cubicBezTo>
                    <a:pt x="183" y="241"/>
                    <a:pt x="231" y="230"/>
                    <a:pt x="251" y="209"/>
                  </a:cubicBezTo>
                  <a:lnTo>
                    <a:pt x="251" y="245"/>
                  </a:lnTo>
                  <a:close/>
                  <a:moveTo>
                    <a:pt x="251" y="188"/>
                  </a:moveTo>
                  <a:cubicBezTo>
                    <a:pt x="251" y="188"/>
                    <a:pt x="251" y="188"/>
                    <a:pt x="251" y="188"/>
                  </a:cubicBezTo>
                  <a:cubicBezTo>
                    <a:pt x="251" y="188"/>
                    <a:pt x="251" y="188"/>
                    <a:pt x="251" y="188"/>
                  </a:cubicBezTo>
                  <a:cubicBezTo>
                    <a:pt x="251" y="212"/>
                    <a:pt x="199" y="231"/>
                    <a:pt x="135" y="231"/>
                  </a:cubicBezTo>
                  <a:cubicBezTo>
                    <a:pt x="71" y="231"/>
                    <a:pt x="19" y="212"/>
                    <a:pt x="19" y="188"/>
                  </a:cubicBezTo>
                  <a:cubicBezTo>
                    <a:pt x="19" y="188"/>
                    <a:pt x="19" y="188"/>
                    <a:pt x="19" y="188"/>
                  </a:cubicBezTo>
                  <a:cubicBezTo>
                    <a:pt x="19" y="188"/>
                    <a:pt x="19" y="188"/>
                    <a:pt x="19" y="188"/>
                  </a:cubicBezTo>
                  <a:cubicBezTo>
                    <a:pt x="19" y="152"/>
                    <a:pt x="19" y="152"/>
                    <a:pt x="19" y="152"/>
                  </a:cubicBezTo>
                  <a:cubicBezTo>
                    <a:pt x="39" y="172"/>
                    <a:pt x="87" y="183"/>
                    <a:pt x="135" y="183"/>
                  </a:cubicBezTo>
                  <a:cubicBezTo>
                    <a:pt x="183" y="183"/>
                    <a:pt x="231" y="172"/>
                    <a:pt x="251" y="152"/>
                  </a:cubicBezTo>
                  <a:lnTo>
                    <a:pt x="251" y="188"/>
                  </a:lnTo>
                  <a:close/>
                  <a:moveTo>
                    <a:pt x="251" y="130"/>
                  </a:moveTo>
                  <a:cubicBezTo>
                    <a:pt x="251" y="130"/>
                    <a:pt x="251" y="130"/>
                    <a:pt x="251" y="130"/>
                  </a:cubicBezTo>
                  <a:cubicBezTo>
                    <a:pt x="251" y="130"/>
                    <a:pt x="251" y="130"/>
                    <a:pt x="251" y="130"/>
                  </a:cubicBezTo>
                  <a:cubicBezTo>
                    <a:pt x="251" y="154"/>
                    <a:pt x="199" y="173"/>
                    <a:pt x="135" y="173"/>
                  </a:cubicBezTo>
                  <a:cubicBezTo>
                    <a:pt x="71" y="173"/>
                    <a:pt x="19" y="154"/>
                    <a:pt x="19" y="130"/>
                  </a:cubicBezTo>
                  <a:cubicBezTo>
                    <a:pt x="19" y="130"/>
                    <a:pt x="19" y="130"/>
                    <a:pt x="19" y="130"/>
                  </a:cubicBezTo>
                  <a:cubicBezTo>
                    <a:pt x="19" y="130"/>
                    <a:pt x="19" y="130"/>
                    <a:pt x="19" y="130"/>
                  </a:cubicBezTo>
                  <a:cubicBezTo>
                    <a:pt x="19" y="97"/>
                    <a:pt x="19" y="97"/>
                    <a:pt x="19" y="97"/>
                  </a:cubicBezTo>
                  <a:cubicBezTo>
                    <a:pt x="45" y="116"/>
                    <a:pt x="91" y="125"/>
                    <a:pt x="135" y="125"/>
                  </a:cubicBezTo>
                  <a:cubicBezTo>
                    <a:pt x="179" y="125"/>
                    <a:pt x="225" y="116"/>
                    <a:pt x="251" y="97"/>
                  </a:cubicBezTo>
                  <a:lnTo>
                    <a:pt x="251" y="130"/>
                  </a:lnTo>
                  <a:close/>
                  <a:moveTo>
                    <a:pt x="135" y="106"/>
                  </a:moveTo>
                  <a:cubicBezTo>
                    <a:pt x="71" y="106"/>
                    <a:pt x="19" y="86"/>
                    <a:pt x="19" y="62"/>
                  </a:cubicBezTo>
                  <a:cubicBezTo>
                    <a:pt x="19" y="38"/>
                    <a:pt x="71" y="19"/>
                    <a:pt x="135" y="19"/>
                  </a:cubicBezTo>
                  <a:cubicBezTo>
                    <a:pt x="199" y="19"/>
                    <a:pt x="251" y="38"/>
                    <a:pt x="251" y="62"/>
                  </a:cubicBezTo>
                  <a:cubicBezTo>
                    <a:pt x="251" y="86"/>
                    <a:pt x="199" y="106"/>
                    <a:pt x="135" y="106"/>
                  </a:cubicBezTo>
                  <a:close/>
                </a:path>
              </a:pathLst>
            </a:custGeom>
            <a:solidFill>
              <a:srgbClr val="718B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3286" tIns="46643" rIns="93286" bIns="46643" numCol="1" anchor="t" anchorCtr="0" compatLnSpc="1">
              <a:prstTxWarp prst="textNoShape">
                <a:avLst/>
              </a:prstTxWarp>
            </a:bodyPr>
            <a:lstStyle/>
            <a:p>
              <a:pPr defTabSz="457200" latinLnBrk="0"/>
              <a:endParaRPr lang="ko-KR" altLang="en-US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243" name="Oval 18">
              <a:extLst>
                <a:ext uri="{FF2B5EF4-FFF2-40B4-BE49-F238E27FC236}">
                  <a16:creationId xmlns:a16="http://schemas.microsoft.com/office/drawing/2014/main" id="{DC5831BA-7E84-A427-9B50-D667CD5DB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87601" y="5725052"/>
              <a:ext cx="22192" cy="21520"/>
            </a:xfrm>
            <a:prstGeom prst="ellipse">
              <a:avLst/>
            </a:prstGeom>
            <a:solidFill>
              <a:srgbClr val="718B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3286" tIns="46643" rIns="93286" bIns="46643" numCol="1" anchor="t" anchorCtr="0" compatLnSpc="1">
              <a:prstTxWarp prst="textNoShape">
                <a:avLst/>
              </a:prstTxWarp>
            </a:bodyPr>
            <a:lstStyle/>
            <a:p>
              <a:pPr defTabSz="457200" latinLnBrk="0"/>
              <a:endParaRPr lang="ko-KR" altLang="en-US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244" name="Oval 19">
              <a:extLst>
                <a:ext uri="{FF2B5EF4-FFF2-40B4-BE49-F238E27FC236}">
                  <a16:creationId xmlns:a16="http://schemas.microsoft.com/office/drawing/2014/main" id="{82B6031A-6D73-BD7E-721C-4BB9953735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87601" y="5657804"/>
              <a:ext cx="22192" cy="22192"/>
            </a:xfrm>
            <a:prstGeom prst="ellipse">
              <a:avLst/>
            </a:prstGeom>
            <a:solidFill>
              <a:srgbClr val="718B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3286" tIns="46643" rIns="93286" bIns="46643" numCol="1" anchor="t" anchorCtr="0" compatLnSpc="1">
              <a:prstTxWarp prst="textNoShape">
                <a:avLst/>
              </a:prstTxWarp>
            </a:bodyPr>
            <a:lstStyle/>
            <a:p>
              <a:pPr defTabSz="457200" latinLnBrk="0"/>
              <a:endParaRPr lang="ko-KR" altLang="en-US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245" name="Oval 20">
              <a:extLst>
                <a:ext uri="{FF2B5EF4-FFF2-40B4-BE49-F238E27FC236}">
                  <a16:creationId xmlns:a16="http://schemas.microsoft.com/office/drawing/2014/main" id="{5050DDE7-B2F4-09AF-C78A-ABC25C4C38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87601" y="5590555"/>
              <a:ext cx="22192" cy="22192"/>
            </a:xfrm>
            <a:prstGeom prst="ellipse">
              <a:avLst/>
            </a:prstGeom>
            <a:solidFill>
              <a:srgbClr val="718B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3286" tIns="46643" rIns="93286" bIns="46643" numCol="1" anchor="t" anchorCtr="0" compatLnSpc="1">
              <a:prstTxWarp prst="textNoShape">
                <a:avLst/>
              </a:prstTxWarp>
            </a:bodyPr>
            <a:lstStyle/>
            <a:p>
              <a:pPr defTabSz="457200" latinLnBrk="0"/>
              <a:endParaRPr lang="ko-KR" altLang="en-US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endParaRPr>
            </a:p>
          </p:txBody>
        </p:sp>
      </p:grpSp>
      <p:sp>
        <p:nvSpPr>
          <p:cNvPr id="247" name="직사각형 246">
            <a:extLst>
              <a:ext uri="{FF2B5EF4-FFF2-40B4-BE49-F238E27FC236}">
                <a16:creationId xmlns:a16="http://schemas.microsoft.com/office/drawing/2014/main" id="{2C3C0B3C-92DB-3FE9-1692-D5A5F5FEEF9D}"/>
              </a:ext>
            </a:extLst>
          </p:cNvPr>
          <p:cNvSpPr/>
          <p:nvPr/>
        </p:nvSpPr>
        <p:spPr>
          <a:xfrm>
            <a:off x="9019861" y="5561576"/>
            <a:ext cx="818550" cy="672462"/>
          </a:xfrm>
          <a:prstGeom prst="rect">
            <a:avLst/>
          </a:prstGeom>
          <a:solidFill>
            <a:srgbClr val="FFC000"/>
          </a:solidFill>
          <a:ln w="1905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b="1" kern="0" noProof="0" dirty="0">
                <a:solidFill>
                  <a:prstClr val="black"/>
                </a:solidFill>
                <a:latin typeface="+mn-ea"/>
              </a:rPr>
              <a:t>모니터링 수집정보</a:t>
            </a:r>
            <a:endParaRPr kumimoji="0" lang="en-US" altLang="ko-KR" sz="7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b="1" kern="0" dirty="0">
                <a:solidFill>
                  <a:prstClr val="black"/>
                </a:solidFill>
                <a:latin typeface="+mn-ea"/>
              </a:rPr>
              <a:t>모니터링 집계정보</a:t>
            </a:r>
            <a:endParaRPr lang="en-US" altLang="ko-KR" sz="700" b="1" kern="0" dirty="0">
              <a:solidFill>
                <a:prstClr val="black"/>
              </a:solidFill>
              <a:latin typeface="+mn-ea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b="1" kern="0" noProof="0" dirty="0">
                <a:solidFill>
                  <a:prstClr val="black"/>
                </a:solidFill>
                <a:latin typeface="+mn-ea"/>
              </a:rPr>
              <a:t>정산기준  정보</a:t>
            </a:r>
            <a:endParaRPr lang="en-US" altLang="ko-KR" sz="700" b="1" kern="0" noProof="0" dirty="0">
              <a:solidFill>
                <a:prstClr val="black"/>
              </a:solidFill>
              <a:latin typeface="+mn-ea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정산정보</a:t>
            </a:r>
            <a:endParaRPr kumimoji="0" lang="en-US" altLang="ko-KR" sz="700" b="1" i="0" u="none" strike="noStrike" kern="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b="1" kern="0" noProof="0" dirty="0">
                <a:solidFill>
                  <a:prstClr val="black"/>
                </a:solidFill>
                <a:latin typeface="+mn-ea"/>
              </a:rPr>
              <a:t>통계정보</a:t>
            </a:r>
            <a:endParaRPr lang="en-US" altLang="ko-KR" sz="700" b="1" kern="0" noProof="0" dirty="0">
              <a:solidFill>
                <a:prstClr val="black"/>
              </a:solidFill>
              <a:latin typeface="+mn-ea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관제정보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87241543-8E96-38E3-D2BA-28FDAC41FC32}"/>
              </a:ext>
            </a:extLst>
          </p:cNvPr>
          <p:cNvSpPr txBox="1"/>
          <p:nvPr/>
        </p:nvSpPr>
        <p:spPr>
          <a:xfrm>
            <a:off x="8305607" y="3479660"/>
            <a:ext cx="567546" cy="184666"/>
          </a:xfrm>
          <a:prstGeom prst="rect">
            <a:avLst/>
          </a:prstGeom>
          <a:solidFill>
            <a:sysClr val="window" lastClr="FFFFFF"/>
          </a:solidFill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54976"/>
                </a:solidFill>
                <a:effectLst/>
                <a:uLnTx/>
                <a:uFillTx/>
                <a:latin typeface="+mn-ea"/>
              </a:rPr>
              <a:t>신한 </a:t>
            </a:r>
            <a:r>
              <a:rPr kumimoji="0" lang="en-US" altLang="ko-KR" sz="12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54976"/>
                </a:solidFill>
                <a:effectLst/>
                <a:uLnTx/>
                <a:uFillTx/>
                <a:latin typeface="+mn-ea"/>
              </a:rPr>
              <a:t>DS</a:t>
            </a:r>
            <a:endParaRPr kumimoji="0" lang="ko-KR" altLang="en-US" sz="12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354976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15" name="모서리가 둥근 직사각형 501">
            <a:extLst>
              <a:ext uri="{FF2B5EF4-FFF2-40B4-BE49-F238E27FC236}">
                <a16:creationId xmlns:a16="http://schemas.microsoft.com/office/drawing/2014/main" id="{4E4986C9-A931-F6AD-25E6-F5538EFDD62A}"/>
              </a:ext>
            </a:extLst>
          </p:cNvPr>
          <p:cNvSpPr/>
          <p:nvPr/>
        </p:nvSpPr>
        <p:spPr>
          <a:xfrm>
            <a:off x="10236934" y="3828136"/>
            <a:ext cx="1305727" cy="121024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rgbClr val="70AD47">
                <a:shade val="50000"/>
              </a:srgbClr>
            </a:solidFill>
            <a:prstDash val="solid"/>
            <a:miter lim="800000"/>
          </a:ln>
          <a:effectLst/>
        </p:spPr>
        <p:txBody>
          <a:bodyPr lIns="89319" tIns="44659" rIns="89319" bIns="44659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17" name="직사각형 216">
            <a:extLst>
              <a:ext uri="{FF2B5EF4-FFF2-40B4-BE49-F238E27FC236}">
                <a16:creationId xmlns:a16="http://schemas.microsoft.com/office/drawing/2014/main" id="{6F1AD7D3-8F7C-C6BD-5D56-4E213AB3597C}"/>
              </a:ext>
            </a:extLst>
          </p:cNvPr>
          <p:cNvSpPr/>
          <p:nvPr/>
        </p:nvSpPr>
        <p:spPr>
          <a:xfrm>
            <a:off x="10361974" y="4580140"/>
            <a:ext cx="1112510" cy="386579"/>
          </a:xfrm>
          <a:prstGeom prst="rect">
            <a:avLst/>
          </a:prstGeom>
          <a:solidFill>
            <a:srgbClr val="FFC000"/>
          </a:solidFill>
          <a:ln w="1905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00" b="1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effectLst/>
              <a:uLnTx/>
              <a:uFillTx/>
              <a:latin typeface="+mn-ea"/>
              <a:cs typeface="+mn-cs"/>
            </a:endParaRPr>
          </a:p>
        </p:txBody>
      </p:sp>
      <p:grpSp>
        <p:nvGrpSpPr>
          <p:cNvPr id="225" name="그룹 224">
            <a:extLst>
              <a:ext uri="{FF2B5EF4-FFF2-40B4-BE49-F238E27FC236}">
                <a16:creationId xmlns:a16="http://schemas.microsoft.com/office/drawing/2014/main" id="{42267641-AE01-DDEA-E67E-345971190AFF}"/>
              </a:ext>
            </a:extLst>
          </p:cNvPr>
          <p:cNvGrpSpPr/>
          <p:nvPr/>
        </p:nvGrpSpPr>
        <p:grpSpPr>
          <a:xfrm>
            <a:off x="10568691" y="3891618"/>
            <a:ext cx="761177" cy="623598"/>
            <a:chOff x="7683090" y="4086225"/>
            <a:chExt cx="776547" cy="641408"/>
          </a:xfrm>
        </p:grpSpPr>
        <p:sp>
          <p:nvSpPr>
            <p:cNvPr id="226" name="Freeform 401">
              <a:extLst>
                <a:ext uri="{FF2B5EF4-FFF2-40B4-BE49-F238E27FC236}">
                  <a16:creationId xmlns:a16="http://schemas.microsoft.com/office/drawing/2014/main" id="{6D0546BC-3829-C637-D824-386B4D1608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83090" y="4086225"/>
              <a:ext cx="664462" cy="641408"/>
            </a:xfrm>
            <a:custGeom>
              <a:avLst/>
              <a:gdLst>
                <a:gd name="T0" fmla="*/ 1306 w 1382"/>
                <a:gd name="T1" fmla="*/ 0 h 1331"/>
                <a:gd name="T2" fmla="*/ 76 w 1382"/>
                <a:gd name="T3" fmla="*/ 0 h 1331"/>
                <a:gd name="T4" fmla="*/ 0 w 1382"/>
                <a:gd name="T5" fmla="*/ 77 h 1331"/>
                <a:gd name="T6" fmla="*/ 0 w 1382"/>
                <a:gd name="T7" fmla="*/ 948 h 1331"/>
                <a:gd name="T8" fmla="*/ 76 w 1382"/>
                <a:gd name="T9" fmla="*/ 1024 h 1331"/>
                <a:gd name="T10" fmla="*/ 486 w 1382"/>
                <a:gd name="T11" fmla="*/ 1024 h 1331"/>
                <a:gd name="T12" fmla="*/ 486 w 1382"/>
                <a:gd name="T13" fmla="*/ 1178 h 1331"/>
                <a:gd name="T14" fmla="*/ 461 w 1382"/>
                <a:gd name="T15" fmla="*/ 1178 h 1331"/>
                <a:gd name="T16" fmla="*/ 435 w 1382"/>
                <a:gd name="T17" fmla="*/ 1203 h 1331"/>
                <a:gd name="T18" fmla="*/ 435 w 1382"/>
                <a:gd name="T19" fmla="*/ 1280 h 1331"/>
                <a:gd name="T20" fmla="*/ 333 w 1382"/>
                <a:gd name="T21" fmla="*/ 1280 h 1331"/>
                <a:gd name="T22" fmla="*/ 333 w 1382"/>
                <a:gd name="T23" fmla="*/ 1331 h 1331"/>
                <a:gd name="T24" fmla="*/ 1049 w 1382"/>
                <a:gd name="T25" fmla="*/ 1331 h 1331"/>
                <a:gd name="T26" fmla="*/ 1049 w 1382"/>
                <a:gd name="T27" fmla="*/ 1280 h 1331"/>
                <a:gd name="T28" fmla="*/ 947 w 1382"/>
                <a:gd name="T29" fmla="*/ 1280 h 1331"/>
                <a:gd name="T30" fmla="*/ 947 w 1382"/>
                <a:gd name="T31" fmla="*/ 1203 h 1331"/>
                <a:gd name="T32" fmla="*/ 921 w 1382"/>
                <a:gd name="T33" fmla="*/ 1178 h 1331"/>
                <a:gd name="T34" fmla="*/ 896 w 1382"/>
                <a:gd name="T35" fmla="*/ 1178 h 1331"/>
                <a:gd name="T36" fmla="*/ 896 w 1382"/>
                <a:gd name="T37" fmla="*/ 1024 h 1331"/>
                <a:gd name="T38" fmla="*/ 1101 w 1382"/>
                <a:gd name="T39" fmla="*/ 1024 h 1331"/>
                <a:gd name="T40" fmla="*/ 1101 w 1382"/>
                <a:gd name="T41" fmla="*/ 973 h 1331"/>
                <a:gd name="T42" fmla="*/ 76 w 1382"/>
                <a:gd name="T43" fmla="*/ 973 h 1331"/>
                <a:gd name="T44" fmla="*/ 51 w 1382"/>
                <a:gd name="T45" fmla="*/ 948 h 1331"/>
                <a:gd name="T46" fmla="*/ 51 w 1382"/>
                <a:gd name="T47" fmla="*/ 77 h 1331"/>
                <a:gd name="T48" fmla="*/ 76 w 1382"/>
                <a:gd name="T49" fmla="*/ 51 h 1331"/>
                <a:gd name="T50" fmla="*/ 1306 w 1382"/>
                <a:gd name="T51" fmla="*/ 51 h 1331"/>
                <a:gd name="T52" fmla="*/ 1331 w 1382"/>
                <a:gd name="T53" fmla="*/ 77 h 1331"/>
                <a:gd name="T54" fmla="*/ 1382 w 1382"/>
                <a:gd name="T55" fmla="*/ 77 h 1331"/>
                <a:gd name="T56" fmla="*/ 1306 w 1382"/>
                <a:gd name="T57" fmla="*/ 0 h 1331"/>
                <a:gd name="T58" fmla="*/ 896 w 1382"/>
                <a:gd name="T59" fmla="*/ 1280 h 1331"/>
                <a:gd name="T60" fmla="*/ 486 w 1382"/>
                <a:gd name="T61" fmla="*/ 1280 h 1331"/>
                <a:gd name="T62" fmla="*/ 486 w 1382"/>
                <a:gd name="T63" fmla="*/ 1229 h 1331"/>
                <a:gd name="T64" fmla="*/ 896 w 1382"/>
                <a:gd name="T65" fmla="*/ 1229 h 1331"/>
                <a:gd name="T66" fmla="*/ 896 w 1382"/>
                <a:gd name="T67" fmla="*/ 1280 h 1331"/>
                <a:gd name="T68" fmla="*/ 537 w 1382"/>
                <a:gd name="T69" fmla="*/ 1024 h 1331"/>
                <a:gd name="T70" fmla="*/ 845 w 1382"/>
                <a:gd name="T71" fmla="*/ 1024 h 1331"/>
                <a:gd name="T72" fmla="*/ 845 w 1382"/>
                <a:gd name="T73" fmla="*/ 1178 h 1331"/>
                <a:gd name="T74" fmla="*/ 537 w 1382"/>
                <a:gd name="T75" fmla="*/ 1178 h 1331"/>
                <a:gd name="T76" fmla="*/ 537 w 1382"/>
                <a:gd name="T77" fmla="*/ 1024 h 1331"/>
                <a:gd name="T78" fmla="*/ 537 w 1382"/>
                <a:gd name="T79" fmla="*/ 1024 h 1331"/>
                <a:gd name="T80" fmla="*/ 537 w 1382"/>
                <a:gd name="T81" fmla="*/ 1024 h 1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382" h="1331">
                  <a:moveTo>
                    <a:pt x="1306" y="0"/>
                  </a:moveTo>
                  <a:cubicBezTo>
                    <a:pt x="76" y="0"/>
                    <a:pt x="76" y="0"/>
                    <a:pt x="76" y="0"/>
                  </a:cubicBezTo>
                  <a:cubicBezTo>
                    <a:pt x="34" y="0"/>
                    <a:pt x="0" y="34"/>
                    <a:pt x="0" y="77"/>
                  </a:cubicBezTo>
                  <a:cubicBezTo>
                    <a:pt x="0" y="948"/>
                    <a:pt x="0" y="948"/>
                    <a:pt x="0" y="948"/>
                  </a:cubicBezTo>
                  <a:cubicBezTo>
                    <a:pt x="0" y="990"/>
                    <a:pt x="34" y="1024"/>
                    <a:pt x="76" y="1024"/>
                  </a:cubicBezTo>
                  <a:cubicBezTo>
                    <a:pt x="486" y="1024"/>
                    <a:pt x="486" y="1024"/>
                    <a:pt x="486" y="1024"/>
                  </a:cubicBezTo>
                  <a:cubicBezTo>
                    <a:pt x="486" y="1178"/>
                    <a:pt x="486" y="1178"/>
                    <a:pt x="486" y="1178"/>
                  </a:cubicBezTo>
                  <a:cubicBezTo>
                    <a:pt x="461" y="1178"/>
                    <a:pt x="461" y="1178"/>
                    <a:pt x="461" y="1178"/>
                  </a:cubicBezTo>
                  <a:cubicBezTo>
                    <a:pt x="446" y="1178"/>
                    <a:pt x="435" y="1189"/>
                    <a:pt x="435" y="1203"/>
                  </a:cubicBezTo>
                  <a:cubicBezTo>
                    <a:pt x="435" y="1280"/>
                    <a:pt x="435" y="1280"/>
                    <a:pt x="435" y="1280"/>
                  </a:cubicBezTo>
                  <a:cubicBezTo>
                    <a:pt x="333" y="1280"/>
                    <a:pt x="333" y="1280"/>
                    <a:pt x="333" y="1280"/>
                  </a:cubicBezTo>
                  <a:cubicBezTo>
                    <a:pt x="333" y="1331"/>
                    <a:pt x="333" y="1331"/>
                    <a:pt x="333" y="1331"/>
                  </a:cubicBezTo>
                  <a:cubicBezTo>
                    <a:pt x="1049" y="1331"/>
                    <a:pt x="1049" y="1331"/>
                    <a:pt x="1049" y="1331"/>
                  </a:cubicBezTo>
                  <a:cubicBezTo>
                    <a:pt x="1049" y="1280"/>
                    <a:pt x="1049" y="1280"/>
                    <a:pt x="1049" y="1280"/>
                  </a:cubicBezTo>
                  <a:cubicBezTo>
                    <a:pt x="947" y="1280"/>
                    <a:pt x="947" y="1280"/>
                    <a:pt x="947" y="1280"/>
                  </a:cubicBezTo>
                  <a:cubicBezTo>
                    <a:pt x="947" y="1203"/>
                    <a:pt x="947" y="1203"/>
                    <a:pt x="947" y="1203"/>
                  </a:cubicBezTo>
                  <a:cubicBezTo>
                    <a:pt x="947" y="1189"/>
                    <a:pt x="936" y="1178"/>
                    <a:pt x="921" y="1178"/>
                  </a:cubicBezTo>
                  <a:cubicBezTo>
                    <a:pt x="896" y="1178"/>
                    <a:pt x="896" y="1178"/>
                    <a:pt x="896" y="1178"/>
                  </a:cubicBezTo>
                  <a:cubicBezTo>
                    <a:pt x="896" y="1024"/>
                    <a:pt x="896" y="1024"/>
                    <a:pt x="896" y="1024"/>
                  </a:cubicBezTo>
                  <a:cubicBezTo>
                    <a:pt x="1101" y="1024"/>
                    <a:pt x="1101" y="1024"/>
                    <a:pt x="1101" y="1024"/>
                  </a:cubicBezTo>
                  <a:cubicBezTo>
                    <a:pt x="1101" y="973"/>
                    <a:pt x="1101" y="973"/>
                    <a:pt x="1101" y="973"/>
                  </a:cubicBezTo>
                  <a:cubicBezTo>
                    <a:pt x="76" y="973"/>
                    <a:pt x="76" y="973"/>
                    <a:pt x="76" y="973"/>
                  </a:cubicBezTo>
                  <a:cubicBezTo>
                    <a:pt x="62" y="973"/>
                    <a:pt x="51" y="962"/>
                    <a:pt x="51" y="948"/>
                  </a:cubicBezTo>
                  <a:cubicBezTo>
                    <a:pt x="51" y="77"/>
                    <a:pt x="51" y="77"/>
                    <a:pt x="51" y="77"/>
                  </a:cubicBezTo>
                  <a:cubicBezTo>
                    <a:pt x="51" y="63"/>
                    <a:pt x="62" y="52"/>
                    <a:pt x="76" y="51"/>
                  </a:cubicBezTo>
                  <a:cubicBezTo>
                    <a:pt x="1306" y="51"/>
                    <a:pt x="1306" y="51"/>
                    <a:pt x="1306" y="51"/>
                  </a:cubicBezTo>
                  <a:cubicBezTo>
                    <a:pt x="1320" y="51"/>
                    <a:pt x="1331" y="63"/>
                    <a:pt x="1331" y="77"/>
                  </a:cubicBezTo>
                  <a:cubicBezTo>
                    <a:pt x="1382" y="77"/>
                    <a:pt x="1382" y="77"/>
                    <a:pt x="1382" y="77"/>
                  </a:cubicBezTo>
                  <a:cubicBezTo>
                    <a:pt x="1382" y="34"/>
                    <a:pt x="1348" y="0"/>
                    <a:pt x="1306" y="0"/>
                  </a:cubicBezTo>
                  <a:close/>
                  <a:moveTo>
                    <a:pt x="896" y="1280"/>
                  </a:moveTo>
                  <a:cubicBezTo>
                    <a:pt x="486" y="1280"/>
                    <a:pt x="486" y="1280"/>
                    <a:pt x="486" y="1280"/>
                  </a:cubicBezTo>
                  <a:cubicBezTo>
                    <a:pt x="486" y="1229"/>
                    <a:pt x="486" y="1229"/>
                    <a:pt x="486" y="1229"/>
                  </a:cubicBezTo>
                  <a:cubicBezTo>
                    <a:pt x="896" y="1229"/>
                    <a:pt x="896" y="1229"/>
                    <a:pt x="896" y="1229"/>
                  </a:cubicBezTo>
                  <a:lnTo>
                    <a:pt x="896" y="1280"/>
                  </a:lnTo>
                  <a:close/>
                  <a:moveTo>
                    <a:pt x="537" y="1024"/>
                  </a:moveTo>
                  <a:cubicBezTo>
                    <a:pt x="845" y="1024"/>
                    <a:pt x="845" y="1024"/>
                    <a:pt x="845" y="1024"/>
                  </a:cubicBezTo>
                  <a:cubicBezTo>
                    <a:pt x="845" y="1178"/>
                    <a:pt x="845" y="1178"/>
                    <a:pt x="845" y="1178"/>
                  </a:cubicBezTo>
                  <a:cubicBezTo>
                    <a:pt x="537" y="1178"/>
                    <a:pt x="537" y="1178"/>
                    <a:pt x="537" y="1178"/>
                  </a:cubicBezTo>
                  <a:lnTo>
                    <a:pt x="537" y="1024"/>
                  </a:lnTo>
                  <a:close/>
                  <a:moveTo>
                    <a:pt x="537" y="1024"/>
                  </a:moveTo>
                  <a:cubicBezTo>
                    <a:pt x="537" y="1024"/>
                    <a:pt x="537" y="1024"/>
                    <a:pt x="537" y="1024"/>
                  </a:cubicBezTo>
                </a:path>
              </a:pathLst>
            </a:custGeom>
            <a:solidFill>
              <a:srgbClr val="6783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53" tIns="45727" rIns="91453" bIns="4572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042973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27" name="Rectangle 402">
              <a:extLst>
                <a:ext uri="{FF2B5EF4-FFF2-40B4-BE49-F238E27FC236}">
                  <a16:creationId xmlns:a16="http://schemas.microsoft.com/office/drawing/2014/main" id="{CF170FB1-F5DE-007A-00F7-EE4E30CB56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1908" y="4456425"/>
              <a:ext cx="406813" cy="24409"/>
            </a:xfrm>
            <a:prstGeom prst="rect">
              <a:avLst/>
            </a:prstGeom>
            <a:solidFill>
              <a:srgbClr val="6783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53" tIns="45727" rIns="91453" bIns="4572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042973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28" name="Freeform 403">
              <a:extLst>
                <a:ext uri="{FF2B5EF4-FFF2-40B4-BE49-F238E27FC236}">
                  <a16:creationId xmlns:a16="http://schemas.microsoft.com/office/drawing/2014/main" id="{1513BA10-CB1A-E182-0581-063BA23062C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31908" y="4148603"/>
              <a:ext cx="419018" cy="259004"/>
            </a:xfrm>
            <a:custGeom>
              <a:avLst/>
              <a:gdLst>
                <a:gd name="T0" fmla="*/ 26 w 871"/>
                <a:gd name="T1" fmla="*/ 0 h 538"/>
                <a:gd name="T2" fmla="*/ 0 w 871"/>
                <a:gd name="T3" fmla="*/ 26 h 538"/>
                <a:gd name="T4" fmla="*/ 0 w 871"/>
                <a:gd name="T5" fmla="*/ 538 h 538"/>
                <a:gd name="T6" fmla="*/ 51 w 871"/>
                <a:gd name="T7" fmla="*/ 538 h 538"/>
                <a:gd name="T8" fmla="*/ 51 w 871"/>
                <a:gd name="T9" fmla="*/ 51 h 538"/>
                <a:gd name="T10" fmla="*/ 871 w 871"/>
                <a:gd name="T11" fmla="*/ 51 h 538"/>
                <a:gd name="T12" fmla="*/ 871 w 871"/>
                <a:gd name="T13" fmla="*/ 0 h 538"/>
                <a:gd name="T14" fmla="*/ 26 w 871"/>
                <a:gd name="T15" fmla="*/ 0 h 538"/>
                <a:gd name="T16" fmla="*/ 26 w 871"/>
                <a:gd name="T17" fmla="*/ 0 h 538"/>
                <a:gd name="T18" fmla="*/ 26 w 871"/>
                <a:gd name="T19" fmla="*/ 0 h 5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71" h="538">
                  <a:moveTo>
                    <a:pt x="26" y="0"/>
                  </a:moveTo>
                  <a:cubicBezTo>
                    <a:pt x="12" y="0"/>
                    <a:pt x="0" y="12"/>
                    <a:pt x="0" y="26"/>
                  </a:cubicBezTo>
                  <a:cubicBezTo>
                    <a:pt x="0" y="538"/>
                    <a:pt x="0" y="538"/>
                    <a:pt x="0" y="538"/>
                  </a:cubicBezTo>
                  <a:cubicBezTo>
                    <a:pt x="51" y="538"/>
                    <a:pt x="51" y="538"/>
                    <a:pt x="51" y="538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871" y="51"/>
                    <a:pt x="871" y="51"/>
                    <a:pt x="871" y="51"/>
                  </a:cubicBezTo>
                  <a:cubicBezTo>
                    <a:pt x="871" y="0"/>
                    <a:pt x="871" y="0"/>
                    <a:pt x="871" y="0"/>
                  </a:cubicBezTo>
                  <a:lnTo>
                    <a:pt x="26" y="0"/>
                  </a:lnTo>
                  <a:close/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</a:path>
              </a:pathLst>
            </a:custGeom>
            <a:solidFill>
              <a:srgbClr val="6783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53" tIns="45727" rIns="91453" bIns="4572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042973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grpSp>
          <p:nvGrpSpPr>
            <p:cNvPr id="229" name="그룹 228">
              <a:extLst>
                <a:ext uri="{FF2B5EF4-FFF2-40B4-BE49-F238E27FC236}">
                  <a16:creationId xmlns:a16="http://schemas.microsoft.com/office/drawing/2014/main" id="{E01AABCA-A577-8D06-420D-1815F1B1FD79}"/>
                </a:ext>
              </a:extLst>
            </p:cNvPr>
            <p:cNvGrpSpPr/>
            <p:nvPr/>
          </p:nvGrpSpPr>
          <p:grpSpPr>
            <a:xfrm>
              <a:off x="8175399" y="4152900"/>
              <a:ext cx="284238" cy="558232"/>
              <a:chOff x="8126516" y="4136399"/>
              <a:chExt cx="301042" cy="591234"/>
            </a:xfrm>
          </p:grpSpPr>
          <p:sp>
            <p:nvSpPr>
              <p:cNvPr id="238" name="Freeform 404">
                <a:extLst>
                  <a:ext uri="{FF2B5EF4-FFF2-40B4-BE49-F238E27FC236}">
                    <a16:creationId xmlns:a16="http://schemas.microsoft.com/office/drawing/2014/main" id="{9D6ED2E0-2AFD-0E29-8DB6-34EE4FD4046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126516" y="4136399"/>
                <a:ext cx="301042" cy="591234"/>
              </a:xfrm>
              <a:custGeom>
                <a:avLst/>
                <a:gdLst>
                  <a:gd name="T0" fmla="*/ 609 w 625"/>
                  <a:gd name="T1" fmla="*/ 279 h 1228"/>
                  <a:gd name="T2" fmla="*/ 306 w 625"/>
                  <a:gd name="T3" fmla="*/ 0 h 1228"/>
                  <a:gd name="T4" fmla="*/ 1 w 625"/>
                  <a:gd name="T5" fmla="*/ 309 h 1228"/>
                  <a:gd name="T6" fmla="*/ 280 w 625"/>
                  <a:gd name="T7" fmla="*/ 613 h 1228"/>
                  <a:gd name="T8" fmla="*/ 280 w 625"/>
                  <a:gd name="T9" fmla="*/ 772 h 1228"/>
                  <a:gd name="T10" fmla="*/ 229 w 625"/>
                  <a:gd name="T11" fmla="*/ 844 h 1228"/>
                  <a:gd name="T12" fmla="*/ 229 w 625"/>
                  <a:gd name="T13" fmla="*/ 1152 h 1228"/>
                  <a:gd name="T14" fmla="*/ 306 w 625"/>
                  <a:gd name="T15" fmla="*/ 1228 h 1228"/>
                  <a:gd name="T16" fmla="*/ 382 w 625"/>
                  <a:gd name="T17" fmla="*/ 1152 h 1228"/>
                  <a:gd name="T18" fmla="*/ 382 w 625"/>
                  <a:gd name="T19" fmla="*/ 844 h 1228"/>
                  <a:gd name="T20" fmla="*/ 331 w 625"/>
                  <a:gd name="T21" fmla="*/ 772 h 1228"/>
                  <a:gd name="T22" fmla="*/ 331 w 625"/>
                  <a:gd name="T23" fmla="*/ 613 h 1228"/>
                  <a:gd name="T24" fmla="*/ 609 w 625"/>
                  <a:gd name="T25" fmla="*/ 279 h 1228"/>
                  <a:gd name="T26" fmla="*/ 331 w 625"/>
                  <a:gd name="T27" fmla="*/ 1152 h 1228"/>
                  <a:gd name="T28" fmla="*/ 306 w 625"/>
                  <a:gd name="T29" fmla="*/ 1177 h 1228"/>
                  <a:gd name="T30" fmla="*/ 280 w 625"/>
                  <a:gd name="T31" fmla="*/ 1152 h 1228"/>
                  <a:gd name="T32" fmla="*/ 280 w 625"/>
                  <a:gd name="T33" fmla="*/ 844 h 1228"/>
                  <a:gd name="T34" fmla="*/ 306 w 625"/>
                  <a:gd name="T35" fmla="*/ 819 h 1228"/>
                  <a:gd name="T36" fmla="*/ 331 w 625"/>
                  <a:gd name="T37" fmla="*/ 844 h 1228"/>
                  <a:gd name="T38" fmla="*/ 331 w 625"/>
                  <a:gd name="T39" fmla="*/ 1152 h 1228"/>
                  <a:gd name="T40" fmla="*/ 306 w 625"/>
                  <a:gd name="T41" fmla="*/ 563 h 1228"/>
                  <a:gd name="T42" fmla="*/ 50 w 625"/>
                  <a:gd name="T43" fmla="*/ 307 h 1228"/>
                  <a:gd name="T44" fmla="*/ 306 w 625"/>
                  <a:gd name="T45" fmla="*/ 51 h 1228"/>
                  <a:gd name="T46" fmla="*/ 562 w 625"/>
                  <a:gd name="T47" fmla="*/ 307 h 1228"/>
                  <a:gd name="T48" fmla="*/ 306 w 625"/>
                  <a:gd name="T49" fmla="*/ 563 h 1228"/>
                  <a:gd name="T50" fmla="*/ 306 w 625"/>
                  <a:gd name="T51" fmla="*/ 563 h 1228"/>
                  <a:gd name="T52" fmla="*/ 306 w 625"/>
                  <a:gd name="T53" fmla="*/ 563 h 1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625" h="1228">
                    <a:moveTo>
                      <a:pt x="609" y="279"/>
                    </a:moveTo>
                    <a:cubicBezTo>
                      <a:pt x="594" y="122"/>
                      <a:pt x="463" y="1"/>
                      <a:pt x="306" y="0"/>
                    </a:cubicBezTo>
                    <a:cubicBezTo>
                      <a:pt x="136" y="1"/>
                      <a:pt x="0" y="140"/>
                      <a:pt x="1" y="309"/>
                    </a:cubicBezTo>
                    <a:cubicBezTo>
                      <a:pt x="2" y="467"/>
                      <a:pt x="123" y="598"/>
                      <a:pt x="280" y="613"/>
                    </a:cubicBezTo>
                    <a:cubicBezTo>
                      <a:pt x="280" y="772"/>
                      <a:pt x="280" y="772"/>
                      <a:pt x="280" y="772"/>
                    </a:cubicBezTo>
                    <a:cubicBezTo>
                      <a:pt x="249" y="783"/>
                      <a:pt x="229" y="812"/>
                      <a:pt x="229" y="844"/>
                    </a:cubicBezTo>
                    <a:cubicBezTo>
                      <a:pt x="229" y="1152"/>
                      <a:pt x="229" y="1152"/>
                      <a:pt x="229" y="1152"/>
                    </a:cubicBezTo>
                    <a:cubicBezTo>
                      <a:pt x="229" y="1194"/>
                      <a:pt x="263" y="1228"/>
                      <a:pt x="306" y="1228"/>
                    </a:cubicBezTo>
                    <a:cubicBezTo>
                      <a:pt x="348" y="1228"/>
                      <a:pt x="382" y="1194"/>
                      <a:pt x="382" y="1152"/>
                    </a:cubicBezTo>
                    <a:cubicBezTo>
                      <a:pt x="382" y="844"/>
                      <a:pt x="382" y="844"/>
                      <a:pt x="382" y="844"/>
                    </a:cubicBezTo>
                    <a:cubicBezTo>
                      <a:pt x="382" y="812"/>
                      <a:pt x="362" y="783"/>
                      <a:pt x="331" y="772"/>
                    </a:cubicBezTo>
                    <a:cubicBezTo>
                      <a:pt x="331" y="613"/>
                      <a:pt x="331" y="613"/>
                      <a:pt x="331" y="613"/>
                    </a:cubicBezTo>
                    <a:cubicBezTo>
                      <a:pt x="500" y="597"/>
                      <a:pt x="625" y="448"/>
                      <a:pt x="609" y="279"/>
                    </a:cubicBezTo>
                    <a:close/>
                    <a:moveTo>
                      <a:pt x="331" y="1152"/>
                    </a:moveTo>
                    <a:cubicBezTo>
                      <a:pt x="331" y="1166"/>
                      <a:pt x="320" y="1177"/>
                      <a:pt x="306" y="1177"/>
                    </a:cubicBezTo>
                    <a:cubicBezTo>
                      <a:pt x="291" y="1177"/>
                      <a:pt x="280" y="1166"/>
                      <a:pt x="280" y="1152"/>
                    </a:cubicBezTo>
                    <a:cubicBezTo>
                      <a:pt x="280" y="844"/>
                      <a:pt x="280" y="844"/>
                      <a:pt x="280" y="844"/>
                    </a:cubicBezTo>
                    <a:cubicBezTo>
                      <a:pt x="280" y="830"/>
                      <a:pt x="291" y="819"/>
                      <a:pt x="306" y="819"/>
                    </a:cubicBezTo>
                    <a:cubicBezTo>
                      <a:pt x="320" y="819"/>
                      <a:pt x="331" y="830"/>
                      <a:pt x="331" y="844"/>
                    </a:cubicBezTo>
                    <a:lnTo>
                      <a:pt x="331" y="1152"/>
                    </a:lnTo>
                    <a:close/>
                    <a:moveTo>
                      <a:pt x="306" y="563"/>
                    </a:moveTo>
                    <a:cubicBezTo>
                      <a:pt x="164" y="563"/>
                      <a:pt x="50" y="448"/>
                      <a:pt x="50" y="307"/>
                    </a:cubicBezTo>
                    <a:cubicBezTo>
                      <a:pt x="50" y="166"/>
                      <a:pt x="164" y="51"/>
                      <a:pt x="306" y="51"/>
                    </a:cubicBezTo>
                    <a:cubicBezTo>
                      <a:pt x="447" y="51"/>
                      <a:pt x="562" y="166"/>
                      <a:pt x="562" y="307"/>
                    </a:cubicBezTo>
                    <a:cubicBezTo>
                      <a:pt x="561" y="448"/>
                      <a:pt x="447" y="563"/>
                      <a:pt x="306" y="563"/>
                    </a:cubicBezTo>
                    <a:close/>
                    <a:moveTo>
                      <a:pt x="306" y="563"/>
                    </a:moveTo>
                    <a:cubicBezTo>
                      <a:pt x="306" y="563"/>
                      <a:pt x="306" y="563"/>
                      <a:pt x="306" y="563"/>
                    </a:cubicBezTo>
                  </a:path>
                </a:pathLst>
              </a:custGeom>
              <a:solidFill>
                <a:srgbClr val="6783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53" tIns="45727" rIns="91453" bIns="45727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04297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1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239" name="Freeform 405">
                <a:extLst>
                  <a:ext uri="{FF2B5EF4-FFF2-40B4-BE49-F238E27FC236}">
                    <a16:creationId xmlns:a16="http://schemas.microsoft.com/office/drawing/2014/main" id="{8E150770-3490-B342-8E33-C8C1FDB5EF0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175334" y="4185216"/>
                <a:ext cx="111196" cy="111195"/>
              </a:xfrm>
              <a:custGeom>
                <a:avLst/>
                <a:gdLst>
                  <a:gd name="T0" fmla="*/ 205 w 230"/>
                  <a:gd name="T1" fmla="*/ 0 h 230"/>
                  <a:gd name="T2" fmla="*/ 0 w 230"/>
                  <a:gd name="T3" fmla="*/ 205 h 230"/>
                  <a:gd name="T4" fmla="*/ 25 w 230"/>
                  <a:gd name="T5" fmla="*/ 230 h 230"/>
                  <a:gd name="T6" fmla="*/ 51 w 230"/>
                  <a:gd name="T7" fmla="*/ 205 h 230"/>
                  <a:gd name="T8" fmla="*/ 205 w 230"/>
                  <a:gd name="T9" fmla="*/ 51 h 230"/>
                  <a:gd name="T10" fmla="*/ 230 w 230"/>
                  <a:gd name="T11" fmla="*/ 26 h 230"/>
                  <a:gd name="T12" fmla="*/ 205 w 230"/>
                  <a:gd name="T13" fmla="*/ 0 h 230"/>
                  <a:gd name="T14" fmla="*/ 205 w 230"/>
                  <a:gd name="T15" fmla="*/ 0 h 230"/>
                  <a:gd name="T16" fmla="*/ 205 w 230"/>
                  <a:gd name="T17" fmla="*/ 0 h 2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0" h="230">
                    <a:moveTo>
                      <a:pt x="205" y="0"/>
                    </a:moveTo>
                    <a:cubicBezTo>
                      <a:pt x="92" y="0"/>
                      <a:pt x="0" y="92"/>
                      <a:pt x="0" y="205"/>
                    </a:cubicBezTo>
                    <a:cubicBezTo>
                      <a:pt x="0" y="219"/>
                      <a:pt x="11" y="230"/>
                      <a:pt x="25" y="230"/>
                    </a:cubicBezTo>
                    <a:cubicBezTo>
                      <a:pt x="40" y="230"/>
                      <a:pt x="51" y="219"/>
                      <a:pt x="51" y="205"/>
                    </a:cubicBezTo>
                    <a:cubicBezTo>
                      <a:pt x="51" y="120"/>
                      <a:pt x="120" y="51"/>
                      <a:pt x="205" y="51"/>
                    </a:cubicBezTo>
                    <a:cubicBezTo>
                      <a:pt x="219" y="51"/>
                      <a:pt x="230" y="40"/>
                      <a:pt x="230" y="26"/>
                    </a:cubicBezTo>
                    <a:cubicBezTo>
                      <a:pt x="230" y="12"/>
                      <a:pt x="219" y="0"/>
                      <a:pt x="205" y="0"/>
                    </a:cubicBezTo>
                    <a:close/>
                    <a:moveTo>
                      <a:pt x="205" y="0"/>
                    </a:moveTo>
                    <a:cubicBezTo>
                      <a:pt x="205" y="0"/>
                      <a:pt x="205" y="0"/>
                      <a:pt x="205" y="0"/>
                    </a:cubicBezTo>
                  </a:path>
                </a:pathLst>
              </a:custGeom>
              <a:solidFill>
                <a:srgbClr val="6783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53" tIns="45727" rIns="91453" bIns="45727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04297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1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</p:grpSp>
        <p:sp>
          <p:nvSpPr>
            <p:cNvPr id="230" name="Freeform 407">
              <a:extLst>
                <a:ext uri="{FF2B5EF4-FFF2-40B4-BE49-F238E27FC236}">
                  <a16:creationId xmlns:a16="http://schemas.microsoft.com/office/drawing/2014/main" id="{D970C1CD-B46C-CC82-A1DF-79EBD7DF71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80724" y="4197420"/>
              <a:ext cx="62378" cy="62378"/>
            </a:xfrm>
            <a:custGeom>
              <a:avLst/>
              <a:gdLst>
                <a:gd name="T0" fmla="*/ 25 w 128"/>
                <a:gd name="T1" fmla="*/ 0 h 128"/>
                <a:gd name="T2" fmla="*/ 0 w 128"/>
                <a:gd name="T3" fmla="*/ 25 h 128"/>
                <a:gd name="T4" fmla="*/ 0 w 128"/>
                <a:gd name="T5" fmla="*/ 128 h 128"/>
                <a:gd name="T6" fmla="*/ 51 w 128"/>
                <a:gd name="T7" fmla="*/ 128 h 128"/>
                <a:gd name="T8" fmla="*/ 51 w 128"/>
                <a:gd name="T9" fmla="*/ 51 h 128"/>
                <a:gd name="T10" fmla="*/ 128 w 128"/>
                <a:gd name="T11" fmla="*/ 51 h 128"/>
                <a:gd name="T12" fmla="*/ 128 w 128"/>
                <a:gd name="T13" fmla="*/ 0 h 128"/>
                <a:gd name="T14" fmla="*/ 25 w 128"/>
                <a:gd name="T15" fmla="*/ 0 h 128"/>
                <a:gd name="T16" fmla="*/ 25 w 128"/>
                <a:gd name="T17" fmla="*/ 0 h 128"/>
                <a:gd name="T18" fmla="*/ 25 w 128"/>
                <a:gd name="T19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8" h="128">
                  <a:moveTo>
                    <a:pt x="25" y="0"/>
                  </a:moveTo>
                  <a:cubicBezTo>
                    <a:pt x="11" y="0"/>
                    <a:pt x="0" y="11"/>
                    <a:pt x="0" y="25"/>
                  </a:cubicBezTo>
                  <a:cubicBezTo>
                    <a:pt x="0" y="128"/>
                    <a:pt x="0" y="128"/>
                    <a:pt x="0" y="128"/>
                  </a:cubicBezTo>
                  <a:cubicBezTo>
                    <a:pt x="51" y="128"/>
                    <a:pt x="51" y="128"/>
                    <a:pt x="51" y="128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128" y="51"/>
                    <a:pt x="128" y="51"/>
                    <a:pt x="128" y="51"/>
                  </a:cubicBezTo>
                  <a:cubicBezTo>
                    <a:pt x="128" y="0"/>
                    <a:pt x="128" y="0"/>
                    <a:pt x="128" y="0"/>
                  </a:cubicBezTo>
                  <a:lnTo>
                    <a:pt x="25" y="0"/>
                  </a:lnTo>
                  <a:close/>
                  <a:moveTo>
                    <a:pt x="25" y="0"/>
                  </a:moveTo>
                  <a:cubicBezTo>
                    <a:pt x="25" y="0"/>
                    <a:pt x="25" y="0"/>
                    <a:pt x="25" y="0"/>
                  </a:cubicBezTo>
                </a:path>
              </a:pathLst>
            </a:custGeom>
            <a:solidFill>
              <a:srgbClr val="6783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53" tIns="45727" rIns="91453" bIns="4572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042973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grpSp>
          <p:nvGrpSpPr>
            <p:cNvPr id="231" name="그룹 230">
              <a:extLst>
                <a:ext uri="{FF2B5EF4-FFF2-40B4-BE49-F238E27FC236}">
                  <a16:creationId xmlns:a16="http://schemas.microsoft.com/office/drawing/2014/main" id="{26151E74-D369-FFFA-BCED-70682CDB17DB}"/>
                </a:ext>
              </a:extLst>
            </p:cNvPr>
            <p:cNvGrpSpPr/>
            <p:nvPr/>
          </p:nvGrpSpPr>
          <p:grpSpPr>
            <a:xfrm>
              <a:off x="7824039" y="4207668"/>
              <a:ext cx="317453" cy="225155"/>
              <a:chOff x="4776406" y="2153308"/>
              <a:chExt cx="307198" cy="255529"/>
            </a:xfrm>
            <a:solidFill>
              <a:srgbClr val="354976"/>
            </a:solidFill>
          </p:grpSpPr>
          <p:sp>
            <p:nvSpPr>
              <p:cNvPr id="233" name="Freeform 38">
                <a:extLst>
                  <a:ext uri="{FF2B5EF4-FFF2-40B4-BE49-F238E27FC236}">
                    <a16:creationId xmlns:a16="http://schemas.microsoft.com/office/drawing/2014/main" id="{EDA305BC-063A-D708-0AC3-53ED87AC0E8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76406" y="2153308"/>
                <a:ext cx="307198" cy="220769"/>
              </a:xfrm>
              <a:custGeom>
                <a:avLst/>
                <a:gdLst>
                  <a:gd name="T0" fmla="*/ 896 w 920"/>
                  <a:gd name="T1" fmla="*/ 616 h 664"/>
                  <a:gd name="T2" fmla="*/ 869 w 920"/>
                  <a:gd name="T3" fmla="*/ 616 h 664"/>
                  <a:gd name="T4" fmla="*/ 869 w 920"/>
                  <a:gd name="T5" fmla="*/ 24 h 664"/>
                  <a:gd name="T6" fmla="*/ 845 w 920"/>
                  <a:gd name="T7" fmla="*/ 0 h 664"/>
                  <a:gd name="T8" fmla="*/ 742 w 920"/>
                  <a:gd name="T9" fmla="*/ 0 h 664"/>
                  <a:gd name="T10" fmla="*/ 718 w 920"/>
                  <a:gd name="T11" fmla="*/ 24 h 664"/>
                  <a:gd name="T12" fmla="*/ 718 w 920"/>
                  <a:gd name="T13" fmla="*/ 616 h 664"/>
                  <a:gd name="T14" fmla="*/ 664 w 920"/>
                  <a:gd name="T15" fmla="*/ 616 h 664"/>
                  <a:gd name="T16" fmla="*/ 664 w 920"/>
                  <a:gd name="T17" fmla="*/ 229 h 664"/>
                  <a:gd name="T18" fmla="*/ 640 w 920"/>
                  <a:gd name="T19" fmla="*/ 205 h 664"/>
                  <a:gd name="T20" fmla="*/ 537 w 920"/>
                  <a:gd name="T21" fmla="*/ 205 h 664"/>
                  <a:gd name="T22" fmla="*/ 513 w 920"/>
                  <a:gd name="T23" fmla="*/ 229 h 664"/>
                  <a:gd name="T24" fmla="*/ 513 w 920"/>
                  <a:gd name="T25" fmla="*/ 616 h 664"/>
                  <a:gd name="T26" fmla="*/ 458 w 920"/>
                  <a:gd name="T27" fmla="*/ 616 h 664"/>
                  <a:gd name="T28" fmla="*/ 458 w 920"/>
                  <a:gd name="T29" fmla="*/ 127 h 664"/>
                  <a:gd name="T30" fmla="*/ 434 w 920"/>
                  <a:gd name="T31" fmla="*/ 103 h 664"/>
                  <a:gd name="T32" fmla="*/ 332 w 920"/>
                  <a:gd name="T33" fmla="*/ 103 h 664"/>
                  <a:gd name="T34" fmla="*/ 308 w 920"/>
                  <a:gd name="T35" fmla="*/ 127 h 664"/>
                  <a:gd name="T36" fmla="*/ 308 w 920"/>
                  <a:gd name="T37" fmla="*/ 616 h 664"/>
                  <a:gd name="T38" fmla="*/ 253 w 920"/>
                  <a:gd name="T39" fmla="*/ 616 h 664"/>
                  <a:gd name="T40" fmla="*/ 253 w 920"/>
                  <a:gd name="T41" fmla="*/ 332 h 664"/>
                  <a:gd name="T42" fmla="*/ 229 w 920"/>
                  <a:gd name="T43" fmla="*/ 308 h 664"/>
                  <a:gd name="T44" fmla="*/ 127 w 920"/>
                  <a:gd name="T45" fmla="*/ 308 h 664"/>
                  <a:gd name="T46" fmla="*/ 103 w 920"/>
                  <a:gd name="T47" fmla="*/ 332 h 664"/>
                  <a:gd name="T48" fmla="*/ 103 w 920"/>
                  <a:gd name="T49" fmla="*/ 616 h 664"/>
                  <a:gd name="T50" fmla="*/ 24 w 920"/>
                  <a:gd name="T51" fmla="*/ 616 h 664"/>
                  <a:gd name="T52" fmla="*/ 0 w 920"/>
                  <a:gd name="T53" fmla="*/ 640 h 664"/>
                  <a:gd name="T54" fmla="*/ 24 w 920"/>
                  <a:gd name="T55" fmla="*/ 664 h 664"/>
                  <a:gd name="T56" fmla="*/ 896 w 920"/>
                  <a:gd name="T57" fmla="*/ 664 h 664"/>
                  <a:gd name="T58" fmla="*/ 920 w 920"/>
                  <a:gd name="T59" fmla="*/ 640 h 664"/>
                  <a:gd name="T60" fmla="*/ 896 w 920"/>
                  <a:gd name="T61" fmla="*/ 616 h 664"/>
                  <a:gd name="T62" fmla="*/ 205 w 920"/>
                  <a:gd name="T63" fmla="*/ 616 h 664"/>
                  <a:gd name="T64" fmla="*/ 151 w 920"/>
                  <a:gd name="T65" fmla="*/ 616 h 664"/>
                  <a:gd name="T66" fmla="*/ 151 w 920"/>
                  <a:gd name="T67" fmla="*/ 356 h 664"/>
                  <a:gd name="T68" fmla="*/ 205 w 920"/>
                  <a:gd name="T69" fmla="*/ 356 h 664"/>
                  <a:gd name="T70" fmla="*/ 205 w 920"/>
                  <a:gd name="T71" fmla="*/ 616 h 664"/>
                  <a:gd name="T72" fmla="*/ 410 w 920"/>
                  <a:gd name="T73" fmla="*/ 616 h 664"/>
                  <a:gd name="T74" fmla="*/ 356 w 920"/>
                  <a:gd name="T75" fmla="*/ 616 h 664"/>
                  <a:gd name="T76" fmla="*/ 356 w 920"/>
                  <a:gd name="T77" fmla="*/ 151 h 664"/>
                  <a:gd name="T78" fmla="*/ 410 w 920"/>
                  <a:gd name="T79" fmla="*/ 151 h 664"/>
                  <a:gd name="T80" fmla="*/ 410 w 920"/>
                  <a:gd name="T81" fmla="*/ 616 h 664"/>
                  <a:gd name="T82" fmla="*/ 616 w 920"/>
                  <a:gd name="T83" fmla="*/ 616 h 664"/>
                  <a:gd name="T84" fmla="*/ 561 w 920"/>
                  <a:gd name="T85" fmla="*/ 616 h 664"/>
                  <a:gd name="T86" fmla="*/ 561 w 920"/>
                  <a:gd name="T87" fmla="*/ 253 h 664"/>
                  <a:gd name="T88" fmla="*/ 616 w 920"/>
                  <a:gd name="T89" fmla="*/ 253 h 664"/>
                  <a:gd name="T90" fmla="*/ 616 w 920"/>
                  <a:gd name="T91" fmla="*/ 616 h 664"/>
                  <a:gd name="T92" fmla="*/ 821 w 920"/>
                  <a:gd name="T93" fmla="*/ 616 h 664"/>
                  <a:gd name="T94" fmla="*/ 766 w 920"/>
                  <a:gd name="T95" fmla="*/ 616 h 664"/>
                  <a:gd name="T96" fmla="*/ 766 w 920"/>
                  <a:gd name="T97" fmla="*/ 48 h 664"/>
                  <a:gd name="T98" fmla="*/ 821 w 920"/>
                  <a:gd name="T99" fmla="*/ 48 h 664"/>
                  <a:gd name="T100" fmla="*/ 821 w 920"/>
                  <a:gd name="T101" fmla="*/ 616 h 664"/>
                  <a:gd name="T102" fmla="*/ 821 w 920"/>
                  <a:gd name="T103" fmla="*/ 616 h 664"/>
                  <a:gd name="T104" fmla="*/ 821 w 920"/>
                  <a:gd name="T105" fmla="*/ 616 h 6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920" h="664">
                    <a:moveTo>
                      <a:pt x="896" y="616"/>
                    </a:moveTo>
                    <a:cubicBezTo>
                      <a:pt x="869" y="616"/>
                      <a:pt x="869" y="616"/>
                      <a:pt x="869" y="616"/>
                    </a:cubicBezTo>
                    <a:cubicBezTo>
                      <a:pt x="869" y="24"/>
                      <a:pt x="869" y="24"/>
                      <a:pt x="869" y="24"/>
                    </a:cubicBezTo>
                    <a:cubicBezTo>
                      <a:pt x="869" y="11"/>
                      <a:pt x="858" y="0"/>
                      <a:pt x="845" y="0"/>
                    </a:cubicBezTo>
                    <a:cubicBezTo>
                      <a:pt x="742" y="0"/>
                      <a:pt x="742" y="0"/>
                      <a:pt x="742" y="0"/>
                    </a:cubicBezTo>
                    <a:cubicBezTo>
                      <a:pt x="729" y="0"/>
                      <a:pt x="718" y="11"/>
                      <a:pt x="718" y="24"/>
                    </a:cubicBezTo>
                    <a:cubicBezTo>
                      <a:pt x="718" y="616"/>
                      <a:pt x="718" y="616"/>
                      <a:pt x="718" y="616"/>
                    </a:cubicBezTo>
                    <a:cubicBezTo>
                      <a:pt x="664" y="616"/>
                      <a:pt x="664" y="616"/>
                      <a:pt x="664" y="616"/>
                    </a:cubicBezTo>
                    <a:cubicBezTo>
                      <a:pt x="664" y="229"/>
                      <a:pt x="664" y="229"/>
                      <a:pt x="664" y="229"/>
                    </a:cubicBezTo>
                    <a:cubicBezTo>
                      <a:pt x="664" y="216"/>
                      <a:pt x="653" y="205"/>
                      <a:pt x="640" y="205"/>
                    </a:cubicBezTo>
                    <a:cubicBezTo>
                      <a:pt x="537" y="205"/>
                      <a:pt x="537" y="205"/>
                      <a:pt x="537" y="205"/>
                    </a:cubicBezTo>
                    <a:cubicBezTo>
                      <a:pt x="524" y="205"/>
                      <a:pt x="513" y="216"/>
                      <a:pt x="513" y="229"/>
                    </a:cubicBezTo>
                    <a:cubicBezTo>
                      <a:pt x="513" y="616"/>
                      <a:pt x="513" y="616"/>
                      <a:pt x="513" y="616"/>
                    </a:cubicBezTo>
                    <a:cubicBezTo>
                      <a:pt x="458" y="616"/>
                      <a:pt x="458" y="616"/>
                      <a:pt x="458" y="616"/>
                    </a:cubicBezTo>
                    <a:cubicBezTo>
                      <a:pt x="458" y="127"/>
                      <a:pt x="458" y="127"/>
                      <a:pt x="458" y="127"/>
                    </a:cubicBezTo>
                    <a:cubicBezTo>
                      <a:pt x="458" y="113"/>
                      <a:pt x="448" y="103"/>
                      <a:pt x="434" y="103"/>
                    </a:cubicBezTo>
                    <a:cubicBezTo>
                      <a:pt x="332" y="103"/>
                      <a:pt x="332" y="103"/>
                      <a:pt x="332" y="103"/>
                    </a:cubicBezTo>
                    <a:cubicBezTo>
                      <a:pt x="319" y="103"/>
                      <a:pt x="308" y="113"/>
                      <a:pt x="308" y="127"/>
                    </a:cubicBezTo>
                    <a:cubicBezTo>
                      <a:pt x="308" y="616"/>
                      <a:pt x="308" y="616"/>
                      <a:pt x="308" y="616"/>
                    </a:cubicBezTo>
                    <a:cubicBezTo>
                      <a:pt x="253" y="616"/>
                      <a:pt x="253" y="616"/>
                      <a:pt x="253" y="616"/>
                    </a:cubicBezTo>
                    <a:cubicBezTo>
                      <a:pt x="253" y="332"/>
                      <a:pt x="253" y="332"/>
                      <a:pt x="253" y="332"/>
                    </a:cubicBezTo>
                    <a:cubicBezTo>
                      <a:pt x="253" y="319"/>
                      <a:pt x="242" y="308"/>
                      <a:pt x="229" y="308"/>
                    </a:cubicBezTo>
                    <a:cubicBezTo>
                      <a:pt x="127" y="308"/>
                      <a:pt x="127" y="308"/>
                      <a:pt x="127" y="308"/>
                    </a:cubicBezTo>
                    <a:cubicBezTo>
                      <a:pt x="113" y="308"/>
                      <a:pt x="103" y="319"/>
                      <a:pt x="103" y="332"/>
                    </a:cubicBezTo>
                    <a:cubicBezTo>
                      <a:pt x="103" y="616"/>
                      <a:pt x="103" y="616"/>
                      <a:pt x="103" y="616"/>
                    </a:cubicBezTo>
                    <a:cubicBezTo>
                      <a:pt x="24" y="616"/>
                      <a:pt x="24" y="616"/>
                      <a:pt x="24" y="616"/>
                    </a:cubicBezTo>
                    <a:cubicBezTo>
                      <a:pt x="11" y="616"/>
                      <a:pt x="0" y="626"/>
                      <a:pt x="0" y="640"/>
                    </a:cubicBezTo>
                    <a:cubicBezTo>
                      <a:pt x="0" y="653"/>
                      <a:pt x="11" y="664"/>
                      <a:pt x="24" y="664"/>
                    </a:cubicBezTo>
                    <a:cubicBezTo>
                      <a:pt x="896" y="664"/>
                      <a:pt x="896" y="664"/>
                      <a:pt x="896" y="664"/>
                    </a:cubicBezTo>
                    <a:cubicBezTo>
                      <a:pt x="909" y="664"/>
                      <a:pt x="920" y="653"/>
                      <a:pt x="920" y="640"/>
                    </a:cubicBezTo>
                    <a:cubicBezTo>
                      <a:pt x="920" y="626"/>
                      <a:pt x="909" y="616"/>
                      <a:pt x="896" y="616"/>
                    </a:cubicBezTo>
                    <a:close/>
                    <a:moveTo>
                      <a:pt x="205" y="616"/>
                    </a:moveTo>
                    <a:cubicBezTo>
                      <a:pt x="151" y="616"/>
                      <a:pt x="151" y="616"/>
                      <a:pt x="151" y="616"/>
                    </a:cubicBezTo>
                    <a:cubicBezTo>
                      <a:pt x="151" y="356"/>
                      <a:pt x="151" y="356"/>
                      <a:pt x="151" y="356"/>
                    </a:cubicBezTo>
                    <a:cubicBezTo>
                      <a:pt x="205" y="356"/>
                      <a:pt x="205" y="356"/>
                      <a:pt x="205" y="356"/>
                    </a:cubicBezTo>
                    <a:lnTo>
                      <a:pt x="205" y="616"/>
                    </a:lnTo>
                    <a:close/>
                    <a:moveTo>
                      <a:pt x="410" y="616"/>
                    </a:moveTo>
                    <a:cubicBezTo>
                      <a:pt x="356" y="616"/>
                      <a:pt x="356" y="616"/>
                      <a:pt x="356" y="616"/>
                    </a:cubicBezTo>
                    <a:cubicBezTo>
                      <a:pt x="356" y="151"/>
                      <a:pt x="356" y="151"/>
                      <a:pt x="356" y="151"/>
                    </a:cubicBezTo>
                    <a:cubicBezTo>
                      <a:pt x="410" y="151"/>
                      <a:pt x="410" y="151"/>
                      <a:pt x="410" y="151"/>
                    </a:cubicBezTo>
                    <a:lnTo>
                      <a:pt x="410" y="616"/>
                    </a:lnTo>
                    <a:close/>
                    <a:moveTo>
                      <a:pt x="616" y="616"/>
                    </a:moveTo>
                    <a:cubicBezTo>
                      <a:pt x="561" y="616"/>
                      <a:pt x="561" y="616"/>
                      <a:pt x="561" y="616"/>
                    </a:cubicBezTo>
                    <a:cubicBezTo>
                      <a:pt x="561" y="253"/>
                      <a:pt x="561" y="253"/>
                      <a:pt x="561" y="253"/>
                    </a:cubicBezTo>
                    <a:cubicBezTo>
                      <a:pt x="616" y="253"/>
                      <a:pt x="616" y="253"/>
                      <a:pt x="616" y="253"/>
                    </a:cubicBezTo>
                    <a:lnTo>
                      <a:pt x="616" y="616"/>
                    </a:lnTo>
                    <a:close/>
                    <a:moveTo>
                      <a:pt x="821" y="616"/>
                    </a:moveTo>
                    <a:cubicBezTo>
                      <a:pt x="766" y="616"/>
                      <a:pt x="766" y="616"/>
                      <a:pt x="766" y="616"/>
                    </a:cubicBezTo>
                    <a:cubicBezTo>
                      <a:pt x="766" y="48"/>
                      <a:pt x="766" y="48"/>
                      <a:pt x="766" y="48"/>
                    </a:cubicBezTo>
                    <a:cubicBezTo>
                      <a:pt x="821" y="48"/>
                      <a:pt x="821" y="48"/>
                      <a:pt x="821" y="48"/>
                    </a:cubicBezTo>
                    <a:lnTo>
                      <a:pt x="821" y="616"/>
                    </a:lnTo>
                    <a:close/>
                    <a:moveTo>
                      <a:pt x="821" y="616"/>
                    </a:moveTo>
                    <a:cubicBezTo>
                      <a:pt x="821" y="616"/>
                      <a:pt x="821" y="616"/>
                      <a:pt x="821" y="616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53" tIns="45727" rIns="91453" bIns="45727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04297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1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234" name="Freeform 39">
                <a:extLst>
                  <a:ext uri="{FF2B5EF4-FFF2-40B4-BE49-F238E27FC236}">
                    <a16:creationId xmlns:a16="http://schemas.microsoft.com/office/drawing/2014/main" id="{B0BE4DB6-6487-C947-F9E6-DE2DD3289E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025358" y="2392866"/>
                <a:ext cx="32881" cy="15971"/>
              </a:xfrm>
              <a:custGeom>
                <a:avLst/>
                <a:gdLst>
                  <a:gd name="T0" fmla="*/ 75 w 99"/>
                  <a:gd name="T1" fmla="*/ 0 h 48"/>
                  <a:gd name="T2" fmla="*/ 24 w 99"/>
                  <a:gd name="T3" fmla="*/ 0 h 48"/>
                  <a:gd name="T4" fmla="*/ 0 w 99"/>
                  <a:gd name="T5" fmla="*/ 24 h 48"/>
                  <a:gd name="T6" fmla="*/ 24 w 99"/>
                  <a:gd name="T7" fmla="*/ 48 h 48"/>
                  <a:gd name="T8" fmla="*/ 75 w 99"/>
                  <a:gd name="T9" fmla="*/ 48 h 48"/>
                  <a:gd name="T10" fmla="*/ 99 w 99"/>
                  <a:gd name="T11" fmla="*/ 24 h 48"/>
                  <a:gd name="T12" fmla="*/ 75 w 99"/>
                  <a:gd name="T13" fmla="*/ 0 h 48"/>
                  <a:gd name="T14" fmla="*/ 75 w 99"/>
                  <a:gd name="T15" fmla="*/ 0 h 48"/>
                  <a:gd name="T16" fmla="*/ 75 w 99"/>
                  <a:gd name="T17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48">
                    <a:moveTo>
                      <a:pt x="75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38"/>
                      <a:pt x="11" y="48"/>
                      <a:pt x="24" y="48"/>
                    </a:cubicBezTo>
                    <a:cubicBezTo>
                      <a:pt x="75" y="48"/>
                      <a:pt x="75" y="48"/>
                      <a:pt x="75" y="48"/>
                    </a:cubicBezTo>
                    <a:cubicBezTo>
                      <a:pt x="88" y="48"/>
                      <a:pt x="99" y="38"/>
                      <a:pt x="99" y="24"/>
                    </a:cubicBezTo>
                    <a:cubicBezTo>
                      <a:pt x="99" y="11"/>
                      <a:pt x="88" y="0"/>
                      <a:pt x="75" y="0"/>
                    </a:cubicBezTo>
                    <a:close/>
                    <a:moveTo>
                      <a:pt x="75" y="0"/>
                    </a:moveTo>
                    <a:cubicBezTo>
                      <a:pt x="75" y="0"/>
                      <a:pt x="75" y="0"/>
                      <a:pt x="75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53" tIns="45727" rIns="91453" bIns="45727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04297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1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235" name="Freeform 40">
                <a:extLst>
                  <a:ext uri="{FF2B5EF4-FFF2-40B4-BE49-F238E27FC236}">
                    <a16:creationId xmlns:a16="http://schemas.microsoft.com/office/drawing/2014/main" id="{563325AA-2512-9AD3-AE6F-31985D22514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88200" y="2392866"/>
                <a:ext cx="32881" cy="15971"/>
              </a:xfrm>
              <a:custGeom>
                <a:avLst/>
                <a:gdLst>
                  <a:gd name="T0" fmla="*/ 76 w 100"/>
                  <a:gd name="T1" fmla="*/ 0 h 48"/>
                  <a:gd name="T2" fmla="*/ 24 w 100"/>
                  <a:gd name="T3" fmla="*/ 0 h 48"/>
                  <a:gd name="T4" fmla="*/ 0 w 100"/>
                  <a:gd name="T5" fmla="*/ 24 h 48"/>
                  <a:gd name="T6" fmla="*/ 24 w 100"/>
                  <a:gd name="T7" fmla="*/ 48 h 48"/>
                  <a:gd name="T8" fmla="*/ 76 w 100"/>
                  <a:gd name="T9" fmla="*/ 48 h 48"/>
                  <a:gd name="T10" fmla="*/ 100 w 100"/>
                  <a:gd name="T11" fmla="*/ 24 h 48"/>
                  <a:gd name="T12" fmla="*/ 76 w 100"/>
                  <a:gd name="T13" fmla="*/ 0 h 48"/>
                  <a:gd name="T14" fmla="*/ 76 w 100"/>
                  <a:gd name="T15" fmla="*/ 0 h 48"/>
                  <a:gd name="T16" fmla="*/ 76 w 100"/>
                  <a:gd name="T17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0" h="48">
                    <a:moveTo>
                      <a:pt x="76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38"/>
                      <a:pt x="11" y="48"/>
                      <a:pt x="24" y="48"/>
                    </a:cubicBezTo>
                    <a:cubicBezTo>
                      <a:pt x="76" y="48"/>
                      <a:pt x="76" y="48"/>
                      <a:pt x="76" y="48"/>
                    </a:cubicBezTo>
                    <a:cubicBezTo>
                      <a:pt x="89" y="48"/>
                      <a:pt x="100" y="38"/>
                      <a:pt x="100" y="24"/>
                    </a:cubicBezTo>
                    <a:cubicBezTo>
                      <a:pt x="100" y="11"/>
                      <a:pt x="89" y="0"/>
                      <a:pt x="76" y="0"/>
                    </a:cubicBezTo>
                    <a:close/>
                    <a:moveTo>
                      <a:pt x="76" y="0"/>
                    </a:moveTo>
                    <a:cubicBezTo>
                      <a:pt x="76" y="0"/>
                      <a:pt x="76" y="0"/>
                      <a:pt x="76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53" tIns="45727" rIns="91453" bIns="45727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04297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1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236" name="Freeform 41">
                <a:extLst>
                  <a:ext uri="{FF2B5EF4-FFF2-40B4-BE49-F238E27FC236}">
                    <a16:creationId xmlns:a16="http://schemas.microsoft.com/office/drawing/2014/main" id="{B20CEA8F-FD74-CEB6-0CFC-DB77644C65D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956779" y="2392866"/>
                <a:ext cx="32881" cy="15971"/>
              </a:xfrm>
              <a:custGeom>
                <a:avLst/>
                <a:gdLst>
                  <a:gd name="T0" fmla="*/ 75 w 99"/>
                  <a:gd name="T1" fmla="*/ 0 h 48"/>
                  <a:gd name="T2" fmla="*/ 24 w 99"/>
                  <a:gd name="T3" fmla="*/ 0 h 48"/>
                  <a:gd name="T4" fmla="*/ 0 w 99"/>
                  <a:gd name="T5" fmla="*/ 24 h 48"/>
                  <a:gd name="T6" fmla="*/ 24 w 99"/>
                  <a:gd name="T7" fmla="*/ 48 h 48"/>
                  <a:gd name="T8" fmla="*/ 75 w 99"/>
                  <a:gd name="T9" fmla="*/ 48 h 48"/>
                  <a:gd name="T10" fmla="*/ 99 w 99"/>
                  <a:gd name="T11" fmla="*/ 24 h 48"/>
                  <a:gd name="T12" fmla="*/ 75 w 99"/>
                  <a:gd name="T13" fmla="*/ 0 h 48"/>
                  <a:gd name="T14" fmla="*/ 75 w 99"/>
                  <a:gd name="T15" fmla="*/ 0 h 48"/>
                  <a:gd name="T16" fmla="*/ 75 w 99"/>
                  <a:gd name="T17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48">
                    <a:moveTo>
                      <a:pt x="75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0" y="0"/>
                      <a:pt x="0" y="11"/>
                      <a:pt x="0" y="24"/>
                    </a:cubicBezTo>
                    <a:cubicBezTo>
                      <a:pt x="0" y="38"/>
                      <a:pt x="10" y="48"/>
                      <a:pt x="24" y="48"/>
                    </a:cubicBezTo>
                    <a:cubicBezTo>
                      <a:pt x="75" y="48"/>
                      <a:pt x="75" y="48"/>
                      <a:pt x="75" y="48"/>
                    </a:cubicBezTo>
                    <a:cubicBezTo>
                      <a:pt x="88" y="48"/>
                      <a:pt x="99" y="38"/>
                      <a:pt x="99" y="24"/>
                    </a:cubicBezTo>
                    <a:cubicBezTo>
                      <a:pt x="99" y="11"/>
                      <a:pt x="88" y="0"/>
                      <a:pt x="75" y="0"/>
                    </a:cubicBezTo>
                    <a:close/>
                    <a:moveTo>
                      <a:pt x="75" y="0"/>
                    </a:moveTo>
                    <a:cubicBezTo>
                      <a:pt x="75" y="0"/>
                      <a:pt x="75" y="0"/>
                      <a:pt x="75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53" tIns="45727" rIns="91453" bIns="45727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04297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1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237" name="Freeform 42">
                <a:extLst>
                  <a:ext uri="{FF2B5EF4-FFF2-40B4-BE49-F238E27FC236}">
                    <a16:creationId xmlns:a16="http://schemas.microsoft.com/office/drawing/2014/main" id="{1B71DE79-D629-FF1D-564A-70610C1218F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19621" y="2392866"/>
                <a:ext cx="32881" cy="15971"/>
              </a:xfrm>
              <a:custGeom>
                <a:avLst/>
                <a:gdLst>
                  <a:gd name="T0" fmla="*/ 76 w 100"/>
                  <a:gd name="T1" fmla="*/ 0 h 48"/>
                  <a:gd name="T2" fmla="*/ 24 w 100"/>
                  <a:gd name="T3" fmla="*/ 0 h 48"/>
                  <a:gd name="T4" fmla="*/ 0 w 100"/>
                  <a:gd name="T5" fmla="*/ 24 h 48"/>
                  <a:gd name="T6" fmla="*/ 24 w 100"/>
                  <a:gd name="T7" fmla="*/ 48 h 48"/>
                  <a:gd name="T8" fmla="*/ 76 w 100"/>
                  <a:gd name="T9" fmla="*/ 48 h 48"/>
                  <a:gd name="T10" fmla="*/ 100 w 100"/>
                  <a:gd name="T11" fmla="*/ 24 h 48"/>
                  <a:gd name="T12" fmla="*/ 76 w 100"/>
                  <a:gd name="T13" fmla="*/ 0 h 48"/>
                  <a:gd name="T14" fmla="*/ 76 w 100"/>
                  <a:gd name="T15" fmla="*/ 0 h 48"/>
                  <a:gd name="T16" fmla="*/ 76 w 100"/>
                  <a:gd name="T17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0" h="48">
                    <a:moveTo>
                      <a:pt x="76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38"/>
                      <a:pt x="11" y="48"/>
                      <a:pt x="24" y="48"/>
                    </a:cubicBezTo>
                    <a:cubicBezTo>
                      <a:pt x="76" y="48"/>
                      <a:pt x="76" y="48"/>
                      <a:pt x="76" y="48"/>
                    </a:cubicBezTo>
                    <a:cubicBezTo>
                      <a:pt x="89" y="48"/>
                      <a:pt x="100" y="38"/>
                      <a:pt x="100" y="24"/>
                    </a:cubicBezTo>
                    <a:cubicBezTo>
                      <a:pt x="100" y="11"/>
                      <a:pt x="89" y="0"/>
                      <a:pt x="76" y="0"/>
                    </a:cubicBezTo>
                    <a:close/>
                    <a:moveTo>
                      <a:pt x="76" y="0"/>
                    </a:moveTo>
                    <a:cubicBezTo>
                      <a:pt x="76" y="0"/>
                      <a:pt x="76" y="0"/>
                      <a:pt x="76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53" tIns="45727" rIns="91453" bIns="45727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04297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1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</p:grpSp>
        <p:cxnSp>
          <p:nvCxnSpPr>
            <p:cNvPr id="232" name="직선 연결선 231">
              <a:extLst>
                <a:ext uri="{FF2B5EF4-FFF2-40B4-BE49-F238E27FC236}">
                  <a16:creationId xmlns:a16="http://schemas.microsoft.com/office/drawing/2014/main" id="{33705D9D-1772-A2D1-6131-C872899E44FB}"/>
                </a:ext>
              </a:extLst>
            </p:cNvPr>
            <p:cNvCxnSpPr>
              <a:cxnSpLocks/>
            </p:cNvCxnSpPr>
            <p:nvPr/>
          </p:nvCxnSpPr>
          <p:spPr>
            <a:xfrm>
              <a:off x="7734300" y="4467226"/>
              <a:ext cx="528637" cy="0"/>
            </a:xfrm>
            <a:prstGeom prst="line">
              <a:avLst/>
            </a:prstGeom>
            <a:noFill/>
            <a:ln w="25400" cap="flat" cmpd="sng" algn="ctr">
              <a:solidFill>
                <a:srgbClr val="6783C1"/>
              </a:solidFill>
              <a:prstDash val="solid"/>
              <a:miter lim="800000"/>
            </a:ln>
            <a:effectLst/>
          </p:spPr>
        </p:cxnSp>
      </p:grpSp>
      <p:sp>
        <p:nvSpPr>
          <p:cNvPr id="216" name="TextBox 215">
            <a:extLst>
              <a:ext uri="{FF2B5EF4-FFF2-40B4-BE49-F238E27FC236}">
                <a16:creationId xmlns:a16="http://schemas.microsoft.com/office/drawing/2014/main" id="{7A41CF4A-C809-4432-30B1-70EDDCC963ED}"/>
              </a:ext>
            </a:extLst>
          </p:cNvPr>
          <p:cNvSpPr txBox="1"/>
          <p:nvPr/>
        </p:nvSpPr>
        <p:spPr>
          <a:xfrm>
            <a:off x="10344500" y="4697965"/>
            <a:ext cx="1147458" cy="1692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 defTabSz="457200" latinLnBrk="0"/>
            <a:r>
              <a:rPr lang="ko-KR" altLang="en-US" sz="1100" b="1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모니터링 웹서버</a:t>
            </a:r>
          </a:p>
        </p:txBody>
      </p:sp>
      <p:sp>
        <p:nvSpPr>
          <p:cNvPr id="635" name="모서리가 둥근 직사각형 418">
            <a:extLst>
              <a:ext uri="{FF2B5EF4-FFF2-40B4-BE49-F238E27FC236}">
                <a16:creationId xmlns:a16="http://schemas.microsoft.com/office/drawing/2014/main" id="{592B9140-72F4-BA13-2F66-908AB36B8CF5}"/>
              </a:ext>
            </a:extLst>
          </p:cNvPr>
          <p:cNvSpPr/>
          <p:nvPr/>
        </p:nvSpPr>
        <p:spPr>
          <a:xfrm>
            <a:off x="10203910" y="5196462"/>
            <a:ext cx="1338751" cy="1233553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rgbClr val="70AD47">
                <a:shade val="50000"/>
              </a:srgbClr>
            </a:solidFill>
            <a:prstDash val="solid"/>
            <a:miter lim="800000"/>
          </a:ln>
          <a:effectLst/>
        </p:spPr>
        <p:txBody>
          <a:bodyPr lIns="89319" tIns="44659" rIns="89319" bIns="44659" rtlCol="0" anchor="ctr"/>
          <a:lstStyle/>
          <a:p>
            <a:pPr algn="ctr" defTabSz="457200" latinLnBrk="0"/>
            <a:endParaRPr lang="ko-KR" altLang="en-US" kern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latin typeface="+mn-ea"/>
            </a:endParaRPr>
          </a:p>
        </p:txBody>
      </p:sp>
      <p:sp>
        <p:nvSpPr>
          <p:cNvPr id="617" name="직사각형 616">
            <a:extLst>
              <a:ext uri="{FF2B5EF4-FFF2-40B4-BE49-F238E27FC236}">
                <a16:creationId xmlns:a16="http://schemas.microsoft.com/office/drawing/2014/main" id="{E86DF16C-6ABE-C3C3-B974-7C4BBABDE575}"/>
              </a:ext>
            </a:extLst>
          </p:cNvPr>
          <p:cNvSpPr/>
          <p:nvPr/>
        </p:nvSpPr>
        <p:spPr>
          <a:xfrm>
            <a:off x="10318971" y="5814616"/>
            <a:ext cx="1093460" cy="242596"/>
          </a:xfrm>
          <a:prstGeom prst="rect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200" latinLnBrk="0"/>
            <a:r>
              <a:rPr lang="en-US" altLang="ko-KR" sz="8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API </a:t>
            </a:r>
            <a:r>
              <a:rPr lang="ko-KR" altLang="en-US" sz="8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데몬</a:t>
            </a:r>
          </a:p>
        </p:txBody>
      </p:sp>
      <p:sp>
        <p:nvSpPr>
          <p:cNvPr id="618" name="직사각형 617">
            <a:extLst>
              <a:ext uri="{FF2B5EF4-FFF2-40B4-BE49-F238E27FC236}">
                <a16:creationId xmlns:a16="http://schemas.microsoft.com/office/drawing/2014/main" id="{BF89C697-0EDF-8F89-0A50-0715F5A3501B}"/>
              </a:ext>
            </a:extLst>
          </p:cNvPr>
          <p:cNvSpPr/>
          <p:nvPr/>
        </p:nvSpPr>
        <p:spPr>
          <a:xfrm>
            <a:off x="10309446" y="6144193"/>
            <a:ext cx="1112510" cy="242328"/>
          </a:xfrm>
          <a:prstGeom prst="rect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200" latinLnBrk="0"/>
            <a:r>
              <a:rPr lang="en-US" altLang="ko-KR" sz="8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Batch </a:t>
            </a:r>
            <a:r>
              <a:rPr lang="ko-KR" altLang="en-US" sz="8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데몬</a:t>
            </a:r>
          </a:p>
        </p:txBody>
      </p:sp>
      <p:sp>
        <p:nvSpPr>
          <p:cNvPr id="623" name="TextBox 622">
            <a:extLst>
              <a:ext uri="{FF2B5EF4-FFF2-40B4-BE49-F238E27FC236}">
                <a16:creationId xmlns:a16="http://schemas.microsoft.com/office/drawing/2014/main" id="{2A3D07B5-388A-E602-70C6-5F67AF76AB6A}"/>
              </a:ext>
            </a:extLst>
          </p:cNvPr>
          <p:cNvSpPr txBox="1"/>
          <p:nvPr/>
        </p:nvSpPr>
        <p:spPr>
          <a:xfrm>
            <a:off x="8446132" y="5287303"/>
            <a:ext cx="1147458" cy="1692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 defTabSz="457200" latinLnBrk="0"/>
            <a:r>
              <a:rPr lang="en-US" altLang="ko-KR" sz="11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Maria</a:t>
            </a:r>
            <a:r>
              <a:rPr lang="ko-KR" altLang="en-US" sz="11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r>
              <a:rPr lang="en-US" altLang="ko-KR" sz="11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DB</a:t>
            </a:r>
            <a:endParaRPr lang="ko-KR" altLang="en-US" sz="1100" b="1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624" name="직사각형 623">
            <a:extLst>
              <a:ext uri="{FF2B5EF4-FFF2-40B4-BE49-F238E27FC236}">
                <a16:creationId xmlns:a16="http://schemas.microsoft.com/office/drawing/2014/main" id="{E7E85EF2-B6B9-BF4D-DE06-D9E0E9F81841}"/>
              </a:ext>
            </a:extLst>
          </p:cNvPr>
          <p:cNvSpPr/>
          <p:nvPr/>
        </p:nvSpPr>
        <p:spPr>
          <a:xfrm>
            <a:off x="10299921" y="5497474"/>
            <a:ext cx="1112510" cy="242596"/>
          </a:xfrm>
          <a:prstGeom prst="rect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200" latinLnBrk="0"/>
            <a:r>
              <a:rPr lang="en-US" altLang="ko-KR" sz="8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Web</a:t>
            </a:r>
            <a:r>
              <a:rPr lang="ko-KR" altLang="en-US" sz="8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r>
              <a:rPr lang="en-US" altLang="ko-KR" sz="8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service</a:t>
            </a:r>
            <a:endParaRPr lang="ko-KR" altLang="en-US" sz="800" b="1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cxnSp>
        <p:nvCxnSpPr>
          <p:cNvPr id="625" name="꺾인 연결선 512">
            <a:extLst>
              <a:ext uri="{FF2B5EF4-FFF2-40B4-BE49-F238E27FC236}">
                <a16:creationId xmlns:a16="http://schemas.microsoft.com/office/drawing/2014/main" id="{B1931FDF-299D-907A-099A-9BB245652C6B}"/>
              </a:ext>
            </a:extLst>
          </p:cNvPr>
          <p:cNvCxnSpPr>
            <a:cxnSpLocks/>
            <a:stCxn id="215" idx="3"/>
            <a:endCxn id="635" idx="3"/>
          </p:cNvCxnSpPr>
          <p:nvPr/>
        </p:nvCxnSpPr>
        <p:spPr>
          <a:xfrm>
            <a:off x="11542661" y="4433258"/>
            <a:ext cx="12700" cy="1379981"/>
          </a:xfrm>
          <a:prstGeom prst="bentConnector3">
            <a:avLst>
              <a:gd name="adj1" fmla="val 1800000"/>
            </a:avLst>
          </a:prstGeom>
          <a:noFill/>
          <a:ln w="12700" cap="flat" cmpd="sng" algn="ctr">
            <a:solidFill>
              <a:srgbClr val="D11E31"/>
            </a:solidFill>
            <a:prstDash val="solid"/>
            <a:miter lim="800000"/>
            <a:headEnd type="triangle" w="sm" len="sm"/>
            <a:tailEnd type="none" w="sm" len="sm"/>
          </a:ln>
          <a:effectLst/>
        </p:spPr>
      </p:cxnSp>
      <p:cxnSp>
        <p:nvCxnSpPr>
          <p:cNvPr id="631" name="꺾인 연결선 551">
            <a:extLst>
              <a:ext uri="{FF2B5EF4-FFF2-40B4-BE49-F238E27FC236}">
                <a16:creationId xmlns:a16="http://schemas.microsoft.com/office/drawing/2014/main" id="{8CC9E2F6-2F39-C1DE-2D2D-9079DB314A45}"/>
              </a:ext>
            </a:extLst>
          </p:cNvPr>
          <p:cNvCxnSpPr>
            <a:cxnSpLocks/>
          </p:cNvCxnSpPr>
          <p:nvPr/>
        </p:nvCxnSpPr>
        <p:spPr>
          <a:xfrm>
            <a:off x="9893938" y="5661245"/>
            <a:ext cx="325076" cy="0"/>
          </a:xfrm>
          <a:prstGeom prst="straightConnector1">
            <a:avLst/>
          </a:prstGeom>
          <a:noFill/>
          <a:ln w="15875" cap="flat" cmpd="sng" algn="ctr">
            <a:solidFill>
              <a:srgbClr val="D11E31"/>
            </a:solidFill>
            <a:prstDash val="solid"/>
            <a:miter lim="800000"/>
            <a:headEnd type="triangle" w="sm" len="sm"/>
            <a:tailEnd type="none" w="sm" len="sm"/>
          </a:ln>
          <a:effectLst/>
        </p:spPr>
      </p:cxnSp>
      <p:sp>
        <p:nvSpPr>
          <p:cNvPr id="220" name="TextBox 219">
            <a:extLst>
              <a:ext uri="{FF2B5EF4-FFF2-40B4-BE49-F238E27FC236}">
                <a16:creationId xmlns:a16="http://schemas.microsoft.com/office/drawing/2014/main" id="{6A240218-2221-10F7-A7F1-60A3C7CD063B}"/>
              </a:ext>
            </a:extLst>
          </p:cNvPr>
          <p:cNvSpPr txBox="1"/>
          <p:nvPr/>
        </p:nvSpPr>
        <p:spPr>
          <a:xfrm>
            <a:off x="10274498" y="5259339"/>
            <a:ext cx="1147458" cy="1692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 defTabSz="457200" latinLnBrk="0"/>
            <a:r>
              <a:rPr lang="en-US" altLang="ko-KR" sz="11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WEB </a:t>
            </a:r>
            <a:r>
              <a:rPr lang="ko-KR" altLang="en-US" sz="11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서버</a:t>
            </a:r>
          </a:p>
        </p:txBody>
      </p:sp>
      <p:cxnSp>
        <p:nvCxnSpPr>
          <p:cNvPr id="636" name="꺾인 연결선 509">
            <a:extLst>
              <a:ext uri="{FF2B5EF4-FFF2-40B4-BE49-F238E27FC236}">
                <a16:creationId xmlns:a16="http://schemas.microsoft.com/office/drawing/2014/main" id="{A0BFC9E4-0D55-F0EF-F88A-604DF605DF84}"/>
              </a:ext>
            </a:extLst>
          </p:cNvPr>
          <p:cNvCxnSpPr>
            <a:cxnSpLocks/>
            <a:endCxn id="635" idx="2"/>
          </p:cNvCxnSpPr>
          <p:nvPr/>
        </p:nvCxnSpPr>
        <p:spPr>
          <a:xfrm>
            <a:off x="991188" y="4969373"/>
            <a:ext cx="9882098" cy="1460642"/>
          </a:xfrm>
          <a:prstGeom prst="bentConnector4">
            <a:avLst>
              <a:gd name="adj1" fmla="val 58"/>
              <a:gd name="adj2" fmla="val 115651"/>
            </a:avLst>
          </a:prstGeom>
          <a:noFill/>
          <a:ln w="6350" cap="flat" cmpd="sng" algn="ctr">
            <a:solidFill>
              <a:srgbClr val="D11E31"/>
            </a:solidFill>
            <a:prstDash val="solid"/>
            <a:miter lim="800000"/>
            <a:headEnd type="triangle" w="sm" len="sm"/>
            <a:tailEnd type="none" w="sm" len="sm"/>
          </a:ln>
          <a:effectLst/>
        </p:spPr>
      </p:cxnSp>
      <p:cxnSp>
        <p:nvCxnSpPr>
          <p:cNvPr id="264" name="꺾인 연결선 551">
            <a:extLst>
              <a:ext uri="{FF2B5EF4-FFF2-40B4-BE49-F238E27FC236}">
                <a16:creationId xmlns:a16="http://schemas.microsoft.com/office/drawing/2014/main" id="{81582672-A0D0-8E75-96CB-887AEC0455AF}"/>
              </a:ext>
            </a:extLst>
          </p:cNvPr>
          <p:cNvCxnSpPr>
            <a:cxnSpLocks/>
          </p:cNvCxnSpPr>
          <p:nvPr/>
        </p:nvCxnSpPr>
        <p:spPr>
          <a:xfrm>
            <a:off x="9900508" y="6057212"/>
            <a:ext cx="303402" cy="0"/>
          </a:xfrm>
          <a:prstGeom prst="straightConnector1">
            <a:avLst/>
          </a:prstGeom>
          <a:noFill/>
          <a:ln w="6350" cap="flat" cmpd="sng" algn="ctr">
            <a:solidFill>
              <a:srgbClr val="D11E31"/>
            </a:solidFill>
            <a:prstDash val="solid"/>
            <a:miter lim="800000"/>
            <a:headEnd type="none" w="sm" len="sm"/>
            <a:tailEnd type="triangle" w="sm" len="sm"/>
          </a:ln>
          <a:effectLst/>
        </p:spPr>
      </p:cxnSp>
      <p:grpSp>
        <p:nvGrpSpPr>
          <p:cNvPr id="673" name="그룹 672">
            <a:extLst>
              <a:ext uri="{FF2B5EF4-FFF2-40B4-BE49-F238E27FC236}">
                <a16:creationId xmlns:a16="http://schemas.microsoft.com/office/drawing/2014/main" id="{3D99BF0A-143A-E113-B084-9A3C5FA3E697}"/>
              </a:ext>
            </a:extLst>
          </p:cNvPr>
          <p:cNvGrpSpPr/>
          <p:nvPr/>
        </p:nvGrpSpPr>
        <p:grpSpPr>
          <a:xfrm>
            <a:off x="342541" y="2558279"/>
            <a:ext cx="3404257" cy="1001080"/>
            <a:chOff x="782745" y="1488219"/>
            <a:chExt cx="3404257" cy="1001080"/>
          </a:xfrm>
        </p:grpSpPr>
        <p:sp>
          <p:nvSpPr>
            <p:cNvPr id="674" name="모서리가 둥근 직사각형 146">
              <a:extLst>
                <a:ext uri="{FF2B5EF4-FFF2-40B4-BE49-F238E27FC236}">
                  <a16:creationId xmlns:a16="http://schemas.microsoft.com/office/drawing/2014/main" id="{6BCCACD3-A6C1-1B16-1E05-93E561FDA79D}"/>
                </a:ext>
              </a:extLst>
            </p:cNvPr>
            <p:cNvSpPr/>
            <p:nvPr/>
          </p:nvSpPr>
          <p:spPr>
            <a:xfrm>
              <a:off x="844651" y="1573681"/>
              <a:ext cx="3270149" cy="845267"/>
            </a:xfrm>
            <a:prstGeom prst="roundRect">
              <a:avLst>
                <a:gd name="adj" fmla="val 0"/>
              </a:avLst>
            </a:prstGeom>
            <a:solidFill>
              <a:srgbClr val="D4E3F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675" name="모서리가 둥근 직사각형 43">
              <a:extLst>
                <a:ext uri="{FF2B5EF4-FFF2-40B4-BE49-F238E27FC236}">
                  <a16:creationId xmlns:a16="http://schemas.microsoft.com/office/drawing/2014/main" id="{1C4B704F-386E-EEE1-BC3C-C3C67D40BA14}"/>
                </a:ext>
              </a:extLst>
            </p:cNvPr>
            <p:cNvSpPr/>
            <p:nvPr/>
          </p:nvSpPr>
          <p:spPr>
            <a:xfrm>
              <a:off x="782745" y="1488219"/>
              <a:ext cx="3404257" cy="1001080"/>
            </a:xfrm>
            <a:prstGeom prst="roundRect">
              <a:avLst>
                <a:gd name="adj" fmla="val 4458"/>
              </a:avLst>
            </a:prstGeom>
            <a:noFill/>
            <a:ln w="19050" cap="flat" cmpd="sng" algn="ctr">
              <a:solidFill>
                <a:srgbClr val="718BC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grpSp>
          <p:nvGrpSpPr>
            <p:cNvPr id="676" name="그룹 675">
              <a:extLst>
                <a:ext uri="{FF2B5EF4-FFF2-40B4-BE49-F238E27FC236}">
                  <a16:creationId xmlns:a16="http://schemas.microsoft.com/office/drawing/2014/main" id="{3F29EC5F-0682-FF5C-3C4D-8E916BCC534E}"/>
                </a:ext>
              </a:extLst>
            </p:cNvPr>
            <p:cNvGrpSpPr/>
            <p:nvPr/>
          </p:nvGrpSpPr>
          <p:grpSpPr>
            <a:xfrm>
              <a:off x="890294" y="2042096"/>
              <a:ext cx="951534" cy="380908"/>
              <a:chOff x="2390679" y="3043337"/>
              <a:chExt cx="898585" cy="362660"/>
            </a:xfrm>
          </p:grpSpPr>
          <p:grpSp>
            <p:nvGrpSpPr>
              <p:cNvPr id="685" name="그룹 684">
                <a:extLst>
                  <a:ext uri="{FF2B5EF4-FFF2-40B4-BE49-F238E27FC236}">
                    <a16:creationId xmlns:a16="http://schemas.microsoft.com/office/drawing/2014/main" id="{734CB8F0-1E33-259B-E8E6-C16996DB7286}"/>
                  </a:ext>
                </a:extLst>
              </p:cNvPr>
              <p:cNvGrpSpPr/>
              <p:nvPr/>
            </p:nvGrpSpPr>
            <p:grpSpPr>
              <a:xfrm>
                <a:off x="2548087" y="3043337"/>
                <a:ext cx="741177" cy="225928"/>
                <a:chOff x="2638426" y="6588126"/>
                <a:chExt cx="2890392" cy="881063"/>
              </a:xfrm>
              <a:solidFill>
                <a:srgbClr val="718BC5"/>
              </a:solidFill>
            </p:grpSpPr>
            <p:sp>
              <p:nvSpPr>
                <p:cNvPr id="687" name="Freeform 401">
                  <a:extLst>
                    <a:ext uri="{FF2B5EF4-FFF2-40B4-BE49-F238E27FC236}">
                      <a16:creationId xmlns:a16="http://schemas.microsoft.com/office/drawing/2014/main" id="{0A7FDEED-DC05-BB3B-AD40-1F45CDF4CA5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727326" y="6588126"/>
                  <a:ext cx="690563" cy="881063"/>
                </a:xfrm>
                <a:custGeom>
                  <a:avLst/>
                  <a:gdLst>
                    <a:gd name="T0" fmla="*/ 1209 w 1209"/>
                    <a:gd name="T1" fmla="*/ 1261 h 1544"/>
                    <a:gd name="T2" fmla="*/ 1209 w 1209"/>
                    <a:gd name="T3" fmla="*/ 25 h 1544"/>
                    <a:gd name="T4" fmla="*/ 1184 w 1209"/>
                    <a:gd name="T5" fmla="*/ 0 h 1544"/>
                    <a:gd name="T6" fmla="*/ 26 w 1209"/>
                    <a:gd name="T7" fmla="*/ 0 h 1544"/>
                    <a:gd name="T8" fmla="*/ 0 w 1209"/>
                    <a:gd name="T9" fmla="*/ 25 h 1544"/>
                    <a:gd name="T10" fmla="*/ 0 w 1209"/>
                    <a:gd name="T11" fmla="*/ 386 h 1544"/>
                    <a:gd name="T12" fmla="*/ 51 w 1209"/>
                    <a:gd name="T13" fmla="*/ 386 h 1544"/>
                    <a:gd name="T14" fmla="*/ 51 w 1209"/>
                    <a:gd name="T15" fmla="*/ 51 h 1544"/>
                    <a:gd name="T16" fmla="*/ 1158 w 1209"/>
                    <a:gd name="T17" fmla="*/ 51 h 1544"/>
                    <a:gd name="T18" fmla="*/ 1158 w 1209"/>
                    <a:gd name="T19" fmla="*/ 1235 h 1544"/>
                    <a:gd name="T20" fmla="*/ 926 w 1209"/>
                    <a:gd name="T21" fmla="*/ 1235 h 1544"/>
                    <a:gd name="T22" fmla="*/ 901 w 1209"/>
                    <a:gd name="T23" fmla="*/ 1261 h 1544"/>
                    <a:gd name="T24" fmla="*/ 901 w 1209"/>
                    <a:gd name="T25" fmla="*/ 1492 h 1544"/>
                    <a:gd name="T26" fmla="*/ 51 w 1209"/>
                    <a:gd name="T27" fmla="*/ 1492 h 1544"/>
                    <a:gd name="T28" fmla="*/ 51 w 1209"/>
                    <a:gd name="T29" fmla="*/ 1106 h 1544"/>
                    <a:gd name="T30" fmla="*/ 0 w 1209"/>
                    <a:gd name="T31" fmla="*/ 1106 h 1544"/>
                    <a:gd name="T32" fmla="*/ 0 w 1209"/>
                    <a:gd name="T33" fmla="*/ 1518 h 1544"/>
                    <a:gd name="T34" fmla="*/ 26 w 1209"/>
                    <a:gd name="T35" fmla="*/ 1544 h 1544"/>
                    <a:gd name="T36" fmla="*/ 926 w 1209"/>
                    <a:gd name="T37" fmla="*/ 1544 h 1544"/>
                    <a:gd name="T38" fmla="*/ 944 w 1209"/>
                    <a:gd name="T39" fmla="*/ 1536 h 1544"/>
                    <a:gd name="T40" fmla="*/ 1202 w 1209"/>
                    <a:gd name="T41" fmla="*/ 1279 h 1544"/>
                    <a:gd name="T42" fmla="*/ 1207 w 1209"/>
                    <a:gd name="T43" fmla="*/ 1271 h 1544"/>
                    <a:gd name="T44" fmla="*/ 1207 w 1209"/>
                    <a:gd name="T45" fmla="*/ 1269 h 1544"/>
                    <a:gd name="T46" fmla="*/ 1209 w 1209"/>
                    <a:gd name="T47" fmla="*/ 1261 h 1544"/>
                    <a:gd name="T48" fmla="*/ 952 w 1209"/>
                    <a:gd name="T49" fmla="*/ 1286 h 1544"/>
                    <a:gd name="T50" fmla="*/ 1122 w 1209"/>
                    <a:gd name="T51" fmla="*/ 1286 h 1544"/>
                    <a:gd name="T52" fmla="*/ 952 w 1209"/>
                    <a:gd name="T53" fmla="*/ 1456 h 1544"/>
                    <a:gd name="T54" fmla="*/ 952 w 1209"/>
                    <a:gd name="T55" fmla="*/ 1286 h 1544"/>
                    <a:gd name="T56" fmla="*/ 952 w 1209"/>
                    <a:gd name="T57" fmla="*/ 1286 h 1544"/>
                    <a:gd name="T58" fmla="*/ 952 w 1209"/>
                    <a:gd name="T59" fmla="*/ 1286 h 15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1209" h="1544">
                      <a:moveTo>
                        <a:pt x="1209" y="1261"/>
                      </a:moveTo>
                      <a:cubicBezTo>
                        <a:pt x="1209" y="25"/>
                        <a:pt x="1209" y="25"/>
                        <a:pt x="1209" y="25"/>
                      </a:cubicBezTo>
                      <a:cubicBezTo>
                        <a:pt x="1209" y="10"/>
                        <a:pt x="1199" y="0"/>
                        <a:pt x="118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cubicBezTo>
                        <a:pt x="10" y="0"/>
                        <a:pt x="0" y="10"/>
                        <a:pt x="0" y="25"/>
                      </a:cubicBezTo>
                      <a:cubicBezTo>
                        <a:pt x="0" y="386"/>
                        <a:pt x="0" y="386"/>
                        <a:pt x="0" y="386"/>
                      </a:cubicBezTo>
                      <a:cubicBezTo>
                        <a:pt x="51" y="386"/>
                        <a:pt x="51" y="386"/>
                        <a:pt x="51" y="386"/>
                      </a:cubicBezTo>
                      <a:cubicBezTo>
                        <a:pt x="51" y="51"/>
                        <a:pt x="51" y="51"/>
                        <a:pt x="51" y="51"/>
                      </a:cubicBezTo>
                      <a:cubicBezTo>
                        <a:pt x="1158" y="51"/>
                        <a:pt x="1158" y="51"/>
                        <a:pt x="1158" y="51"/>
                      </a:cubicBezTo>
                      <a:cubicBezTo>
                        <a:pt x="1158" y="1235"/>
                        <a:pt x="1158" y="1235"/>
                        <a:pt x="1158" y="1235"/>
                      </a:cubicBezTo>
                      <a:cubicBezTo>
                        <a:pt x="926" y="1235"/>
                        <a:pt x="926" y="1235"/>
                        <a:pt x="926" y="1235"/>
                      </a:cubicBezTo>
                      <a:cubicBezTo>
                        <a:pt x="911" y="1235"/>
                        <a:pt x="901" y="1245"/>
                        <a:pt x="901" y="1261"/>
                      </a:cubicBezTo>
                      <a:cubicBezTo>
                        <a:pt x="901" y="1492"/>
                        <a:pt x="901" y="1492"/>
                        <a:pt x="901" y="1492"/>
                      </a:cubicBezTo>
                      <a:cubicBezTo>
                        <a:pt x="51" y="1492"/>
                        <a:pt x="51" y="1492"/>
                        <a:pt x="51" y="1492"/>
                      </a:cubicBezTo>
                      <a:cubicBezTo>
                        <a:pt x="51" y="1106"/>
                        <a:pt x="51" y="1106"/>
                        <a:pt x="51" y="1106"/>
                      </a:cubicBezTo>
                      <a:cubicBezTo>
                        <a:pt x="0" y="1106"/>
                        <a:pt x="0" y="1106"/>
                        <a:pt x="0" y="1106"/>
                      </a:cubicBezTo>
                      <a:cubicBezTo>
                        <a:pt x="0" y="1518"/>
                        <a:pt x="0" y="1518"/>
                        <a:pt x="0" y="1518"/>
                      </a:cubicBezTo>
                      <a:cubicBezTo>
                        <a:pt x="0" y="1534"/>
                        <a:pt x="10" y="1544"/>
                        <a:pt x="26" y="1544"/>
                      </a:cubicBezTo>
                      <a:cubicBezTo>
                        <a:pt x="926" y="1544"/>
                        <a:pt x="926" y="1544"/>
                        <a:pt x="926" y="1544"/>
                      </a:cubicBezTo>
                      <a:cubicBezTo>
                        <a:pt x="934" y="1544"/>
                        <a:pt x="939" y="1541"/>
                        <a:pt x="944" y="1536"/>
                      </a:cubicBezTo>
                      <a:cubicBezTo>
                        <a:pt x="1202" y="1279"/>
                        <a:pt x="1202" y="1279"/>
                        <a:pt x="1202" y="1279"/>
                      </a:cubicBezTo>
                      <a:cubicBezTo>
                        <a:pt x="1204" y="1276"/>
                        <a:pt x="1204" y="1274"/>
                        <a:pt x="1207" y="1271"/>
                      </a:cubicBezTo>
                      <a:cubicBezTo>
                        <a:pt x="1207" y="1269"/>
                        <a:pt x="1207" y="1269"/>
                        <a:pt x="1207" y="1269"/>
                      </a:cubicBezTo>
                      <a:cubicBezTo>
                        <a:pt x="1209" y="1266"/>
                        <a:pt x="1209" y="1263"/>
                        <a:pt x="1209" y="1261"/>
                      </a:cubicBezTo>
                      <a:close/>
                      <a:moveTo>
                        <a:pt x="952" y="1286"/>
                      </a:moveTo>
                      <a:cubicBezTo>
                        <a:pt x="1122" y="1286"/>
                        <a:pt x="1122" y="1286"/>
                        <a:pt x="1122" y="1286"/>
                      </a:cubicBezTo>
                      <a:cubicBezTo>
                        <a:pt x="952" y="1456"/>
                        <a:pt x="952" y="1456"/>
                        <a:pt x="952" y="1456"/>
                      </a:cubicBezTo>
                      <a:lnTo>
                        <a:pt x="952" y="1286"/>
                      </a:lnTo>
                      <a:close/>
                      <a:moveTo>
                        <a:pt x="952" y="1286"/>
                      </a:moveTo>
                      <a:cubicBezTo>
                        <a:pt x="952" y="1286"/>
                        <a:pt x="952" y="1286"/>
                        <a:pt x="952" y="1286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688" name="Freeform 402">
                  <a:extLst>
                    <a:ext uri="{FF2B5EF4-FFF2-40B4-BE49-F238E27FC236}">
                      <a16:creationId xmlns:a16="http://schemas.microsoft.com/office/drawing/2014/main" id="{6DB9438E-88A8-7DB3-8EE7-10234FDDCAF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638426" y="6823076"/>
                  <a:ext cx="338138" cy="323850"/>
                </a:xfrm>
                <a:custGeom>
                  <a:avLst/>
                  <a:gdLst>
                    <a:gd name="T0" fmla="*/ 334 w 591"/>
                    <a:gd name="T1" fmla="*/ 567 h 567"/>
                    <a:gd name="T2" fmla="*/ 591 w 591"/>
                    <a:gd name="T3" fmla="*/ 567 h 567"/>
                    <a:gd name="T4" fmla="*/ 591 w 591"/>
                    <a:gd name="T5" fmla="*/ 515 h 567"/>
                    <a:gd name="T6" fmla="*/ 514 w 591"/>
                    <a:gd name="T7" fmla="*/ 515 h 567"/>
                    <a:gd name="T8" fmla="*/ 514 w 591"/>
                    <a:gd name="T9" fmla="*/ 26 h 567"/>
                    <a:gd name="T10" fmla="*/ 488 w 591"/>
                    <a:gd name="T11" fmla="*/ 0 h 567"/>
                    <a:gd name="T12" fmla="*/ 334 w 591"/>
                    <a:gd name="T13" fmla="*/ 0 h 567"/>
                    <a:gd name="T14" fmla="*/ 308 w 591"/>
                    <a:gd name="T15" fmla="*/ 26 h 567"/>
                    <a:gd name="T16" fmla="*/ 308 w 591"/>
                    <a:gd name="T17" fmla="*/ 181 h 567"/>
                    <a:gd name="T18" fmla="*/ 180 w 591"/>
                    <a:gd name="T19" fmla="*/ 181 h 567"/>
                    <a:gd name="T20" fmla="*/ 154 w 591"/>
                    <a:gd name="T21" fmla="*/ 206 h 567"/>
                    <a:gd name="T22" fmla="*/ 154 w 591"/>
                    <a:gd name="T23" fmla="*/ 309 h 567"/>
                    <a:gd name="T24" fmla="*/ 25 w 591"/>
                    <a:gd name="T25" fmla="*/ 309 h 567"/>
                    <a:gd name="T26" fmla="*/ 0 w 591"/>
                    <a:gd name="T27" fmla="*/ 335 h 567"/>
                    <a:gd name="T28" fmla="*/ 0 w 591"/>
                    <a:gd name="T29" fmla="*/ 541 h 567"/>
                    <a:gd name="T30" fmla="*/ 25 w 591"/>
                    <a:gd name="T31" fmla="*/ 567 h 567"/>
                    <a:gd name="T32" fmla="*/ 334 w 591"/>
                    <a:gd name="T33" fmla="*/ 567 h 567"/>
                    <a:gd name="T34" fmla="*/ 360 w 591"/>
                    <a:gd name="T35" fmla="*/ 52 h 567"/>
                    <a:gd name="T36" fmla="*/ 463 w 591"/>
                    <a:gd name="T37" fmla="*/ 52 h 567"/>
                    <a:gd name="T38" fmla="*/ 463 w 591"/>
                    <a:gd name="T39" fmla="*/ 515 h 567"/>
                    <a:gd name="T40" fmla="*/ 360 w 591"/>
                    <a:gd name="T41" fmla="*/ 515 h 567"/>
                    <a:gd name="T42" fmla="*/ 360 w 591"/>
                    <a:gd name="T43" fmla="*/ 52 h 567"/>
                    <a:gd name="T44" fmla="*/ 205 w 591"/>
                    <a:gd name="T45" fmla="*/ 232 h 567"/>
                    <a:gd name="T46" fmla="*/ 308 w 591"/>
                    <a:gd name="T47" fmla="*/ 232 h 567"/>
                    <a:gd name="T48" fmla="*/ 308 w 591"/>
                    <a:gd name="T49" fmla="*/ 515 h 567"/>
                    <a:gd name="T50" fmla="*/ 205 w 591"/>
                    <a:gd name="T51" fmla="*/ 515 h 567"/>
                    <a:gd name="T52" fmla="*/ 205 w 591"/>
                    <a:gd name="T53" fmla="*/ 232 h 567"/>
                    <a:gd name="T54" fmla="*/ 51 w 591"/>
                    <a:gd name="T55" fmla="*/ 361 h 567"/>
                    <a:gd name="T56" fmla="*/ 154 w 591"/>
                    <a:gd name="T57" fmla="*/ 361 h 567"/>
                    <a:gd name="T58" fmla="*/ 154 w 591"/>
                    <a:gd name="T59" fmla="*/ 515 h 567"/>
                    <a:gd name="T60" fmla="*/ 51 w 591"/>
                    <a:gd name="T61" fmla="*/ 515 h 567"/>
                    <a:gd name="T62" fmla="*/ 51 w 591"/>
                    <a:gd name="T63" fmla="*/ 361 h 567"/>
                    <a:gd name="T64" fmla="*/ 51 w 591"/>
                    <a:gd name="T65" fmla="*/ 361 h 567"/>
                    <a:gd name="T66" fmla="*/ 51 w 591"/>
                    <a:gd name="T67" fmla="*/ 361 h 5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591" h="567">
                      <a:moveTo>
                        <a:pt x="334" y="567"/>
                      </a:moveTo>
                      <a:cubicBezTo>
                        <a:pt x="591" y="567"/>
                        <a:pt x="591" y="567"/>
                        <a:pt x="591" y="567"/>
                      </a:cubicBezTo>
                      <a:cubicBezTo>
                        <a:pt x="591" y="515"/>
                        <a:pt x="591" y="515"/>
                        <a:pt x="591" y="515"/>
                      </a:cubicBezTo>
                      <a:cubicBezTo>
                        <a:pt x="514" y="515"/>
                        <a:pt x="514" y="515"/>
                        <a:pt x="514" y="515"/>
                      </a:cubicBezTo>
                      <a:cubicBezTo>
                        <a:pt x="514" y="26"/>
                        <a:pt x="514" y="26"/>
                        <a:pt x="514" y="26"/>
                      </a:cubicBezTo>
                      <a:cubicBezTo>
                        <a:pt x="514" y="11"/>
                        <a:pt x="504" y="0"/>
                        <a:pt x="488" y="0"/>
                      </a:cubicBezTo>
                      <a:cubicBezTo>
                        <a:pt x="334" y="0"/>
                        <a:pt x="334" y="0"/>
                        <a:pt x="334" y="0"/>
                      </a:cubicBezTo>
                      <a:cubicBezTo>
                        <a:pt x="319" y="0"/>
                        <a:pt x="308" y="11"/>
                        <a:pt x="308" y="26"/>
                      </a:cubicBezTo>
                      <a:cubicBezTo>
                        <a:pt x="308" y="181"/>
                        <a:pt x="308" y="181"/>
                        <a:pt x="308" y="181"/>
                      </a:cubicBezTo>
                      <a:cubicBezTo>
                        <a:pt x="180" y="181"/>
                        <a:pt x="180" y="181"/>
                        <a:pt x="180" y="181"/>
                      </a:cubicBezTo>
                      <a:cubicBezTo>
                        <a:pt x="164" y="181"/>
                        <a:pt x="154" y="191"/>
                        <a:pt x="154" y="206"/>
                      </a:cubicBezTo>
                      <a:cubicBezTo>
                        <a:pt x="154" y="309"/>
                        <a:pt x="154" y="309"/>
                        <a:pt x="154" y="309"/>
                      </a:cubicBezTo>
                      <a:cubicBezTo>
                        <a:pt x="25" y="309"/>
                        <a:pt x="25" y="309"/>
                        <a:pt x="25" y="309"/>
                      </a:cubicBezTo>
                      <a:cubicBezTo>
                        <a:pt x="10" y="309"/>
                        <a:pt x="0" y="320"/>
                        <a:pt x="0" y="335"/>
                      </a:cubicBezTo>
                      <a:cubicBezTo>
                        <a:pt x="0" y="541"/>
                        <a:pt x="0" y="541"/>
                        <a:pt x="0" y="541"/>
                      </a:cubicBezTo>
                      <a:cubicBezTo>
                        <a:pt x="0" y="556"/>
                        <a:pt x="10" y="567"/>
                        <a:pt x="25" y="567"/>
                      </a:cubicBezTo>
                      <a:lnTo>
                        <a:pt x="334" y="567"/>
                      </a:lnTo>
                      <a:close/>
                      <a:moveTo>
                        <a:pt x="360" y="52"/>
                      </a:moveTo>
                      <a:cubicBezTo>
                        <a:pt x="463" y="52"/>
                        <a:pt x="463" y="52"/>
                        <a:pt x="463" y="52"/>
                      </a:cubicBezTo>
                      <a:cubicBezTo>
                        <a:pt x="463" y="515"/>
                        <a:pt x="463" y="515"/>
                        <a:pt x="463" y="515"/>
                      </a:cubicBezTo>
                      <a:cubicBezTo>
                        <a:pt x="360" y="515"/>
                        <a:pt x="360" y="515"/>
                        <a:pt x="360" y="515"/>
                      </a:cubicBezTo>
                      <a:lnTo>
                        <a:pt x="360" y="52"/>
                      </a:lnTo>
                      <a:close/>
                      <a:moveTo>
                        <a:pt x="205" y="232"/>
                      </a:moveTo>
                      <a:cubicBezTo>
                        <a:pt x="308" y="232"/>
                        <a:pt x="308" y="232"/>
                        <a:pt x="308" y="232"/>
                      </a:cubicBezTo>
                      <a:cubicBezTo>
                        <a:pt x="308" y="515"/>
                        <a:pt x="308" y="515"/>
                        <a:pt x="308" y="515"/>
                      </a:cubicBezTo>
                      <a:cubicBezTo>
                        <a:pt x="205" y="515"/>
                        <a:pt x="205" y="515"/>
                        <a:pt x="205" y="515"/>
                      </a:cubicBezTo>
                      <a:lnTo>
                        <a:pt x="205" y="232"/>
                      </a:lnTo>
                      <a:close/>
                      <a:moveTo>
                        <a:pt x="51" y="361"/>
                      </a:moveTo>
                      <a:cubicBezTo>
                        <a:pt x="154" y="361"/>
                        <a:pt x="154" y="361"/>
                        <a:pt x="154" y="361"/>
                      </a:cubicBezTo>
                      <a:cubicBezTo>
                        <a:pt x="154" y="515"/>
                        <a:pt x="154" y="515"/>
                        <a:pt x="154" y="515"/>
                      </a:cubicBezTo>
                      <a:cubicBezTo>
                        <a:pt x="51" y="515"/>
                        <a:pt x="51" y="515"/>
                        <a:pt x="51" y="515"/>
                      </a:cubicBezTo>
                      <a:lnTo>
                        <a:pt x="51" y="361"/>
                      </a:lnTo>
                      <a:close/>
                      <a:moveTo>
                        <a:pt x="51" y="361"/>
                      </a:moveTo>
                      <a:cubicBezTo>
                        <a:pt x="51" y="361"/>
                        <a:pt x="51" y="361"/>
                        <a:pt x="51" y="361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689" name="Freeform 403">
                  <a:extLst>
                    <a:ext uri="{FF2B5EF4-FFF2-40B4-BE49-F238E27FC236}">
                      <a16:creationId xmlns:a16="http://schemas.microsoft.com/office/drawing/2014/main" id="{D3232A7F-454D-D047-746C-C87897D57A0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990851" y="6675438"/>
                  <a:ext cx="338138" cy="279400"/>
                </a:xfrm>
                <a:custGeom>
                  <a:avLst/>
                  <a:gdLst>
                    <a:gd name="T0" fmla="*/ 592 w 592"/>
                    <a:gd name="T1" fmla="*/ 463 h 489"/>
                    <a:gd name="T2" fmla="*/ 592 w 592"/>
                    <a:gd name="T3" fmla="*/ 26 h 489"/>
                    <a:gd name="T4" fmla="*/ 566 w 592"/>
                    <a:gd name="T5" fmla="*/ 0 h 489"/>
                    <a:gd name="T6" fmla="*/ 26 w 592"/>
                    <a:gd name="T7" fmla="*/ 0 h 489"/>
                    <a:gd name="T8" fmla="*/ 0 w 592"/>
                    <a:gd name="T9" fmla="*/ 26 h 489"/>
                    <a:gd name="T10" fmla="*/ 0 w 592"/>
                    <a:gd name="T11" fmla="*/ 463 h 489"/>
                    <a:gd name="T12" fmla="*/ 26 w 592"/>
                    <a:gd name="T13" fmla="*/ 489 h 489"/>
                    <a:gd name="T14" fmla="*/ 566 w 592"/>
                    <a:gd name="T15" fmla="*/ 489 h 489"/>
                    <a:gd name="T16" fmla="*/ 592 w 592"/>
                    <a:gd name="T17" fmla="*/ 463 h 489"/>
                    <a:gd name="T18" fmla="*/ 541 w 592"/>
                    <a:gd name="T19" fmla="*/ 155 h 489"/>
                    <a:gd name="T20" fmla="*/ 232 w 592"/>
                    <a:gd name="T21" fmla="*/ 155 h 489"/>
                    <a:gd name="T22" fmla="*/ 232 w 592"/>
                    <a:gd name="T23" fmla="*/ 51 h 489"/>
                    <a:gd name="T24" fmla="*/ 541 w 592"/>
                    <a:gd name="T25" fmla="*/ 51 h 489"/>
                    <a:gd name="T26" fmla="*/ 541 w 592"/>
                    <a:gd name="T27" fmla="*/ 155 h 489"/>
                    <a:gd name="T28" fmla="*/ 180 w 592"/>
                    <a:gd name="T29" fmla="*/ 51 h 489"/>
                    <a:gd name="T30" fmla="*/ 180 w 592"/>
                    <a:gd name="T31" fmla="*/ 155 h 489"/>
                    <a:gd name="T32" fmla="*/ 52 w 592"/>
                    <a:gd name="T33" fmla="*/ 155 h 489"/>
                    <a:gd name="T34" fmla="*/ 52 w 592"/>
                    <a:gd name="T35" fmla="*/ 51 h 489"/>
                    <a:gd name="T36" fmla="*/ 180 w 592"/>
                    <a:gd name="T37" fmla="*/ 51 h 489"/>
                    <a:gd name="T38" fmla="*/ 52 w 592"/>
                    <a:gd name="T39" fmla="*/ 206 h 489"/>
                    <a:gd name="T40" fmla="*/ 180 w 592"/>
                    <a:gd name="T41" fmla="*/ 206 h 489"/>
                    <a:gd name="T42" fmla="*/ 180 w 592"/>
                    <a:gd name="T43" fmla="*/ 438 h 489"/>
                    <a:gd name="T44" fmla="*/ 52 w 592"/>
                    <a:gd name="T45" fmla="*/ 438 h 489"/>
                    <a:gd name="T46" fmla="*/ 52 w 592"/>
                    <a:gd name="T47" fmla="*/ 206 h 489"/>
                    <a:gd name="T48" fmla="*/ 232 w 592"/>
                    <a:gd name="T49" fmla="*/ 438 h 489"/>
                    <a:gd name="T50" fmla="*/ 232 w 592"/>
                    <a:gd name="T51" fmla="*/ 206 h 489"/>
                    <a:gd name="T52" fmla="*/ 541 w 592"/>
                    <a:gd name="T53" fmla="*/ 206 h 489"/>
                    <a:gd name="T54" fmla="*/ 541 w 592"/>
                    <a:gd name="T55" fmla="*/ 438 h 489"/>
                    <a:gd name="T56" fmla="*/ 232 w 592"/>
                    <a:gd name="T57" fmla="*/ 438 h 489"/>
                    <a:gd name="T58" fmla="*/ 232 w 592"/>
                    <a:gd name="T59" fmla="*/ 438 h 489"/>
                    <a:gd name="T60" fmla="*/ 232 w 592"/>
                    <a:gd name="T61" fmla="*/ 438 h 4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592" h="489">
                      <a:moveTo>
                        <a:pt x="592" y="463"/>
                      </a:moveTo>
                      <a:cubicBezTo>
                        <a:pt x="592" y="26"/>
                        <a:pt x="592" y="26"/>
                        <a:pt x="592" y="26"/>
                      </a:cubicBezTo>
                      <a:cubicBezTo>
                        <a:pt x="592" y="10"/>
                        <a:pt x="582" y="0"/>
                        <a:pt x="566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cubicBezTo>
                        <a:pt x="10" y="0"/>
                        <a:pt x="0" y="10"/>
                        <a:pt x="0" y="26"/>
                      </a:cubicBezTo>
                      <a:cubicBezTo>
                        <a:pt x="0" y="463"/>
                        <a:pt x="0" y="463"/>
                        <a:pt x="0" y="463"/>
                      </a:cubicBezTo>
                      <a:cubicBezTo>
                        <a:pt x="0" y="479"/>
                        <a:pt x="10" y="489"/>
                        <a:pt x="26" y="489"/>
                      </a:cubicBezTo>
                      <a:cubicBezTo>
                        <a:pt x="566" y="489"/>
                        <a:pt x="566" y="489"/>
                        <a:pt x="566" y="489"/>
                      </a:cubicBezTo>
                      <a:cubicBezTo>
                        <a:pt x="582" y="489"/>
                        <a:pt x="592" y="479"/>
                        <a:pt x="592" y="463"/>
                      </a:cubicBezTo>
                      <a:close/>
                      <a:moveTo>
                        <a:pt x="541" y="155"/>
                      </a:moveTo>
                      <a:cubicBezTo>
                        <a:pt x="232" y="155"/>
                        <a:pt x="232" y="155"/>
                        <a:pt x="232" y="155"/>
                      </a:cubicBezTo>
                      <a:cubicBezTo>
                        <a:pt x="232" y="51"/>
                        <a:pt x="232" y="51"/>
                        <a:pt x="232" y="51"/>
                      </a:cubicBezTo>
                      <a:cubicBezTo>
                        <a:pt x="541" y="51"/>
                        <a:pt x="541" y="51"/>
                        <a:pt x="541" y="51"/>
                      </a:cubicBezTo>
                      <a:lnTo>
                        <a:pt x="541" y="155"/>
                      </a:lnTo>
                      <a:close/>
                      <a:moveTo>
                        <a:pt x="180" y="51"/>
                      </a:moveTo>
                      <a:cubicBezTo>
                        <a:pt x="180" y="155"/>
                        <a:pt x="180" y="155"/>
                        <a:pt x="180" y="155"/>
                      </a:cubicBezTo>
                      <a:cubicBezTo>
                        <a:pt x="52" y="155"/>
                        <a:pt x="52" y="155"/>
                        <a:pt x="52" y="155"/>
                      </a:cubicBezTo>
                      <a:cubicBezTo>
                        <a:pt x="52" y="51"/>
                        <a:pt x="52" y="51"/>
                        <a:pt x="52" y="51"/>
                      </a:cubicBezTo>
                      <a:lnTo>
                        <a:pt x="180" y="51"/>
                      </a:lnTo>
                      <a:close/>
                      <a:moveTo>
                        <a:pt x="52" y="206"/>
                      </a:moveTo>
                      <a:cubicBezTo>
                        <a:pt x="180" y="206"/>
                        <a:pt x="180" y="206"/>
                        <a:pt x="180" y="206"/>
                      </a:cubicBezTo>
                      <a:cubicBezTo>
                        <a:pt x="180" y="438"/>
                        <a:pt x="180" y="438"/>
                        <a:pt x="180" y="438"/>
                      </a:cubicBezTo>
                      <a:cubicBezTo>
                        <a:pt x="52" y="438"/>
                        <a:pt x="52" y="438"/>
                        <a:pt x="52" y="438"/>
                      </a:cubicBezTo>
                      <a:lnTo>
                        <a:pt x="52" y="206"/>
                      </a:lnTo>
                      <a:close/>
                      <a:moveTo>
                        <a:pt x="232" y="438"/>
                      </a:moveTo>
                      <a:cubicBezTo>
                        <a:pt x="232" y="206"/>
                        <a:pt x="232" y="206"/>
                        <a:pt x="232" y="206"/>
                      </a:cubicBezTo>
                      <a:cubicBezTo>
                        <a:pt x="541" y="206"/>
                        <a:pt x="541" y="206"/>
                        <a:pt x="541" y="206"/>
                      </a:cubicBezTo>
                      <a:cubicBezTo>
                        <a:pt x="541" y="438"/>
                        <a:pt x="541" y="438"/>
                        <a:pt x="541" y="438"/>
                      </a:cubicBezTo>
                      <a:lnTo>
                        <a:pt x="232" y="438"/>
                      </a:lnTo>
                      <a:close/>
                      <a:moveTo>
                        <a:pt x="232" y="438"/>
                      </a:moveTo>
                      <a:cubicBezTo>
                        <a:pt x="232" y="438"/>
                        <a:pt x="232" y="438"/>
                        <a:pt x="232" y="438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690" name="Rectangle 404">
                  <a:extLst>
                    <a:ext uri="{FF2B5EF4-FFF2-40B4-BE49-F238E27FC236}">
                      <a16:creationId xmlns:a16="http://schemas.microsoft.com/office/drawing/2014/main" id="{B767E2CB-604B-9779-DCD3-CDB350ABE8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06726" y="6999288"/>
                  <a:ext cx="307975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691" name="Rectangle 405">
                  <a:extLst>
                    <a:ext uri="{FF2B5EF4-FFF2-40B4-BE49-F238E27FC236}">
                      <a16:creationId xmlns:a16="http://schemas.microsoft.com/office/drawing/2014/main" id="{699F2760-6564-AB38-020C-814F720F38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06726" y="7072313"/>
                  <a:ext cx="307975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692" name="Rectangle 407">
                  <a:extLst>
                    <a:ext uri="{FF2B5EF4-FFF2-40B4-BE49-F238E27FC236}">
                      <a16:creationId xmlns:a16="http://schemas.microsoft.com/office/drawing/2014/main" id="{830EBCCC-8431-89F4-E126-F41F840268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06725" y="7146926"/>
                  <a:ext cx="307975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693" name="Rectangle 408">
                  <a:extLst>
                    <a:ext uri="{FF2B5EF4-FFF2-40B4-BE49-F238E27FC236}">
                      <a16:creationId xmlns:a16="http://schemas.microsoft.com/office/drawing/2014/main" id="{84CA1D88-5A57-DA40-2498-04AC6AA448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00350" y="6675438"/>
                  <a:ext cx="88900" cy="3016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694" name="Rectangle 409">
                  <a:extLst>
                    <a:ext uri="{FF2B5EF4-FFF2-40B4-BE49-F238E27FC236}">
                      <a16:creationId xmlns:a16="http://schemas.microsoft.com/office/drawing/2014/main" id="{338A582F-8BC0-243C-4B53-4D65518A94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97054" y="6753303"/>
                  <a:ext cx="131764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695" name="Rectangle 410">
                  <a:extLst>
                    <a:ext uri="{FF2B5EF4-FFF2-40B4-BE49-F238E27FC236}">
                      <a16:creationId xmlns:a16="http://schemas.microsoft.com/office/drawing/2014/main" id="{B7902F40-E8B5-C9EF-DA01-683C81194C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00350" y="7219951"/>
                  <a:ext cx="103188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696" name="Rectangle 411">
                  <a:extLst>
                    <a:ext uri="{FF2B5EF4-FFF2-40B4-BE49-F238E27FC236}">
                      <a16:creationId xmlns:a16="http://schemas.microsoft.com/office/drawing/2014/main" id="{C1C7DD40-6451-CB0C-E8FF-22138A42F7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47988" y="7219951"/>
                  <a:ext cx="101600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697" name="Rectangle 412">
                  <a:extLst>
                    <a:ext uri="{FF2B5EF4-FFF2-40B4-BE49-F238E27FC236}">
                      <a16:creationId xmlns:a16="http://schemas.microsoft.com/office/drawing/2014/main" id="{8BB1310C-E1C0-AF01-9F6C-0E4C498C12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94038" y="7219951"/>
                  <a:ext cx="103188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698" name="Rectangle 413">
                  <a:extLst>
                    <a:ext uri="{FF2B5EF4-FFF2-40B4-BE49-F238E27FC236}">
                      <a16:creationId xmlns:a16="http://schemas.microsoft.com/office/drawing/2014/main" id="{BF43824E-C2C3-FC13-F30D-62836F14C4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00350" y="7292976"/>
                  <a:ext cx="103188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699" name="Rectangle 414">
                  <a:extLst>
                    <a:ext uri="{FF2B5EF4-FFF2-40B4-BE49-F238E27FC236}">
                      <a16:creationId xmlns:a16="http://schemas.microsoft.com/office/drawing/2014/main" id="{A11BFA1D-5660-5732-568A-06E3529970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47988" y="7292976"/>
                  <a:ext cx="101600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700" name="Rectangle 415">
                  <a:extLst>
                    <a:ext uri="{FF2B5EF4-FFF2-40B4-BE49-F238E27FC236}">
                      <a16:creationId xmlns:a16="http://schemas.microsoft.com/office/drawing/2014/main" id="{9632FB77-5CB7-02FC-C82D-B0431076782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94038" y="7292976"/>
                  <a:ext cx="103188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701" name="Rectangle 416">
                  <a:extLst>
                    <a:ext uri="{FF2B5EF4-FFF2-40B4-BE49-F238E27FC236}">
                      <a16:creationId xmlns:a16="http://schemas.microsoft.com/office/drawing/2014/main" id="{7FDB447B-FF90-49DC-BBF7-BE1AEC35CE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00350" y="7366001"/>
                  <a:ext cx="103188" cy="3016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702" name="Rectangle 417">
                  <a:extLst>
                    <a:ext uri="{FF2B5EF4-FFF2-40B4-BE49-F238E27FC236}">
                      <a16:creationId xmlns:a16="http://schemas.microsoft.com/office/drawing/2014/main" id="{19D05908-10C9-F753-D393-0D90FB05D5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47988" y="7366001"/>
                  <a:ext cx="101600" cy="3016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703" name="Rectangle 418">
                  <a:extLst>
                    <a:ext uri="{FF2B5EF4-FFF2-40B4-BE49-F238E27FC236}">
                      <a16:creationId xmlns:a16="http://schemas.microsoft.com/office/drawing/2014/main" id="{0810E7AA-1523-8E49-904A-81EB80380C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94038" y="7366001"/>
                  <a:ext cx="103188" cy="3016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</p:grpSp>
          <p:sp>
            <p:nvSpPr>
              <p:cNvPr id="686" name="직사각형 12">
                <a:extLst>
                  <a:ext uri="{FF2B5EF4-FFF2-40B4-BE49-F238E27FC236}">
                    <a16:creationId xmlns:a16="http://schemas.microsoft.com/office/drawing/2014/main" id="{815F934C-5765-243C-3210-B44F33FFC4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0679" y="3274133"/>
                <a:ext cx="514694" cy="131864"/>
              </a:xfrm>
              <a:prstGeom prst="rect">
                <a:avLst/>
              </a:prstGeom>
              <a:solidFill>
                <a:srgbClr val="70AD47"/>
              </a:solidFill>
              <a:ln w="12700" cap="flat" cmpd="sng" algn="ctr">
                <a:solidFill>
                  <a:srgbClr val="70AD47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wrap="non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5pPr>
                <a:lvl6pPr marL="2514600" indent="-228600" defTabSz="890588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6pPr>
                <a:lvl7pPr marL="2971800" indent="-228600" defTabSz="890588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7pPr>
                <a:lvl8pPr marL="3429000" indent="-228600" defTabSz="890588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8pPr>
                <a:lvl9pPr marL="3886200" indent="-228600" defTabSz="890588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9pPr>
              </a:lstStyle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0" cap="none" spc="-50" normalizeH="0" baseline="0" noProof="0" dirty="0">
                    <a:ln>
                      <a:solidFill>
                        <a:prstClr val="white">
                          <a:alpha val="500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메타테이블</a:t>
                </a:r>
                <a:endParaRPr kumimoji="0" lang="en-US" altLang="ko-KR" sz="900" b="0" i="0" u="none" strike="noStrike" kern="0" cap="none" spc="-50" normalizeH="0" baseline="0" noProof="0" dirty="0">
                  <a:ln>
                    <a:solidFill>
                      <a:prstClr val="white">
                        <a:alpha val="500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endParaRPr>
              </a:p>
            </p:txBody>
          </p:sp>
        </p:grpSp>
        <p:sp>
          <p:nvSpPr>
            <p:cNvPr id="677" name="직사각형 676">
              <a:extLst>
                <a:ext uri="{FF2B5EF4-FFF2-40B4-BE49-F238E27FC236}">
                  <a16:creationId xmlns:a16="http://schemas.microsoft.com/office/drawing/2014/main" id="{5257EEEC-5CE2-C186-5C26-BB1D50CD1BD7}"/>
                </a:ext>
              </a:extLst>
            </p:cNvPr>
            <p:cNvSpPr/>
            <p:nvPr/>
          </p:nvSpPr>
          <p:spPr>
            <a:xfrm>
              <a:off x="2793094" y="1659340"/>
              <a:ext cx="1230063" cy="714662"/>
            </a:xfrm>
            <a:prstGeom prst="rect">
              <a:avLst/>
            </a:prstGeom>
            <a:solidFill>
              <a:srgbClr val="70AD47"/>
            </a:solidFill>
            <a:ln w="12700" cap="flat" cmpd="sng" algn="ctr">
              <a:solidFill>
                <a:srgbClr val="70AD47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lIns="89319" tIns="44659" rIns="89319" bIns="44659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+mn-ea"/>
                  <a:cs typeface="+mn-cs"/>
                </a:rPr>
                <a:t>SMMS-Agent </a:t>
              </a:r>
            </a:p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+mn-ea"/>
                  <a:cs typeface="+mn-cs"/>
                </a:rPr>
                <a:t>(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+mn-ea"/>
                  <a:cs typeface="+mn-cs"/>
                </a:rPr>
                <a:t>송신 </a:t>
              </a:r>
              <a:r>
                <a:rPr kumimoji="0" lang="en-US" altLang="ko-KR" sz="7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+mn-ea"/>
                  <a:cs typeface="+mn-cs"/>
                </a:rPr>
                <a:t>Thread)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+mn-ea"/>
                  <a:cs typeface="+mn-cs"/>
                </a:rPr>
                <a:t>  </a:t>
              </a:r>
            </a:p>
          </p:txBody>
        </p:sp>
        <p:grpSp>
          <p:nvGrpSpPr>
            <p:cNvPr id="678" name="그룹 677">
              <a:extLst>
                <a:ext uri="{FF2B5EF4-FFF2-40B4-BE49-F238E27FC236}">
                  <a16:creationId xmlns:a16="http://schemas.microsoft.com/office/drawing/2014/main" id="{AEAB948F-7479-94E0-CE1F-75EEDD423A59}"/>
                </a:ext>
              </a:extLst>
            </p:cNvPr>
            <p:cNvGrpSpPr/>
            <p:nvPr/>
          </p:nvGrpSpPr>
          <p:grpSpPr>
            <a:xfrm>
              <a:off x="877133" y="1609757"/>
              <a:ext cx="606724" cy="271535"/>
              <a:chOff x="958525" y="1526415"/>
              <a:chExt cx="606724" cy="271535"/>
            </a:xfrm>
          </p:grpSpPr>
          <p:sp>
            <p:nvSpPr>
              <p:cNvPr id="683" name="원통 295">
                <a:extLst>
                  <a:ext uri="{FF2B5EF4-FFF2-40B4-BE49-F238E27FC236}">
                    <a16:creationId xmlns:a16="http://schemas.microsoft.com/office/drawing/2014/main" id="{F0DB5A40-7A09-39D9-5401-2BA233C88F34}"/>
                  </a:ext>
                </a:extLst>
              </p:cNvPr>
              <p:cNvSpPr/>
              <p:nvPr/>
            </p:nvSpPr>
            <p:spPr>
              <a:xfrm>
                <a:off x="958525" y="1526415"/>
                <a:ext cx="606724" cy="271535"/>
              </a:xfrm>
              <a:prstGeom prst="can">
                <a:avLst/>
              </a:prstGeom>
              <a:solidFill>
                <a:srgbClr val="354976"/>
              </a:solidFill>
              <a:ln w="9525" cap="flat" cmpd="sng" algn="ctr">
                <a:solidFill>
                  <a:sysClr val="window" lastClr="FFFFFF"/>
                </a:solidFill>
                <a:prstDash val="solid"/>
                <a:miter lim="800000"/>
              </a:ln>
              <a:effectLst/>
            </p:spPr>
            <p:txBody>
              <a:bodyPr lIns="89319" tIns="44659" rIns="89319" bIns="44659"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684" name="직사각형 683">
                <a:extLst>
                  <a:ext uri="{FF2B5EF4-FFF2-40B4-BE49-F238E27FC236}">
                    <a16:creationId xmlns:a16="http://schemas.microsoft.com/office/drawing/2014/main" id="{4F860EF8-DA16-8CBA-697B-B351F3E889C2}"/>
                  </a:ext>
                </a:extLst>
              </p:cNvPr>
              <p:cNvSpPr/>
              <p:nvPr/>
            </p:nvSpPr>
            <p:spPr>
              <a:xfrm>
                <a:off x="966515" y="1621112"/>
                <a:ext cx="590746" cy="153888"/>
              </a:xfrm>
              <a:prstGeom prst="rect">
                <a:avLst/>
              </a:prstGeom>
            </p:spPr>
            <p:txBody>
              <a:bodyPr wrap="square" lIns="0" tIns="0" rIns="0" bIns="0" anchor="ctr">
                <a:spAutoFit/>
              </a:bodyPr>
              <a:lstStyle/>
              <a:p>
                <a:pPr algn="ctr" defTabSz="457200" latinLnBrk="0"/>
                <a:r>
                  <a:rPr lang="en-US" altLang="ko-KR" sz="100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+mn-ea"/>
                  </a:rPr>
                  <a:t>UMS DB</a:t>
                </a:r>
              </a:p>
            </p:txBody>
          </p:sp>
        </p:grpSp>
        <p:cxnSp>
          <p:nvCxnSpPr>
            <p:cNvPr id="679" name="직선 화살표 연결선 678">
              <a:extLst>
                <a:ext uri="{FF2B5EF4-FFF2-40B4-BE49-F238E27FC236}">
                  <a16:creationId xmlns:a16="http://schemas.microsoft.com/office/drawing/2014/main" id="{9F8FE68D-2B1D-5ADC-1877-67BD735BC314}"/>
                </a:ext>
              </a:extLst>
            </p:cNvPr>
            <p:cNvCxnSpPr>
              <a:cxnSpLocks/>
            </p:cNvCxnSpPr>
            <p:nvPr/>
          </p:nvCxnSpPr>
          <p:spPr>
            <a:xfrm>
              <a:off x="1173443" y="1885681"/>
              <a:ext cx="0" cy="146890"/>
            </a:xfrm>
            <a:prstGeom prst="straightConnector1">
              <a:avLst/>
            </a:prstGeom>
            <a:noFill/>
            <a:ln w="6350" cap="flat" cmpd="sng" algn="ctr">
              <a:solidFill>
                <a:srgbClr val="FF0000"/>
              </a:solidFill>
              <a:prstDash val="solid"/>
              <a:miter lim="800000"/>
              <a:tailEnd type="triangle" w="sm" len="sm"/>
            </a:ln>
            <a:effectLst/>
          </p:spPr>
        </p:cxnSp>
        <p:sp>
          <p:nvSpPr>
            <p:cNvPr id="680" name="직사각형 679">
              <a:extLst>
                <a:ext uri="{FF2B5EF4-FFF2-40B4-BE49-F238E27FC236}">
                  <a16:creationId xmlns:a16="http://schemas.microsoft.com/office/drawing/2014/main" id="{767DAE6B-E8FB-4DF7-96AB-DB4CA1020E60}"/>
                </a:ext>
              </a:extLst>
            </p:cNvPr>
            <p:cNvSpPr/>
            <p:nvPr/>
          </p:nvSpPr>
          <p:spPr>
            <a:xfrm>
              <a:off x="1780167" y="1651644"/>
              <a:ext cx="775357" cy="279780"/>
            </a:xfrm>
            <a:prstGeom prst="rect">
              <a:avLst/>
            </a:prstGeom>
            <a:solidFill>
              <a:sysClr val="window" lastClr="FFFFFF"/>
            </a:solidFill>
            <a:ln w="9525" cap="flat" cmpd="sng" algn="ctr">
              <a:noFill/>
              <a:prstDash val="solid"/>
              <a:miter lim="800000"/>
            </a:ln>
            <a:effectLst/>
          </p:spPr>
          <p:txBody>
            <a:bodyPr lIns="89319" tIns="44659" rIns="89319" bIns="44659" rtlCol="0" anchor="ctr"/>
            <a:lstStyle/>
            <a:p>
              <a:pPr algn="ctr" defTabSz="457200" latinLnBrk="0"/>
              <a:r>
                <a:rPr lang="ko-KR" altLang="en-US" sz="1000" kern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</a:rPr>
                <a:t>분배기</a:t>
              </a:r>
            </a:p>
          </p:txBody>
        </p:sp>
        <p:cxnSp>
          <p:nvCxnSpPr>
            <p:cNvPr id="681" name="연결선: 꺾임 301">
              <a:extLst>
                <a:ext uri="{FF2B5EF4-FFF2-40B4-BE49-F238E27FC236}">
                  <a16:creationId xmlns:a16="http://schemas.microsoft.com/office/drawing/2014/main" id="{8978B6BD-80BC-C1D0-CDF1-F53D1C45EE64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1296219" y="1803343"/>
              <a:ext cx="481810" cy="361541"/>
            </a:xfrm>
            <a:prstGeom prst="bentConnector3">
              <a:avLst>
                <a:gd name="adj1" fmla="val 50000"/>
              </a:avLst>
            </a:prstGeom>
            <a:noFill/>
            <a:ln w="22225" cap="flat" cmpd="sng" algn="ctr">
              <a:solidFill>
                <a:srgbClr val="FF0000"/>
              </a:solidFill>
              <a:prstDash val="solid"/>
              <a:miter lim="800000"/>
              <a:tailEnd type="triangle" w="sm" len="sm"/>
            </a:ln>
            <a:effectLst/>
          </p:spPr>
        </p:cxnSp>
        <p:cxnSp>
          <p:nvCxnSpPr>
            <p:cNvPr id="682" name="연결선: 꺾임 854">
              <a:extLst>
                <a:ext uri="{FF2B5EF4-FFF2-40B4-BE49-F238E27FC236}">
                  <a16:creationId xmlns:a16="http://schemas.microsoft.com/office/drawing/2014/main" id="{A899ED3E-85B1-0829-C589-2F4DF6B9F8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5869" y="2260610"/>
              <a:ext cx="1287878" cy="90009"/>
            </a:xfrm>
            <a:prstGeom prst="bentConnector3">
              <a:avLst/>
            </a:prstGeom>
            <a:noFill/>
            <a:ln w="635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  <a:tailEnd type="triangle" w="sm" len="sm"/>
            </a:ln>
            <a:effectLst/>
          </p:spPr>
        </p:cxnSp>
      </p:grpSp>
      <p:grpSp>
        <p:nvGrpSpPr>
          <p:cNvPr id="704" name="그룹 703">
            <a:extLst>
              <a:ext uri="{FF2B5EF4-FFF2-40B4-BE49-F238E27FC236}">
                <a16:creationId xmlns:a16="http://schemas.microsoft.com/office/drawing/2014/main" id="{99A99C7B-313F-7DBE-61B6-F420CE11EB3F}"/>
              </a:ext>
            </a:extLst>
          </p:cNvPr>
          <p:cNvGrpSpPr/>
          <p:nvPr/>
        </p:nvGrpSpPr>
        <p:grpSpPr>
          <a:xfrm>
            <a:off x="342540" y="3802797"/>
            <a:ext cx="3404257" cy="1001080"/>
            <a:chOff x="782745" y="1488219"/>
            <a:chExt cx="3404257" cy="1001080"/>
          </a:xfrm>
        </p:grpSpPr>
        <p:sp>
          <p:nvSpPr>
            <p:cNvPr id="705" name="모서리가 둥근 직사각형 146">
              <a:extLst>
                <a:ext uri="{FF2B5EF4-FFF2-40B4-BE49-F238E27FC236}">
                  <a16:creationId xmlns:a16="http://schemas.microsoft.com/office/drawing/2014/main" id="{5E607DEB-4DB9-42A4-A35D-010D325E8879}"/>
                </a:ext>
              </a:extLst>
            </p:cNvPr>
            <p:cNvSpPr/>
            <p:nvPr/>
          </p:nvSpPr>
          <p:spPr>
            <a:xfrm>
              <a:off x="844651" y="1573681"/>
              <a:ext cx="3270149" cy="845267"/>
            </a:xfrm>
            <a:prstGeom prst="roundRect">
              <a:avLst>
                <a:gd name="adj" fmla="val 0"/>
              </a:avLst>
            </a:prstGeom>
            <a:solidFill>
              <a:srgbClr val="D4E3F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706" name="모서리가 둥근 직사각형 43">
              <a:extLst>
                <a:ext uri="{FF2B5EF4-FFF2-40B4-BE49-F238E27FC236}">
                  <a16:creationId xmlns:a16="http://schemas.microsoft.com/office/drawing/2014/main" id="{F5098ACB-FC9B-1396-5F4D-E2189B01CEF5}"/>
                </a:ext>
              </a:extLst>
            </p:cNvPr>
            <p:cNvSpPr/>
            <p:nvPr/>
          </p:nvSpPr>
          <p:spPr>
            <a:xfrm>
              <a:off x="782745" y="1488219"/>
              <a:ext cx="3404257" cy="1001080"/>
            </a:xfrm>
            <a:prstGeom prst="roundRect">
              <a:avLst>
                <a:gd name="adj" fmla="val 4458"/>
              </a:avLst>
            </a:prstGeom>
            <a:noFill/>
            <a:ln w="19050" cap="flat" cmpd="sng" algn="ctr">
              <a:solidFill>
                <a:srgbClr val="718BC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grpSp>
          <p:nvGrpSpPr>
            <p:cNvPr id="707" name="그룹 706">
              <a:extLst>
                <a:ext uri="{FF2B5EF4-FFF2-40B4-BE49-F238E27FC236}">
                  <a16:creationId xmlns:a16="http://schemas.microsoft.com/office/drawing/2014/main" id="{355F7D9C-2362-9953-49C3-1AA27B75D386}"/>
                </a:ext>
              </a:extLst>
            </p:cNvPr>
            <p:cNvGrpSpPr/>
            <p:nvPr/>
          </p:nvGrpSpPr>
          <p:grpSpPr>
            <a:xfrm>
              <a:off x="890294" y="2042096"/>
              <a:ext cx="951534" cy="380908"/>
              <a:chOff x="2390679" y="3043337"/>
              <a:chExt cx="898585" cy="362660"/>
            </a:xfrm>
          </p:grpSpPr>
          <p:grpSp>
            <p:nvGrpSpPr>
              <p:cNvPr id="716" name="그룹 715">
                <a:extLst>
                  <a:ext uri="{FF2B5EF4-FFF2-40B4-BE49-F238E27FC236}">
                    <a16:creationId xmlns:a16="http://schemas.microsoft.com/office/drawing/2014/main" id="{FFC0352E-63F1-97EF-9F83-8A9D4DBE104F}"/>
                  </a:ext>
                </a:extLst>
              </p:cNvPr>
              <p:cNvGrpSpPr/>
              <p:nvPr/>
            </p:nvGrpSpPr>
            <p:grpSpPr>
              <a:xfrm>
                <a:off x="2548087" y="3043337"/>
                <a:ext cx="741177" cy="225928"/>
                <a:chOff x="2638426" y="6588126"/>
                <a:chExt cx="2890392" cy="881063"/>
              </a:xfrm>
              <a:solidFill>
                <a:srgbClr val="718BC5"/>
              </a:solidFill>
            </p:grpSpPr>
            <p:sp>
              <p:nvSpPr>
                <p:cNvPr id="718" name="Freeform 401">
                  <a:extLst>
                    <a:ext uri="{FF2B5EF4-FFF2-40B4-BE49-F238E27FC236}">
                      <a16:creationId xmlns:a16="http://schemas.microsoft.com/office/drawing/2014/main" id="{B6556A0F-39B9-CB86-A30A-4486A105EC0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727326" y="6588126"/>
                  <a:ext cx="690563" cy="881063"/>
                </a:xfrm>
                <a:custGeom>
                  <a:avLst/>
                  <a:gdLst>
                    <a:gd name="T0" fmla="*/ 1209 w 1209"/>
                    <a:gd name="T1" fmla="*/ 1261 h 1544"/>
                    <a:gd name="T2" fmla="*/ 1209 w 1209"/>
                    <a:gd name="T3" fmla="*/ 25 h 1544"/>
                    <a:gd name="T4" fmla="*/ 1184 w 1209"/>
                    <a:gd name="T5" fmla="*/ 0 h 1544"/>
                    <a:gd name="T6" fmla="*/ 26 w 1209"/>
                    <a:gd name="T7" fmla="*/ 0 h 1544"/>
                    <a:gd name="T8" fmla="*/ 0 w 1209"/>
                    <a:gd name="T9" fmla="*/ 25 h 1544"/>
                    <a:gd name="T10" fmla="*/ 0 w 1209"/>
                    <a:gd name="T11" fmla="*/ 386 h 1544"/>
                    <a:gd name="T12" fmla="*/ 51 w 1209"/>
                    <a:gd name="T13" fmla="*/ 386 h 1544"/>
                    <a:gd name="T14" fmla="*/ 51 w 1209"/>
                    <a:gd name="T15" fmla="*/ 51 h 1544"/>
                    <a:gd name="T16" fmla="*/ 1158 w 1209"/>
                    <a:gd name="T17" fmla="*/ 51 h 1544"/>
                    <a:gd name="T18" fmla="*/ 1158 w 1209"/>
                    <a:gd name="T19" fmla="*/ 1235 h 1544"/>
                    <a:gd name="T20" fmla="*/ 926 w 1209"/>
                    <a:gd name="T21" fmla="*/ 1235 h 1544"/>
                    <a:gd name="T22" fmla="*/ 901 w 1209"/>
                    <a:gd name="T23" fmla="*/ 1261 h 1544"/>
                    <a:gd name="T24" fmla="*/ 901 w 1209"/>
                    <a:gd name="T25" fmla="*/ 1492 h 1544"/>
                    <a:gd name="T26" fmla="*/ 51 w 1209"/>
                    <a:gd name="T27" fmla="*/ 1492 h 1544"/>
                    <a:gd name="T28" fmla="*/ 51 w 1209"/>
                    <a:gd name="T29" fmla="*/ 1106 h 1544"/>
                    <a:gd name="T30" fmla="*/ 0 w 1209"/>
                    <a:gd name="T31" fmla="*/ 1106 h 1544"/>
                    <a:gd name="T32" fmla="*/ 0 w 1209"/>
                    <a:gd name="T33" fmla="*/ 1518 h 1544"/>
                    <a:gd name="T34" fmla="*/ 26 w 1209"/>
                    <a:gd name="T35" fmla="*/ 1544 h 1544"/>
                    <a:gd name="T36" fmla="*/ 926 w 1209"/>
                    <a:gd name="T37" fmla="*/ 1544 h 1544"/>
                    <a:gd name="T38" fmla="*/ 944 w 1209"/>
                    <a:gd name="T39" fmla="*/ 1536 h 1544"/>
                    <a:gd name="T40" fmla="*/ 1202 w 1209"/>
                    <a:gd name="T41" fmla="*/ 1279 h 1544"/>
                    <a:gd name="T42" fmla="*/ 1207 w 1209"/>
                    <a:gd name="T43" fmla="*/ 1271 h 1544"/>
                    <a:gd name="T44" fmla="*/ 1207 w 1209"/>
                    <a:gd name="T45" fmla="*/ 1269 h 1544"/>
                    <a:gd name="T46" fmla="*/ 1209 w 1209"/>
                    <a:gd name="T47" fmla="*/ 1261 h 1544"/>
                    <a:gd name="T48" fmla="*/ 952 w 1209"/>
                    <a:gd name="T49" fmla="*/ 1286 h 1544"/>
                    <a:gd name="T50" fmla="*/ 1122 w 1209"/>
                    <a:gd name="T51" fmla="*/ 1286 h 1544"/>
                    <a:gd name="T52" fmla="*/ 952 w 1209"/>
                    <a:gd name="T53" fmla="*/ 1456 h 1544"/>
                    <a:gd name="T54" fmla="*/ 952 w 1209"/>
                    <a:gd name="T55" fmla="*/ 1286 h 1544"/>
                    <a:gd name="T56" fmla="*/ 952 w 1209"/>
                    <a:gd name="T57" fmla="*/ 1286 h 1544"/>
                    <a:gd name="T58" fmla="*/ 952 w 1209"/>
                    <a:gd name="T59" fmla="*/ 1286 h 15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1209" h="1544">
                      <a:moveTo>
                        <a:pt x="1209" y="1261"/>
                      </a:moveTo>
                      <a:cubicBezTo>
                        <a:pt x="1209" y="25"/>
                        <a:pt x="1209" y="25"/>
                        <a:pt x="1209" y="25"/>
                      </a:cubicBezTo>
                      <a:cubicBezTo>
                        <a:pt x="1209" y="10"/>
                        <a:pt x="1199" y="0"/>
                        <a:pt x="118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cubicBezTo>
                        <a:pt x="10" y="0"/>
                        <a:pt x="0" y="10"/>
                        <a:pt x="0" y="25"/>
                      </a:cubicBezTo>
                      <a:cubicBezTo>
                        <a:pt x="0" y="386"/>
                        <a:pt x="0" y="386"/>
                        <a:pt x="0" y="386"/>
                      </a:cubicBezTo>
                      <a:cubicBezTo>
                        <a:pt x="51" y="386"/>
                        <a:pt x="51" y="386"/>
                        <a:pt x="51" y="386"/>
                      </a:cubicBezTo>
                      <a:cubicBezTo>
                        <a:pt x="51" y="51"/>
                        <a:pt x="51" y="51"/>
                        <a:pt x="51" y="51"/>
                      </a:cubicBezTo>
                      <a:cubicBezTo>
                        <a:pt x="1158" y="51"/>
                        <a:pt x="1158" y="51"/>
                        <a:pt x="1158" y="51"/>
                      </a:cubicBezTo>
                      <a:cubicBezTo>
                        <a:pt x="1158" y="1235"/>
                        <a:pt x="1158" y="1235"/>
                        <a:pt x="1158" y="1235"/>
                      </a:cubicBezTo>
                      <a:cubicBezTo>
                        <a:pt x="926" y="1235"/>
                        <a:pt x="926" y="1235"/>
                        <a:pt x="926" y="1235"/>
                      </a:cubicBezTo>
                      <a:cubicBezTo>
                        <a:pt x="911" y="1235"/>
                        <a:pt x="901" y="1245"/>
                        <a:pt x="901" y="1261"/>
                      </a:cubicBezTo>
                      <a:cubicBezTo>
                        <a:pt x="901" y="1492"/>
                        <a:pt x="901" y="1492"/>
                        <a:pt x="901" y="1492"/>
                      </a:cubicBezTo>
                      <a:cubicBezTo>
                        <a:pt x="51" y="1492"/>
                        <a:pt x="51" y="1492"/>
                        <a:pt x="51" y="1492"/>
                      </a:cubicBezTo>
                      <a:cubicBezTo>
                        <a:pt x="51" y="1106"/>
                        <a:pt x="51" y="1106"/>
                        <a:pt x="51" y="1106"/>
                      </a:cubicBezTo>
                      <a:cubicBezTo>
                        <a:pt x="0" y="1106"/>
                        <a:pt x="0" y="1106"/>
                        <a:pt x="0" y="1106"/>
                      </a:cubicBezTo>
                      <a:cubicBezTo>
                        <a:pt x="0" y="1518"/>
                        <a:pt x="0" y="1518"/>
                        <a:pt x="0" y="1518"/>
                      </a:cubicBezTo>
                      <a:cubicBezTo>
                        <a:pt x="0" y="1534"/>
                        <a:pt x="10" y="1544"/>
                        <a:pt x="26" y="1544"/>
                      </a:cubicBezTo>
                      <a:cubicBezTo>
                        <a:pt x="926" y="1544"/>
                        <a:pt x="926" y="1544"/>
                        <a:pt x="926" y="1544"/>
                      </a:cubicBezTo>
                      <a:cubicBezTo>
                        <a:pt x="934" y="1544"/>
                        <a:pt x="939" y="1541"/>
                        <a:pt x="944" y="1536"/>
                      </a:cubicBezTo>
                      <a:cubicBezTo>
                        <a:pt x="1202" y="1279"/>
                        <a:pt x="1202" y="1279"/>
                        <a:pt x="1202" y="1279"/>
                      </a:cubicBezTo>
                      <a:cubicBezTo>
                        <a:pt x="1204" y="1276"/>
                        <a:pt x="1204" y="1274"/>
                        <a:pt x="1207" y="1271"/>
                      </a:cubicBezTo>
                      <a:cubicBezTo>
                        <a:pt x="1207" y="1269"/>
                        <a:pt x="1207" y="1269"/>
                        <a:pt x="1207" y="1269"/>
                      </a:cubicBezTo>
                      <a:cubicBezTo>
                        <a:pt x="1209" y="1266"/>
                        <a:pt x="1209" y="1263"/>
                        <a:pt x="1209" y="1261"/>
                      </a:cubicBezTo>
                      <a:close/>
                      <a:moveTo>
                        <a:pt x="952" y="1286"/>
                      </a:moveTo>
                      <a:cubicBezTo>
                        <a:pt x="1122" y="1286"/>
                        <a:pt x="1122" y="1286"/>
                        <a:pt x="1122" y="1286"/>
                      </a:cubicBezTo>
                      <a:cubicBezTo>
                        <a:pt x="952" y="1456"/>
                        <a:pt x="952" y="1456"/>
                        <a:pt x="952" y="1456"/>
                      </a:cubicBezTo>
                      <a:lnTo>
                        <a:pt x="952" y="1286"/>
                      </a:lnTo>
                      <a:close/>
                      <a:moveTo>
                        <a:pt x="952" y="1286"/>
                      </a:moveTo>
                      <a:cubicBezTo>
                        <a:pt x="952" y="1286"/>
                        <a:pt x="952" y="1286"/>
                        <a:pt x="952" y="1286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719" name="Freeform 402">
                  <a:extLst>
                    <a:ext uri="{FF2B5EF4-FFF2-40B4-BE49-F238E27FC236}">
                      <a16:creationId xmlns:a16="http://schemas.microsoft.com/office/drawing/2014/main" id="{E08F936A-AEF7-ED49-811E-92D6B8893E6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638426" y="6823076"/>
                  <a:ext cx="338138" cy="323850"/>
                </a:xfrm>
                <a:custGeom>
                  <a:avLst/>
                  <a:gdLst>
                    <a:gd name="T0" fmla="*/ 334 w 591"/>
                    <a:gd name="T1" fmla="*/ 567 h 567"/>
                    <a:gd name="T2" fmla="*/ 591 w 591"/>
                    <a:gd name="T3" fmla="*/ 567 h 567"/>
                    <a:gd name="T4" fmla="*/ 591 w 591"/>
                    <a:gd name="T5" fmla="*/ 515 h 567"/>
                    <a:gd name="T6" fmla="*/ 514 w 591"/>
                    <a:gd name="T7" fmla="*/ 515 h 567"/>
                    <a:gd name="T8" fmla="*/ 514 w 591"/>
                    <a:gd name="T9" fmla="*/ 26 h 567"/>
                    <a:gd name="T10" fmla="*/ 488 w 591"/>
                    <a:gd name="T11" fmla="*/ 0 h 567"/>
                    <a:gd name="T12" fmla="*/ 334 w 591"/>
                    <a:gd name="T13" fmla="*/ 0 h 567"/>
                    <a:gd name="T14" fmla="*/ 308 w 591"/>
                    <a:gd name="T15" fmla="*/ 26 h 567"/>
                    <a:gd name="T16" fmla="*/ 308 w 591"/>
                    <a:gd name="T17" fmla="*/ 181 h 567"/>
                    <a:gd name="T18" fmla="*/ 180 w 591"/>
                    <a:gd name="T19" fmla="*/ 181 h 567"/>
                    <a:gd name="T20" fmla="*/ 154 w 591"/>
                    <a:gd name="T21" fmla="*/ 206 h 567"/>
                    <a:gd name="T22" fmla="*/ 154 w 591"/>
                    <a:gd name="T23" fmla="*/ 309 h 567"/>
                    <a:gd name="T24" fmla="*/ 25 w 591"/>
                    <a:gd name="T25" fmla="*/ 309 h 567"/>
                    <a:gd name="T26" fmla="*/ 0 w 591"/>
                    <a:gd name="T27" fmla="*/ 335 h 567"/>
                    <a:gd name="T28" fmla="*/ 0 w 591"/>
                    <a:gd name="T29" fmla="*/ 541 h 567"/>
                    <a:gd name="T30" fmla="*/ 25 w 591"/>
                    <a:gd name="T31" fmla="*/ 567 h 567"/>
                    <a:gd name="T32" fmla="*/ 334 w 591"/>
                    <a:gd name="T33" fmla="*/ 567 h 567"/>
                    <a:gd name="T34" fmla="*/ 360 w 591"/>
                    <a:gd name="T35" fmla="*/ 52 h 567"/>
                    <a:gd name="T36" fmla="*/ 463 w 591"/>
                    <a:gd name="T37" fmla="*/ 52 h 567"/>
                    <a:gd name="T38" fmla="*/ 463 w 591"/>
                    <a:gd name="T39" fmla="*/ 515 h 567"/>
                    <a:gd name="T40" fmla="*/ 360 w 591"/>
                    <a:gd name="T41" fmla="*/ 515 h 567"/>
                    <a:gd name="T42" fmla="*/ 360 w 591"/>
                    <a:gd name="T43" fmla="*/ 52 h 567"/>
                    <a:gd name="T44" fmla="*/ 205 w 591"/>
                    <a:gd name="T45" fmla="*/ 232 h 567"/>
                    <a:gd name="T46" fmla="*/ 308 w 591"/>
                    <a:gd name="T47" fmla="*/ 232 h 567"/>
                    <a:gd name="T48" fmla="*/ 308 w 591"/>
                    <a:gd name="T49" fmla="*/ 515 h 567"/>
                    <a:gd name="T50" fmla="*/ 205 w 591"/>
                    <a:gd name="T51" fmla="*/ 515 h 567"/>
                    <a:gd name="T52" fmla="*/ 205 w 591"/>
                    <a:gd name="T53" fmla="*/ 232 h 567"/>
                    <a:gd name="T54" fmla="*/ 51 w 591"/>
                    <a:gd name="T55" fmla="*/ 361 h 567"/>
                    <a:gd name="T56" fmla="*/ 154 w 591"/>
                    <a:gd name="T57" fmla="*/ 361 h 567"/>
                    <a:gd name="T58" fmla="*/ 154 w 591"/>
                    <a:gd name="T59" fmla="*/ 515 h 567"/>
                    <a:gd name="T60" fmla="*/ 51 w 591"/>
                    <a:gd name="T61" fmla="*/ 515 h 567"/>
                    <a:gd name="T62" fmla="*/ 51 w 591"/>
                    <a:gd name="T63" fmla="*/ 361 h 567"/>
                    <a:gd name="T64" fmla="*/ 51 w 591"/>
                    <a:gd name="T65" fmla="*/ 361 h 567"/>
                    <a:gd name="T66" fmla="*/ 51 w 591"/>
                    <a:gd name="T67" fmla="*/ 361 h 5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591" h="567">
                      <a:moveTo>
                        <a:pt x="334" y="567"/>
                      </a:moveTo>
                      <a:cubicBezTo>
                        <a:pt x="591" y="567"/>
                        <a:pt x="591" y="567"/>
                        <a:pt x="591" y="567"/>
                      </a:cubicBezTo>
                      <a:cubicBezTo>
                        <a:pt x="591" y="515"/>
                        <a:pt x="591" y="515"/>
                        <a:pt x="591" y="515"/>
                      </a:cubicBezTo>
                      <a:cubicBezTo>
                        <a:pt x="514" y="515"/>
                        <a:pt x="514" y="515"/>
                        <a:pt x="514" y="515"/>
                      </a:cubicBezTo>
                      <a:cubicBezTo>
                        <a:pt x="514" y="26"/>
                        <a:pt x="514" y="26"/>
                        <a:pt x="514" y="26"/>
                      </a:cubicBezTo>
                      <a:cubicBezTo>
                        <a:pt x="514" y="11"/>
                        <a:pt x="504" y="0"/>
                        <a:pt x="488" y="0"/>
                      </a:cubicBezTo>
                      <a:cubicBezTo>
                        <a:pt x="334" y="0"/>
                        <a:pt x="334" y="0"/>
                        <a:pt x="334" y="0"/>
                      </a:cubicBezTo>
                      <a:cubicBezTo>
                        <a:pt x="319" y="0"/>
                        <a:pt x="308" y="11"/>
                        <a:pt x="308" y="26"/>
                      </a:cubicBezTo>
                      <a:cubicBezTo>
                        <a:pt x="308" y="181"/>
                        <a:pt x="308" y="181"/>
                        <a:pt x="308" y="181"/>
                      </a:cubicBezTo>
                      <a:cubicBezTo>
                        <a:pt x="180" y="181"/>
                        <a:pt x="180" y="181"/>
                        <a:pt x="180" y="181"/>
                      </a:cubicBezTo>
                      <a:cubicBezTo>
                        <a:pt x="164" y="181"/>
                        <a:pt x="154" y="191"/>
                        <a:pt x="154" y="206"/>
                      </a:cubicBezTo>
                      <a:cubicBezTo>
                        <a:pt x="154" y="309"/>
                        <a:pt x="154" y="309"/>
                        <a:pt x="154" y="309"/>
                      </a:cubicBezTo>
                      <a:cubicBezTo>
                        <a:pt x="25" y="309"/>
                        <a:pt x="25" y="309"/>
                        <a:pt x="25" y="309"/>
                      </a:cubicBezTo>
                      <a:cubicBezTo>
                        <a:pt x="10" y="309"/>
                        <a:pt x="0" y="320"/>
                        <a:pt x="0" y="335"/>
                      </a:cubicBezTo>
                      <a:cubicBezTo>
                        <a:pt x="0" y="541"/>
                        <a:pt x="0" y="541"/>
                        <a:pt x="0" y="541"/>
                      </a:cubicBezTo>
                      <a:cubicBezTo>
                        <a:pt x="0" y="556"/>
                        <a:pt x="10" y="567"/>
                        <a:pt x="25" y="567"/>
                      </a:cubicBezTo>
                      <a:lnTo>
                        <a:pt x="334" y="567"/>
                      </a:lnTo>
                      <a:close/>
                      <a:moveTo>
                        <a:pt x="360" y="52"/>
                      </a:moveTo>
                      <a:cubicBezTo>
                        <a:pt x="463" y="52"/>
                        <a:pt x="463" y="52"/>
                        <a:pt x="463" y="52"/>
                      </a:cubicBezTo>
                      <a:cubicBezTo>
                        <a:pt x="463" y="515"/>
                        <a:pt x="463" y="515"/>
                        <a:pt x="463" y="515"/>
                      </a:cubicBezTo>
                      <a:cubicBezTo>
                        <a:pt x="360" y="515"/>
                        <a:pt x="360" y="515"/>
                        <a:pt x="360" y="515"/>
                      </a:cubicBezTo>
                      <a:lnTo>
                        <a:pt x="360" y="52"/>
                      </a:lnTo>
                      <a:close/>
                      <a:moveTo>
                        <a:pt x="205" y="232"/>
                      </a:moveTo>
                      <a:cubicBezTo>
                        <a:pt x="308" y="232"/>
                        <a:pt x="308" y="232"/>
                        <a:pt x="308" y="232"/>
                      </a:cubicBezTo>
                      <a:cubicBezTo>
                        <a:pt x="308" y="515"/>
                        <a:pt x="308" y="515"/>
                        <a:pt x="308" y="515"/>
                      </a:cubicBezTo>
                      <a:cubicBezTo>
                        <a:pt x="205" y="515"/>
                        <a:pt x="205" y="515"/>
                        <a:pt x="205" y="515"/>
                      </a:cubicBezTo>
                      <a:lnTo>
                        <a:pt x="205" y="232"/>
                      </a:lnTo>
                      <a:close/>
                      <a:moveTo>
                        <a:pt x="51" y="361"/>
                      </a:moveTo>
                      <a:cubicBezTo>
                        <a:pt x="154" y="361"/>
                        <a:pt x="154" y="361"/>
                        <a:pt x="154" y="361"/>
                      </a:cubicBezTo>
                      <a:cubicBezTo>
                        <a:pt x="154" y="515"/>
                        <a:pt x="154" y="515"/>
                        <a:pt x="154" y="515"/>
                      </a:cubicBezTo>
                      <a:cubicBezTo>
                        <a:pt x="51" y="515"/>
                        <a:pt x="51" y="515"/>
                        <a:pt x="51" y="515"/>
                      </a:cubicBezTo>
                      <a:lnTo>
                        <a:pt x="51" y="361"/>
                      </a:lnTo>
                      <a:close/>
                      <a:moveTo>
                        <a:pt x="51" y="361"/>
                      </a:moveTo>
                      <a:cubicBezTo>
                        <a:pt x="51" y="361"/>
                        <a:pt x="51" y="361"/>
                        <a:pt x="51" y="361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720" name="Freeform 403">
                  <a:extLst>
                    <a:ext uri="{FF2B5EF4-FFF2-40B4-BE49-F238E27FC236}">
                      <a16:creationId xmlns:a16="http://schemas.microsoft.com/office/drawing/2014/main" id="{235963F4-D6A5-07F0-C31E-D6194F32C6E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990851" y="6675438"/>
                  <a:ext cx="338138" cy="279400"/>
                </a:xfrm>
                <a:custGeom>
                  <a:avLst/>
                  <a:gdLst>
                    <a:gd name="T0" fmla="*/ 592 w 592"/>
                    <a:gd name="T1" fmla="*/ 463 h 489"/>
                    <a:gd name="T2" fmla="*/ 592 w 592"/>
                    <a:gd name="T3" fmla="*/ 26 h 489"/>
                    <a:gd name="T4" fmla="*/ 566 w 592"/>
                    <a:gd name="T5" fmla="*/ 0 h 489"/>
                    <a:gd name="T6" fmla="*/ 26 w 592"/>
                    <a:gd name="T7" fmla="*/ 0 h 489"/>
                    <a:gd name="T8" fmla="*/ 0 w 592"/>
                    <a:gd name="T9" fmla="*/ 26 h 489"/>
                    <a:gd name="T10" fmla="*/ 0 w 592"/>
                    <a:gd name="T11" fmla="*/ 463 h 489"/>
                    <a:gd name="T12" fmla="*/ 26 w 592"/>
                    <a:gd name="T13" fmla="*/ 489 h 489"/>
                    <a:gd name="T14" fmla="*/ 566 w 592"/>
                    <a:gd name="T15" fmla="*/ 489 h 489"/>
                    <a:gd name="T16" fmla="*/ 592 w 592"/>
                    <a:gd name="T17" fmla="*/ 463 h 489"/>
                    <a:gd name="T18" fmla="*/ 541 w 592"/>
                    <a:gd name="T19" fmla="*/ 155 h 489"/>
                    <a:gd name="T20" fmla="*/ 232 w 592"/>
                    <a:gd name="T21" fmla="*/ 155 h 489"/>
                    <a:gd name="T22" fmla="*/ 232 w 592"/>
                    <a:gd name="T23" fmla="*/ 51 h 489"/>
                    <a:gd name="T24" fmla="*/ 541 w 592"/>
                    <a:gd name="T25" fmla="*/ 51 h 489"/>
                    <a:gd name="T26" fmla="*/ 541 w 592"/>
                    <a:gd name="T27" fmla="*/ 155 h 489"/>
                    <a:gd name="T28" fmla="*/ 180 w 592"/>
                    <a:gd name="T29" fmla="*/ 51 h 489"/>
                    <a:gd name="T30" fmla="*/ 180 w 592"/>
                    <a:gd name="T31" fmla="*/ 155 h 489"/>
                    <a:gd name="T32" fmla="*/ 52 w 592"/>
                    <a:gd name="T33" fmla="*/ 155 h 489"/>
                    <a:gd name="T34" fmla="*/ 52 w 592"/>
                    <a:gd name="T35" fmla="*/ 51 h 489"/>
                    <a:gd name="T36" fmla="*/ 180 w 592"/>
                    <a:gd name="T37" fmla="*/ 51 h 489"/>
                    <a:gd name="T38" fmla="*/ 52 w 592"/>
                    <a:gd name="T39" fmla="*/ 206 h 489"/>
                    <a:gd name="T40" fmla="*/ 180 w 592"/>
                    <a:gd name="T41" fmla="*/ 206 h 489"/>
                    <a:gd name="T42" fmla="*/ 180 w 592"/>
                    <a:gd name="T43" fmla="*/ 438 h 489"/>
                    <a:gd name="T44" fmla="*/ 52 w 592"/>
                    <a:gd name="T45" fmla="*/ 438 h 489"/>
                    <a:gd name="T46" fmla="*/ 52 w 592"/>
                    <a:gd name="T47" fmla="*/ 206 h 489"/>
                    <a:gd name="T48" fmla="*/ 232 w 592"/>
                    <a:gd name="T49" fmla="*/ 438 h 489"/>
                    <a:gd name="T50" fmla="*/ 232 w 592"/>
                    <a:gd name="T51" fmla="*/ 206 h 489"/>
                    <a:gd name="T52" fmla="*/ 541 w 592"/>
                    <a:gd name="T53" fmla="*/ 206 h 489"/>
                    <a:gd name="T54" fmla="*/ 541 w 592"/>
                    <a:gd name="T55" fmla="*/ 438 h 489"/>
                    <a:gd name="T56" fmla="*/ 232 w 592"/>
                    <a:gd name="T57" fmla="*/ 438 h 489"/>
                    <a:gd name="T58" fmla="*/ 232 w 592"/>
                    <a:gd name="T59" fmla="*/ 438 h 489"/>
                    <a:gd name="T60" fmla="*/ 232 w 592"/>
                    <a:gd name="T61" fmla="*/ 438 h 4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592" h="489">
                      <a:moveTo>
                        <a:pt x="592" y="463"/>
                      </a:moveTo>
                      <a:cubicBezTo>
                        <a:pt x="592" y="26"/>
                        <a:pt x="592" y="26"/>
                        <a:pt x="592" y="26"/>
                      </a:cubicBezTo>
                      <a:cubicBezTo>
                        <a:pt x="592" y="10"/>
                        <a:pt x="582" y="0"/>
                        <a:pt x="566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cubicBezTo>
                        <a:pt x="10" y="0"/>
                        <a:pt x="0" y="10"/>
                        <a:pt x="0" y="26"/>
                      </a:cubicBezTo>
                      <a:cubicBezTo>
                        <a:pt x="0" y="463"/>
                        <a:pt x="0" y="463"/>
                        <a:pt x="0" y="463"/>
                      </a:cubicBezTo>
                      <a:cubicBezTo>
                        <a:pt x="0" y="479"/>
                        <a:pt x="10" y="489"/>
                        <a:pt x="26" y="489"/>
                      </a:cubicBezTo>
                      <a:cubicBezTo>
                        <a:pt x="566" y="489"/>
                        <a:pt x="566" y="489"/>
                        <a:pt x="566" y="489"/>
                      </a:cubicBezTo>
                      <a:cubicBezTo>
                        <a:pt x="582" y="489"/>
                        <a:pt x="592" y="479"/>
                        <a:pt x="592" y="463"/>
                      </a:cubicBezTo>
                      <a:close/>
                      <a:moveTo>
                        <a:pt x="541" y="155"/>
                      </a:moveTo>
                      <a:cubicBezTo>
                        <a:pt x="232" y="155"/>
                        <a:pt x="232" y="155"/>
                        <a:pt x="232" y="155"/>
                      </a:cubicBezTo>
                      <a:cubicBezTo>
                        <a:pt x="232" y="51"/>
                        <a:pt x="232" y="51"/>
                        <a:pt x="232" y="51"/>
                      </a:cubicBezTo>
                      <a:cubicBezTo>
                        <a:pt x="541" y="51"/>
                        <a:pt x="541" y="51"/>
                        <a:pt x="541" y="51"/>
                      </a:cubicBezTo>
                      <a:lnTo>
                        <a:pt x="541" y="155"/>
                      </a:lnTo>
                      <a:close/>
                      <a:moveTo>
                        <a:pt x="180" y="51"/>
                      </a:moveTo>
                      <a:cubicBezTo>
                        <a:pt x="180" y="155"/>
                        <a:pt x="180" y="155"/>
                        <a:pt x="180" y="155"/>
                      </a:cubicBezTo>
                      <a:cubicBezTo>
                        <a:pt x="52" y="155"/>
                        <a:pt x="52" y="155"/>
                        <a:pt x="52" y="155"/>
                      </a:cubicBezTo>
                      <a:cubicBezTo>
                        <a:pt x="52" y="51"/>
                        <a:pt x="52" y="51"/>
                        <a:pt x="52" y="51"/>
                      </a:cubicBezTo>
                      <a:lnTo>
                        <a:pt x="180" y="51"/>
                      </a:lnTo>
                      <a:close/>
                      <a:moveTo>
                        <a:pt x="52" y="206"/>
                      </a:moveTo>
                      <a:cubicBezTo>
                        <a:pt x="180" y="206"/>
                        <a:pt x="180" y="206"/>
                        <a:pt x="180" y="206"/>
                      </a:cubicBezTo>
                      <a:cubicBezTo>
                        <a:pt x="180" y="438"/>
                        <a:pt x="180" y="438"/>
                        <a:pt x="180" y="438"/>
                      </a:cubicBezTo>
                      <a:cubicBezTo>
                        <a:pt x="52" y="438"/>
                        <a:pt x="52" y="438"/>
                        <a:pt x="52" y="438"/>
                      </a:cubicBezTo>
                      <a:lnTo>
                        <a:pt x="52" y="206"/>
                      </a:lnTo>
                      <a:close/>
                      <a:moveTo>
                        <a:pt x="232" y="438"/>
                      </a:moveTo>
                      <a:cubicBezTo>
                        <a:pt x="232" y="206"/>
                        <a:pt x="232" y="206"/>
                        <a:pt x="232" y="206"/>
                      </a:cubicBezTo>
                      <a:cubicBezTo>
                        <a:pt x="541" y="206"/>
                        <a:pt x="541" y="206"/>
                        <a:pt x="541" y="206"/>
                      </a:cubicBezTo>
                      <a:cubicBezTo>
                        <a:pt x="541" y="438"/>
                        <a:pt x="541" y="438"/>
                        <a:pt x="541" y="438"/>
                      </a:cubicBezTo>
                      <a:lnTo>
                        <a:pt x="232" y="438"/>
                      </a:lnTo>
                      <a:close/>
                      <a:moveTo>
                        <a:pt x="232" y="438"/>
                      </a:moveTo>
                      <a:cubicBezTo>
                        <a:pt x="232" y="438"/>
                        <a:pt x="232" y="438"/>
                        <a:pt x="232" y="438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721" name="Rectangle 404">
                  <a:extLst>
                    <a:ext uri="{FF2B5EF4-FFF2-40B4-BE49-F238E27FC236}">
                      <a16:creationId xmlns:a16="http://schemas.microsoft.com/office/drawing/2014/main" id="{3E7E012B-760D-E0B8-CB0A-62EB554686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06726" y="6999288"/>
                  <a:ext cx="307975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722" name="Rectangle 405">
                  <a:extLst>
                    <a:ext uri="{FF2B5EF4-FFF2-40B4-BE49-F238E27FC236}">
                      <a16:creationId xmlns:a16="http://schemas.microsoft.com/office/drawing/2014/main" id="{9C9C6D7C-A475-D9AF-656F-50326A0F8E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06726" y="7072313"/>
                  <a:ext cx="307975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723" name="Rectangle 407">
                  <a:extLst>
                    <a:ext uri="{FF2B5EF4-FFF2-40B4-BE49-F238E27FC236}">
                      <a16:creationId xmlns:a16="http://schemas.microsoft.com/office/drawing/2014/main" id="{8C7CD273-E599-2C44-0CE5-57EAF2B5D6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06725" y="7146926"/>
                  <a:ext cx="307975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724" name="Rectangle 408">
                  <a:extLst>
                    <a:ext uri="{FF2B5EF4-FFF2-40B4-BE49-F238E27FC236}">
                      <a16:creationId xmlns:a16="http://schemas.microsoft.com/office/drawing/2014/main" id="{0AC7F238-8635-AD12-A00E-B91E5199E8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00350" y="6675438"/>
                  <a:ext cx="88900" cy="3016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725" name="Rectangle 409">
                  <a:extLst>
                    <a:ext uri="{FF2B5EF4-FFF2-40B4-BE49-F238E27FC236}">
                      <a16:creationId xmlns:a16="http://schemas.microsoft.com/office/drawing/2014/main" id="{117B62C7-A454-686B-87BF-F3B610EF9E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97054" y="6753303"/>
                  <a:ext cx="131764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726" name="Rectangle 410">
                  <a:extLst>
                    <a:ext uri="{FF2B5EF4-FFF2-40B4-BE49-F238E27FC236}">
                      <a16:creationId xmlns:a16="http://schemas.microsoft.com/office/drawing/2014/main" id="{4208BF50-3117-7323-A746-EB01B1D5AF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00350" y="7219951"/>
                  <a:ext cx="103188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727" name="Rectangle 411">
                  <a:extLst>
                    <a:ext uri="{FF2B5EF4-FFF2-40B4-BE49-F238E27FC236}">
                      <a16:creationId xmlns:a16="http://schemas.microsoft.com/office/drawing/2014/main" id="{E7C075DE-42CC-A6E6-75AD-85B30FE90D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47988" y="7219951"/>
                  <a:ext cx="101600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728" name="Rectangle 412">
                  <a:extLst>
                    <a:ext uri="{FF2B5EF4-FFF2-40B4-BE49-F238E27FC236}">
                      <a16:creationId xmlns:a16="http://schemas.microsoft.com/office/drawing/2014/main" id="{3F1F4300-4811-B8C5-45C9-5D7017ADE3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94038" y="7219951"/>
                  <a:ext cx="103188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729" name="Rectangle 413">
                  <a:extLst>
                    <a:ext uri="{FF2B5EF4-FFF2-40B4-BE49-F238E27FC236}">
                      <a16:creationId xmlns:a16="http://schemas.microsoft.com/office/drawing/2014/main" id="{E1D78609-FB64-3A36-AA53-4139AF0619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00350" y="7292976"/>
                  <a:ext cx="103188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730" name="Rectangle 414">
                  <a:extLst>
                    <a:ext uri="{FF2B5EF4-FFF2-40B4-BE49-F238E27FC236}">
                      <a16:creationId xmlns:a16="http://schemas.microsoft.com/office/drawing/2014/main" id="{F481EE35-DB0D-1286-9AA5-37062F40C5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47988" y="7292976"/>
                  <a:ext cx="101600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731" name="Rectangle 415">
                  <a:extLst>
                    <a:ext uri="{FF2B5EF4-FFF2-40B4-BE49-F238E27FC236}">
                      <a16:creationId xmlns:a16="http://schemas.microsoft.com/office/drawing/2014/main" id="{AFADEC5D-678B-E094-C98D-4A449D1610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94038" y="7292976"/>
                  <a:ext cx="103188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732" name="Rectangle 416">
                  <a:extLst>
                    <a:ext uri="{FF2B5EF4-FFF2-40B4-BE49-F238E27FC236}">
                      <a16:creationId xmlns:a16="http://schemas.microsoft.com/office/drawing/2014/main" id="{3C4BF7E5-B8AD-289B-E03C-69AAA70B98E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00350" y="7366001"/>
                  <a:ext cx="103188" cy="3016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733" name="Rectangle 417">
                  <a:extLst>
                    <a:ext uri="{FF2B5EF4-FFF2-40B4-BE49-F238E27FC236}">
                      <a16:creationId xmlns:a16="http://schemas.microsoft.com/office/drawing/2014/main" id="{AAAF80EF-A329-F121-F51F-5C330DC2E8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47988" y="7366001"/>
                  <a:ext cx="101600" cy="3016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734" name="Rectangle 418">
                  <a:extLst>
                    <a:ext uri="{FF2B5EF4-FFF2-40B4-BE49-F238E27FC236}">
                      <a16:creationId xmlns:a16="http://schemas.microsoft.com/office/drawing/2014/main" id="{AD8C7C3D-D239-E1E2-9467-4B4D4A5472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94038" y="7366001"/>
                  <a:ext cx="103188" cy="3016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</p:grpSp>
          <p:sp>
            <p:nvSpPr>
              <p:cNvPr id="717" name="직사각형 12">
                <a:extLst>
                  <a:ext uri="{FF2B5EF4-FFF2-40B4-BE49-F238E27FC236}">
                    <a16:creationId xmlns:a16="http://schemas.microsoft.com/office/drawing/2014/main" id="{15D66766-4BD8-FAFE-1E10-A80805118F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0679" y="3274133"/>
                <a:ext cx="514694" cy="131864"/>
              </a:xfrm>
              <a:prstGeom prst="rect">
                <a:avLst/>
              </a:prstGeom>
              <a:solidFill>
                <a:srgbClr val="70AD47"/>
              </a:solidFill>
              <a:ln w="12700" cap="flat" cmpd="sng" algn="ctr">
                <a:solidFill>
                  <a:srgbClr val="70AD47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wrap="non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5pPr>
                <a:lvl6pPr marL="2514600" indent="-228600" defTabSz="890588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6pPr>
                <a:lvl7pPr marL="2971800" indent="-228600" defTabSz="890588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7pPr>
                <a:lvl8pPr marL="3429000" indent="-228600" defTabSz="890588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8pPr>
                <a:lvl9pPr marL="3886200" indent="-228600" defTabSz="890588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9pPr>
              </a:lstStyle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0" cap="none" spc="-50" normalizeH="0" baseline="0" noProof="0" dirty="0">
                    <a:ln>
                      <a:solidFill>
                        <a:prstClr val="white">
                          <a:alpha val="500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메타테이블</a:t>
                </a:r>
                <a:endParaRPr kumimoji="0" lang="en-US" altLang="ko-KR" sz="900" b="0" i="0" u="none" strike="noStrike" kern="0" cap="none" spc="-50" normalizeH="0" baseline="0" noProof="0" dirty="0">
                  <a:ln>
                    <a:solidFill>
                      <a:prstClr val="white">
                        <a:alpha val="500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endParaRPr>
              </a:p>
            </p:txBody>
          </p:sp>
        </p:grpSp>
        <p:sp>
          <p:nvSpPr>
            <p:cNvPr id="708" name="직사각형 707">
              <a:extLst>
                <a:ext uri="{FF2B5EF4-FFF2-40B4-BE49-F238E27FC236}">
                  <a16:creationId xmlns:a16="http://schemas.microsoft.com/office/drawing/2014/main" id="{BF3E1F16-79AF-51C0-1122-290CA499F9F3}"/>
                </a:ext>
              </a:extLst>
            </p:cNvPr>
            <p:cNvSpPr/>
            <p:nvPr/>
          </p:nvSpPr>
          <p:spPr>
            <a:xfrm>
              <a:off x="2793094" y="1659340"/>
              <a:ext cx="1230063" cy="714662"/>
            </a:xfrm>
            <a:prstGeom prst="rect">
              <a:avLst/>
            </a:prstGeom>
            <a:solidFill>
              <a:srgbClr val="70AD47"/>
            </a:solidFill>
            <a:ln w="12700" cap="flat" cmpd="sng" algn="ctr">
              <a:solidFill>
                <a:srgbClr val="70AD47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lIns="89319" tIns="44659" rIns="89319" bIns="44659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+mn-ea"/>
                  <a:cs typeface="+mn-cs"/>
                </a:rPr>
                <a:t>SMMS-Agent </a:t>
              </a:r>
            </a:p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+mn-ea"/>
                  <a:cs typeface="+mn-cs"/>
                </a:rPr>
                <a:t>(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+mn-ea"/>
                  <a:cs typeface="+mn-cs"/>
                </a:rPr>
                <a:t>송신 </a:t>
              </a:r>
              <a:r>
                <a:rPr kumimoji="0" lang="en-US" altLang="ko-KR" sz="7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+mn-ea"/>
                  <a:cs typeface="+mn-cs"/>
                </a:rPr>
                <a:t>Thread)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+mn-ea"/>
                  <a:cs typeface="+mn-cs"/>
                </a:rPr>
                <a:t>  </a:t>
              </a:r>
            </a:p>
          </p:txBody>
        </p:sp>
        <p:grpSp>
          <p:nvGrpSpPr>
            <p:cNvPr id="709" name="그룹 708">
              <a:extLst>
                <a:ext uri="{FF2B5EF4-FFF2-40B4-BE49-F238E27FC236}">
                  <a16:creationId xmlns:a16="http://schemas.microsoft.com/office/drawing/2014/main" id="{61C27463-C3DD-776E-66A3-1E6BA372DD87}"/>
                </a:ext>
              </a:extLst>
            </p:cNvPr>
            <p:cNvGrpSpPr/>
            <p:nvPr/>
          </p:nvGrpSpPr>
          <p:grpSpPr>
            <a:xfrm>
              <a:off x="877133" y="1609757"/>
              <a:ext cx="606724" cy="271535"/>
              <a:chOff x="958525" y="1526415"/>
              <a:chExt cx="606724" cy="271535"/>
            </a:xfrm>
          </p:grpSpPr>
          <p:sp>
            <p:nvSpPr>
              <p:cNvPr id="714" name="원통 295">
                <a:extLst>
                  <a:ext uri="{FF2B5EF4-FFF2-40B4-BE49-F238E27FC236}">
                    <a16:creationId xmlns:a16="http://schemas.microsoft.com/office/drawing/2014/main" id="{8D3A28FE-9748-DF70-76F1-E78235ED7CC5}"/>
                  </a:ext>
                </a:extLst>
              </p:cNvPr>
              <p:cNvSpPr/>
              <p:nvPr/>
            </p:nvSpPr>
            <p:spPr>
              <a:xfrm>
                <a:off x="958525" y="1526415"/>
                <a:ext cx="606724" cy="271535"/>
              </a:xfrm>
              <a:prstGeom prst="can">
                <a:avLst/>
              </a:prstGeom>
              <a:solidFill>
                <a:srgbClr val="354976"/>
              </a:solidFill>
              <a:ln w="9525" cap="flat" cmpd="sng" algn="ctr">
                <a:solidFill>
                  <a:sysClr val="window" lastClr="FFFFFF"/>
                </a:solidFill>
                <a:prstDash val="solid"/>
                <a:miter lim="800000"/>
              </a:ln>
              <a:effectLst/>
            </p:spPr>
            <p:txBody>
              <a:bodyPr lIns="89319" tIns="44659" rIns="89319" bIns="44659"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715" name="직사각형 714">
                <a:extLst>
                  <a:ext uri="{FF2B5EF4-FFF2-40B4-BE49-F238E27FC236}">
                    <a16:creationId xmlns:a16="http://schemas.microsoft.com/office/drawing/2014/main" id="{EE0A49EF-DC5F-06E0-127E-846F456AD731}"/>
                  </a:ext>
                </a:extLst>
              </p:cNvPr>
              <p:cNvSpPr/>
              <p:nvPr/>
            </p:nvSpPr>
            <p:spPr>
              <a:xfrm>
                <a:off x="966515" y="1621112"/>
                <a:ext cx="590746" cy="153888"/>
              </a:xfrm>
              <a:prstGeom prst="rect">
                <a:avLst/>
              </a:prstGeom>
            </p:spPr>
            <p:txBody>
              <a:bodyPr wrap="square" lIns="0" tIns="0" rIns="0" bIns="0" anchor="ctr">
                <a:spAutoFit/>
              </a:bodyPr>
              <a:lstStyle/>
              <a:p>
                <a:pPr algn="ctr" defTabSz="457200" latinLnBrk="0"/>
                <a:r>
                  <a:rPr lang="en-US" altLang="ko-KR" sz="100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+mn-ea"/>
                  </a:rPr>
                  <a:t>UMS DB</a:t>
                </a:r>
              </a:p>
            </p:txBody>
          </p:sp>
        </p:grpSp>
        <p:cxnSp>
          <p:nvCxnSpPr>
            <p:cNvPr id="710" name="직선 화살표 연결선 709">
              <a:extLst>
                <a:ext uri="{FF2B5EF4-FFF2-40B4-BE49-F238E27FC236}">
                  <a16:creationId xmlns:a16="http://schemas.microsoft.com/office/drawing/2014/main" id="{D2BC939F-BA74-0AAE-E40B-F77C2BCFE7BF}"/>
                </a:ext>
              </a:extLst>
            </p:cNvPr>
            <p:cNvCxnSpPr>
              <a:cxnSpLocks/>
            </p:cNvCxnSpPr>
            <p:nvPr/>
          </p:nvCxnSpPr>
          <p:spPr>
            <a:xfrm>
              <a:off x="1173443" y="1885681"/>
              <a:ext cx="0" cy="146890"/>
            </a:xfrm>
            <a:prstGeom prst="straightConnector1">
              <a:avLst/>
            </a:prstGeom>
            <a:noFill/>
            <a:ln w="6350" cap="flat" cmpd="sng" algn="ctr">
              <a:solidFill>
                <a:srgbClr val="FF0000"/>
              </a:solidFill>
              <a:prstDash val="solid"/>
              <a:miter lim="800000"/>
              <a:tailEnd type="triangle" w="sm" len="sm"/>
            </a:ln>
            <a:effectLst/>
          </p:spPr>
        </p:cxnSp>
        <p:sp>
          <p:nvSpPr>
            <p:cNvPr id="711" name="직사각형 710">
              <a:extLst>
                <a:ext uri="{FF2B5EF4-FFF2-40B4-BE49-F238E27FC236}">
                  <a16:creationId xmlns:a16="http://schemas.microsoft.com/office/drawing/2014/main" id="{9BF5AE42-D9FE-FB7C-3620-CEF0692458F8}"/>
                </a:ext>
              </a:extLst>
            </p:cNvPr>
            <p:cNvSpPr/>
            <p:nvPr/>
          </p:nvSpPr>
          <p:spPr>
            <a:xfrm>
              <a:off x="1780167" y="1651644"/>
              <a:ext cx="775357" cy="279780"/>
            </a:xfrm>
            <a:prstGeom prst="rect">
              <a:avLst/>
            </a:prstGeom>
            <a:solidFill>
              <a:sysClr val="window" lastClr="FFFFFF"/>
            </a:solidFill>
            <a:ln w="9525" cap="flat" cmpd="sng" algn="ctr">
              <a:noFill/>
              <a:prstDash val="solid"/>
              <a:miter lim="800000"/>
            </a:ln>
            <a:effectLst/>
          </p:spPr>
          <p:txBody>
            <a:bodyPr lIns="89319" tIns="44659" rIns="89319" bIns="44659" rtlCol="0" anchor="ctr"/>
            <a:lstStyle/>
            <a:p>
              <a:pPr algn="ctr" defTabSz="457200" latinLnBrk="0"/>
              <a:r>
                <a:rPr lang="ko-KR" altLang="en-US" sz="1000" kern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</a:rPr>
                <a:t>분배기</a:t>
              </a:r>
            </a:p>
          </p:txBody>
        </p:sp>
        <p:cxnSp>
          <p:nvCxnSpPr>
            <p:cNvPr id="712" name="연결선: 꺾임 301">
              <a:extLst>
                <a:ext uri="{FF2B5EF4-FFF2-40B4-BE49-F238E27FC236}">
                  <a16:creationId xmlns:a16="http://schemas.microsoft.com/office/drawing/2014/main" id="{A824D523-E097-54D4-DF7B-7F6358908761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1296219" y="1803343"/>
              <a:ext cx="481810" cy="361541"/>
            </a:xfrm>
            <a:prstGeom prst="bentConnector3">
              <a:avLst>
                <a:gd name="adj1" fmla="val 50000"/>
              </a:avLst>
            </a:prstGeom>
            <a:noFill/>
            <a:ln w="22225" cap="flat" cmpd="sng" algn="ctr">
              <a:solidFill>
                <a:srgbClr val="FF0000"/>
              </a:solidFill>
              <a:prstDash val="solid"/>
              <a:miter lim="800000"/>
              <a:tailEnd type="triangle" w="sm" len="sm"/>
            </a:ln>
            <a:effectLst/>
          </p:spPr>
        </p:cxnSp>
        <p:cxnSp>
          <p:nvCxnSpPr>
            <p:cNvPr id="713" name="연결선: 꺾임 854">
              <a:extLst>
                <a:ext uri="{FF2B5EF4-FFF2-40B4-BE49-F238E27FC236}">
                  <a16:creationId xmlns:a16="http://schemas.microsoft.com/office/drawing/2014/main" id="{E3820778-D09C-C8A7-3FCD-92B078B007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5869" y="2260610"/>
              <a:ext cx="1287878" cy="90009"/>
            </a:xfrm>
            <a:prstGeom prst="bentConnector3">
              <a:avLst/>
            </a:prstGeom>
            <a:noFill/>
            <a:ln w="635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  <a:tailEnd type="triangle" w="sm" len="sm"/>
            </a:ln>
            <a:effectLst/>
          </p:spPr>
        </p:cxnSp>
      </p:grpSp>
      <p:grpSp>
        <p:nvGrpSpPr>
          <p:cNvPr id="735" name="그룹 734">
            <a:extLst>
              <a:ext uri="{FF2B5EF4-FFF2-40B4-BE49-F238E27FC236}">
                <a16:creationId xmlns:a16="http://schemas.microsoft.com/office/drawing/2014/main" id="{1D751910-E826-A017-8C66-CE19B195F250}"/>
              </a:ext>
            </a:extLst>
          </p:cNvPr>
          <p:cNvGrpSpPr/>
          <p:nvPr/>
        </p:nvGrpSpPr>
        <p:grpSpPr>
          <a:xfrm>
            <a:off x="3944567" y="2561531"/>
            <a:ext cx="3404257" cy="1001080"/>
            <a:chOff x="782745" y="1488219"/>
            <a:chExt cx="3404257" cy="1001080"/>
          </a:xfrm>
        </p:grpSpPr>
        <p:sp>
          <p:nvSpPr>
            <p:cNvPr id="736" name="모서리가 둥근 직사각형 146">
              <a:extLst>
                <a:ext uri="{FF2B5EF4-FFF2-40B4-BE49-F238E27FC236}">
                  <a16:creationId xmlns:a16="http://schemas.microsoft.com/office/drawing/2014/main" id="{A3A937FB-3009-E528-D107-022BDA575475}"/>
                </a:ext>
              </a:extLst>
            </p:cNvPr>
            <p:cNvSpPr/>
            <p:nvPr/>
          </p:nvSpPr>
          <p:spPr>
            <a:xfrm>
              <a:off x="844651" y="1573681"/>
              <a:ext cx="3270149" cy="845267"/>
            </a:xfrm>
            <a:prstGeom prst="roundRect">
              <a:avLst>
                <a:gd name="adj" fmla="val 0"/>
              </a:avLst>
            </a:prstGeom>
            <a:solidFill>
              <a:srgbClr val="D4E3F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737" name="모서리가 둥근 직사각형 43">
              <a:extLst>
                <a:ext uri="{FF2B5EF4-FFF2-40B4-BE49-F238E27FC236}">
                  <a16:creationId xmlns:a16="http://schemas.microsoft.com/office/drawing/2014/main" id="{DBBD13A0-9D24-C796-ECF3-9912DB05D1DF}"/>
                </a:ext>
              </a:extLst>
            </p:cNvPr>
            <p:cNvSpPr/>
            <p:nvPr/>
          </p:nvSpPr>
          <p:spPr>
            <a:xfrm>
              <a:off x="782745" y="1488219"/>
              <a:ext cx="3404257" cy="1001080"/>
            </a:xfrm>
            <a:prstGeom prst="roundRect">
              <a:avLst>
                <a:gd name="adj" fmla="val 4458"/>
              </a:avLst>
            </a:prstGeom>
            <a:noFill/>
            <a:ln w="19050" cap="flat" cmpd="sng" algn="ctr">
              <a:solidFill>
                <a:srgbClr val="718BC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grpSp>
          <p:nvGrpSpPr>
            <p:cNvPr id="738" name="그룹 737">
              <a:extLst>
                <a:ext uri="{FF2B5EF4-FFF2-40B4-BE49-F238E27FC236}">
                  <a16:creationId xmlns:a16="http://schemas.microsoft.com/office/drawing/2014/main" id="{7D0038A4-EDDB-6223-EB2E-60EECE3C9833}"/>
                </a:ext>
              </a:extLst>
            </p:cNvPr>
            <p:cNvGrpSpPr/>
            <p:nvPr/>
          </p:nvGrpSpPr>
          <p:grpSpPr>
            <a:xfrm>
              <a:off x="890294" y="2042096"/>
              <a:ext cx="951534" cy="380908"/>
              <a:chOff x="2390679" y="3043337"/>
              <a:chExt cx="898585" cy="362660"/>
            </a:xfrm>
          </p:grpSpPr>
          <p:grpSp>
            <p:nvGrpSpPr>
              <p:cNvPr id="747" name="그룹 746">
                <a:extLst>
                  <a:ext uri="{FF2B5EF4-FFF2-40B4-BE49-F238E27FC236}">
                    <a16:creationId xmlns:a16="http://schemas.microsoft.com/office/drawing/2014/main" id="{DD1FC377-7221-B694-5F86-A7478A08EF3B}"/>
                  </a:ext>
                </a:extLst>
              </p:cNvPr>
              <p:cNvGrpSpPr/>
              <p:nvPr/>
            </p:nvGrpSpPr>
            <p:grpSpPr>
              <a:xfrm>
                <a:off x="2548087" y="3043337"/>
                <a:ext cx="741177" cy="225928"/>
                <a:chOff x="2638426" y="6588126"/>
                <a:chExt cx="2890392" cy="881063"/>
              </a:xfrm>
              <a:solidFill>
                <a:srgbClr val="718BC5"/>
              </a:solidFill>
            </p:grpSpPr>
            <p:sp>
              <p:nvSpPr>
                <p:cNvPr id="749" name="Freeform 401">
                  <a:extLst>
                    <a:ext uri="{FF2B5EF4-FFF2-40B4-BE49-F238E27FC236}">
                      <a16:creationId xmlns:a16="http://schemas.microsoft.com/office/drawing/2014/main" id="{8B7E92E7-FCBD-EDC9-ADE2-23D42A2F183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727326" y="6588126"/>
                  <a:ext cx="690563" cy="881063"/>
                </a:xfrm>
                <a:custGeom>
                  <a:avLst/>
                  <a:gdLst>
                    <a:gd name="T0" fmla="*/ 1209 w 1209"/>
                    <a:gd name="T1" fmla="*/ 1261 h 1544"/>
                    <a:gd name="T2" fmla="*/ 1209 w 1209"/>
                    <a:gd name="T3" fmla="*/ 25 h 1544"/>
                    <a:gd name="T4" fmla="*/ 1184 w 1209"/>
                    <a:gd name="T5" fmla="*/ 0 h 1544"/>
                    <a:gd name="T6" fmla="*/ 26 w 1209"/>
                    <a:gd name="T7" fmla="*/ 0 h 1544"/>
                    <a:gd name="T8" fmla="*/ 0 w 1209"/>
                    <a:gd name="T9" fmla="*/ 25 h 1544"/>
                    <a:gd name="T10" fmla="*/ 0 w 1209"/>
                    <a:gd name="T11" fmla="*/ 386 h 1544"/>
                    <a:gd name="T12" fmla="*/ 51 w 1209"/>
                    <a:gd name="T13" fmla="*/ 386 h 1544"/>
                    <a:gd name="T14" fmla="*/ 51 w 1209"/>
                    <a:gd name="T15" fmla="*/ 51 h 1544"/>
                    <a:gd name="T16" fmla="*/ 1158 w 1209"/>
                    <a:gd name="T17" fmla="*/ 51 h 1544"/>
                    <a:gd name="T18" fmla="*/ 1158 w 1209"/>
                    <a:gd name="T19" fmla="*/ 1235 h 1544"/>
                    <a:gd name="T20" fmla="*/ 926 w 1209"/>
                    <a:gd name="T21" fmla="*/ 1235 h 1544"/>
                    <a:gd name="T22" fmla="*/ 901 w 1209"/>
                    <a:gd name="T23" fmla="*/ 1261 h 1544"/>
                    <a:gd name="T24" fmla="*/ 901 w 1209"/>
                    <a:gd name="T25" fmla="*/ 1492 h 1544"/>
                    <a:gd name="T26" fmla="*/ 51 w 1209"/>
                    <a:gd name="T27" fmla="*/ 1492 h 1544"/>
                    <a:gd name="T28" fmla="*/ 51 w 1209"/>
                    <a:gd name="T29" fmla="*/ 1106 h 1544"/>
                    <a:gd name="T30" fmla="*/ 0 w 1209"/>
                    <a:gd name="T31" fmla="*/ 1106 h 1544"/>
                    <a:gd name="T32" fmla="*/ 0 w 1209"/>
                    <a:gd name="T33" fmla="*/ 1518 h 1544"/>
                    <a:gd name="T34" fmla="*/ 26 w 1209"/>
                    <a:gd name="T35" fmla="*/ 1544 h 1544"/>
                    <a:gd name="T36" fmla="*/ 926 w 1209"/>
                    <a:gd name="T37" fmla="*/ 1544 h 1544"/>
                    <a:gd name="T38" fmla="*/ 944 w 1209"/>
                    <a:gd name="T39" fmla="*/ 1536 h 1544"/>
                    <a:gd name="T40" fmla="*/ 1202 w 1209"/>
                    <a:gd name="T41" fmla="*/ 1279 h 1544"/>
                    <a:gd name="T42" fmla="*/ 1207 w 1209"/>
                    <a:gd name="T43" fmla="*/ 1271 h 1544"/>
                    <a:gd name="T44" fmla="*/ 1207 w 1209"/>
                    <a:gd name="T45" fmla="*/ 1269 h 1544"/>
                    <a:gd name="T46" fmla="*/ 1209 w 1209"/>
                    <a:gd name="T47" fmla="*/ 1261 h 1544"/>
                    <a:gd name="T48" fmla="*/ 952 w 1209"/>
                    <a:gd name="T49" fmla="*/ 1286 h 1544"/>
                    <a:gd name="T50" fmla="*/ 1122 w 1209"/>
                    <a:gd name="T51" fmla="*/ 1286 h 1544"/>
                    <a:gd name="T52" fmla="*/ 952 w 1209"/>
                    <a:gd name="T53" fmla="*/ 1456 h 1544"/>
                    <a:gd name="T54" fmla="*/ 952 w 1209"/>
                    <a:gd name="T55" fmla="*/ 1286 h 1544"/>
                    <a:gd name="T56" fmla="*/ 952 w 1209"/>
                    <a:gd name="T57" fmla="*/ 1286 h 1544"/>
                    <a:gd name="T58" fmla="*/ 952 w 1209"/>
                    <a:gd name="T59" fmla="*/ 1286 h 15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1209" h="1544">
                      <a:moveTo>
                        <a:pt x="1209" y="1261"/>
                      </a:moveTo>
                      <a:cubicBezTo>
                        <a:pt x="1209" y="25"/>
                        <a:pt x="1209" y="25"/>
                        <a:pt x="1209" y="25"/>
                      </a:cubicBezTo>
                      <a:cubicBezTo>
                        <a:pt x="1209" y="10"/>
                        <a:pt x="1199" y="0"/>
                        <a:pt x="118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cubicBezTo>
                        <a:pt x="10" y="0"/>
                        <a:pt x="0" y="10"/>
                        <a:pt x="0" y="25"/>
                      </a:cubicBezTo>
                      <a:cubicBezTo>
                        <a:pt x="0" y="386"/>
                        <a:pt x="0" y="386"/>
                        <a:pt x="0" y="386"/>
                      </a:cubicBezTo>
                      <a:cubicBezTo>
                        <a:pt x="51" y="386"/>
                        <a:pt x="51" y="386"/>
                        <a:pt x="51" y="386"/>
                      </a:cubicBezTo>
                      <a:cubicBezTo>
                        <a:pt x="51" y="51"/>
                        <a:pt x="51" y="51"/>
                        <a:pt x="51" y="51"/>
                      </a:cubicBezTo>
                      <a:cubicBezTo>
                        <a:pt x="1158" y="51"/>
                        <a:pt x="1158" y="51"/>
                        <a:pt x="1158" y="51"/>
                      </a:cubicBezTo>
                      <a:cubicBezTo>
                        <a:pt x="1158" y="1235"/>
                        <a:pt x="1158" y="1235"/>
                        <a:pt x="1158" y="1235"/>
                      </a:cubicBezTo>
                      <a:cubicBezTo>
                        <a:pt x="926" y="1235"/>
                        <a:pt x="926" y="1235"/>
                        <a:pt x="926" y="1235"/>
                      </a:cubicBezTo>
                      <a:cubicBezTo>
                        <a:pt x="911" y="1235"/>
                        <a:pt x="901" y="1245"/>
                        <a:pt x="901" y="1261"/>
                      </a:cubicBezTo>
                      <a:cubicBezTo>
                        <a:pt x="901" y="1492"/>
                        <a:pt x="901" y="1492"/>
                        <a:pt x="901" y="1492"/>
                      </a:cubicBezTo>
                      <a:cubicBezTo>
                        <a:pt x="51" y="1492"/>
                        <a:pt x="51" y="1492"/>
                        <a:pt x="51" y="1492"/>
                      </a:cubicBezTo>
                      <a:cubicBezTo>
                        <a:pt x="51" y="1106"/>
                        <a:pt x="51" y="1106"/>
                        <a:pt x="51" y="1106"/>
                      </a:cubicBezTo>
                      <a:cubicBezTo>
                        <a:pt x="0" y="1106"/>
                        <a:pt x="0" y="1106"/>
                        <a:pt x="0" y="1106"/>
                      </a:cubicBezTo>
                      <a:cubicBezTo>
                        <a:pt x="0" y="1518"/>
                        <a:pt x="0" y="1518"/>
                        <a:pt x="0" y="1518"/>
                      </a:cubicBezTo>
                      <a:cubicBezTo>
                        <a:pt x="0" y="1534"/>
                        <a:pt x="10" y="1544"/>
                        <a:pt x="26" y="1544"/>
                      </a:cubicBezTo>
                      <a:cubicBezTo>
                        <a:pt x="926" y="1544"/>
                        <a:pt x="926" y="1544"/>
                        <a:pt x="926" y="1544"/>
                      </a:cubicBezTo>
                      <a:cubicBezTo>
                        <a:pt x="934" y="1544"/>
                        <a:pt x="939" y="1541"/>
                        <a:pt x="944" y="1536"/>
                      </a:cubicBezTo>
                      <a:cubicBezTo>
                        <a:pt x="1202" y="1279"/>
                        <a:pt x="1202" y="1279"/>
                        <a:pt x="1202" y="1279"/>
                      </a:cubicBezTo>
                      <a:cubicBezTo>
                        <a:pt x="1204" y="1276"/>
                        <a:pt x="1204" y="1274"/>
                        <a:pt x="1207" y="1271"/>
                      </a:cubicBezTo>
                      <a:cubicBezTo>
                        <a:pt x="1207" y="1269"/>
                        <a:pt x="1207" y="1269"/>
                        <a:pt x="1207" y="1269"/>
                      </a:cubicBezTo>
                      <a:cubicBezTo>
                        <a:pt x="1209" y="1266"/>
                        <a:pt x="1209" y="1263"/>
                        <a:pt x="1209" y="1261"/>
                      </a:cubicBezTo>
                      <a:close/>
                      <a:moveTo>
                        <a:pt x="952" y="1286"/>
                      </a:moveTo>
                      <a:cubicBezTo>
                        <a:pt x="1122" y="1286"/>
                        <a:pt x="1122" y="1286"/>
                        <a:pt x="1122" y="1286"/>
                      </a:cubicBezTo>
                      <a:cubicBezTo>
                        <a:pt x="952" y="1456"/>
                        <a:pt x="952" y="1456"/>
                        <a:pt x="952" y="1456"/>
                      </a:cubicBezTo>
                      <a:lnTo>
                        <a:pt x="952" y="1286"/>
                      </a:lnTo>
                      <a:close/>
                      <a:moveTo>
                        <a:pt x="952" y="1286"/>
                      </a:moveTo>
                      <a:cubicBezTo>
                        <a:pt x="952" y="1286"/>
                        <a:pt x="952" y="1286"/>
                        <a:pt x="952" y="1286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750" name="Freeform 402">
                  <a:extLst>
                    <a:ext uri="{FF2B5EF4-FFF2-40B4-BE49-F238E27FC236}">
                      <a16:creationId xmlns:a16="http://schemas.microsoft.com/office/drawing/2014/main" id="{AA3E829A-FAF7-42FB-B411-95900652EA4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638426" y="6823076"/>
                  <a:ext cx="338138" cy="323850"/>
                </a:xfrm>
                <a:custGeom>
                  <a:avLst/>
                  <a:gdLst>
                    <a:gd name="T0" fmla="*/ 334 w 591"/>
                    <a:gd name="T1" fmla="*/ 567 h 567"/>
                    <a:gd name="T2" fmla="*/ 591 w 591"/>
                    <a:gd name="T3" fmla="*/ 567 h 567"/>
                    <a:gd name="T4" fmla="*/ 591 w 591"/>
                    <a:gd name="T5" fmla="*/ 515 h 567"/>
                    <a:gd name="T6" fmla="*/ 514 w 591"/>
                    <a:gd name="T7" fmla="*/ 515 h 567"/>
                    <a:gd name="T8" fmla="*/ 514 w 591"/>
                    <a:gd name="T9" fmla="*/ 26 h 567"/>
                    <a:gd name="T10" fmla="*/ 488 w 591"/>
                    <a:gd name="T11" fmla="*/ 0 h 567"/>
                    <a:gd name="T12" fmla="*/ 334 w 591"/>
                    <a:gd name="T13" fmla="*/ 0 h 567"/>
                    <a:gd name="T14" fmla="*/ 308 w 591"/>
                    <a:gd name="T15" fmla="*/ 26 h 567"/>
                    <a:gd name="T16" fmla="*/ 308 w 591"/>
                    <a:gd name="T17" fmla="*/ 181 h 567"/>
                    <a:gd name="T18" fmla="*/ 180 w 591"/>
                    <a:gd name="T19" fmla="*/ 181 h 567"/>
                    <a:gd name="T20" fmla="*/ 154 w 591"/>
                    <a:gd name="T21" fmla="*/ 206 h 567"/>
                    <a:gd name="T22" fmla="*/ 154 w 591"/>
                    <a:gd name="T23" fmla="*/ 309 h 567"/>
                    <a:gd name="T24" fmla="*/ 25 w 591"/>
                    <a:gd name="T25" fmla="*/ 309 h 567"/>
                    <a:gd name="T26" fmla="*/ 0 w 591"/>
                    <a:gd name="T27" fmla="*/ 335 h 567"/>
                    <a:gd name="T28" fmla="*/ 0 w 591"/>
                    <a:gd name="T29" fmla="*/ 541 h 567"/>
                    <a:gd name="T30" fmla="*/ 25 w 591"/>
                    <a:gd name="T31" fmla="*/ 567 h 567"/>
                    <a:gd name="T32" fmla="*/ 334 w 591"/>
                    <a:gd name="T33" fmla="*/ 567 h 567"/>
                    <a:gd name="T34" fmla="*/ 360 w 591"/>
                    <a:gd name="T35" fmla="*/ 52 h 567"/>
                    <a:gd name="T36" fmla="*/ 463 w 591"/>
                    <a:gd name="T37" fmla="*/ 52 h 567"/>
                    <a:gd name="T38" fmla="*/ 463 w 591"/>
                    <a:gd name="T39" fmla="*/ 515 h 567"/>
                    <a:gd name="T40" fmla="*/ 360 w 591"/>
                    <a:gd name="T41" fmla="*/ 515 h 567"/>
                    <a:gd name="T42" fmla="*/ 360 w 591"/>
                    <a:gd name="T43" fmla="*/ 52 h 567"/>
                    <a:gd name="T44" fmla="*/ 205 w 591"/>
                    <a:gd name="T45" fmla="*/ 232 h 567"/>
                    <a:gd name="T46" fmla="*/ 308 w 591"/>
                    <a:gd name="T47" fmla="*/ 232 h 567"/>
                    <a:gd name="T48" fmla="*/ 308 w 591"/>
                    <a:gd name="T49" fmla="*/ 515 h 567"/>
                    <a:gd name="T50" fmla="*/ 205 w 591"/>
                    <a:gd name="T51" fmla="*/ 515 h 567"/>
                    <a:gd name="T52" fmla="*/ 205 w 591"/>
                    <a:gd name="T53" fmla="*/ 232 h 567"/>
                    <a:gd name="T54" fmla="*/ 51 w 591"/>
                    <a:gd name="T55" fmla="*/ 361 h 567"/>
                    <a:gd name="T56" fmla="*/ 154 w 591"/>
                    <a:gd name="T57" fmla="*/ 361 h 567"/>
                    <a:gd name="T58" fmla="*/ 154 w 591"/>
                    <a:gd name="T59" fmla="*/ 515 h 567"/>
                    <a:gd name="T60" fmla="*/ 51 w 591"/>
                    <a:gd name="T61" fmla="*/ 515 h 567"/>
                    <a:gd name="T62" fmla="*/ 51 w 591"/>
                    <a:gd name="T63" fmla="*/ 361 h 567"/>
                    <a:gd name="T64" fmla="*/ 51 w 591"/>
                    <a:gd name="T65" fmla="*/ 361 h 567"/>
                    <a:gd name="T66" fmla="*/ 51 w 591"/>
                    <a:gd name="T67" fmla="*/ 361 h 5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591" h="567">
                      <a:moveTo>
                        <a:pt x="334" y="567"/>
                      </a:moveTo>
                      <a:cubicBezTo>
                        <a:pt x="591" y="567"/>
                        <a:pt x="591" y="567"/>
                        <a:pt x="591" y="567"/>
                      </a:cubicBezTo>
                      <a:cubicBezTo>
                        <a:pt x="591" y="515"/>
                        <a:pt x="591" y="515"/>
                        <a:pt x="591" y="515"/>
                      </a:cubicBezTo>
                      <a:cubicBezTo>
                        <a:pt x="514" y="515"/>
                        <a:pt x="514" y="515"/>
                        <a:pt x="514" y="515"/>
                      </a:cubicBezTo>
                      <a:cubicBezTo>
                        <a:pt x="514" y="26"/>
                        <a:pt x="514" y="26"/>
                        <a:pt x="514" y="26"/>
                      </a:cubicBezTo>
                      <a:cubicBezTo>
                        <a:pt x="514" y="11"/>
                        <a:pt x="504" y="0"/>
                        <a:pt x="488" y="0"/>
                      </a:cubicBezTo>
                      <a:cubicBezTo>
                        <a:pt x="334" y="0"/>
                        <a:pt x="334" y="0"/>
                        <a:pt x="334" y="0"/>
                      </a:cubicBezTo>
                      <a:cubicBezTo>
                        <a:pt x="319" y="0"/>
                        <a:pt x="308" y="11"/>
                        <a:pt x="308" y="26"/>
                      </a:cubicBezTo>
                      <a:cubicBezTo>
                        <a:pt x="308" y="181"/>
                        <a:pt x="308" y="181"/>
                        <a:pt x="308" y="181"/>
                      </a:cubicBezTo>
                      <a:cubicBezTo>
                        <a:pt x="180" y="181"/>
                        <a:pt x="180" y="181"/>
                        <a:pt x="180" y="181"/>
                      </a:cubicBezTo>
                      <a:cubicBezTo>
                        <a:pt x="164" y="181"/>
                        <a:pt x="154" y="191"/>
                        <a:pt x="154" y="206"/>
                      </a:cubicBezTo>
                      <a:cubicBezTo>
                        <a:pt x="154" y="309"/>
                        <a:pt x="154" y="309"/>
                        <a:pt x="154" y="309"/>
                      </a:cubicBezTo>
                      <a:cubicBezTo>
                        <a:pt x="25" y="309"/>
                        <a:pt x="25" y="309"/>
                        <a:pt x="25" y="309"/>
                      </a:cubicBezTo>
                      <a:cubicBezTo>
                        <a:pt x="10" y="309"/>
                        <a:pt x="0" y="320"/>
                        <a:pt x="0" y="335"/>
                      </a:cubicBezTo>
                      <a:cubicBezTo>
                        <a:pt x="0" y="541"/>
                        <a:pt x="0" y="541"/>
                        <a:pt x="0" y="541"/>
                      </a:cubicBezTo>
                      <a:cubicBezTo>
                        <a:pt x="0" y="556"/>
                        <a:pt x="10" y="567"/>
                        <a:pt x="25" y="567"/>
                      </a:cubicBezTo>
                      <a:lnTo>
                        <a:pt x="334" y="567"/>
                      </a:lnTo>
                      <a:close/>
                      <a:moveTo>
                        <a:pt x="360" y="52"/>
                      </a:moveTo>
                      <a:cubicBezTo>
                        <a:pt x="463" y="52"/>
                        <a:pt x="463" y="52"/>
                        <a:pt x="463" y="52"/>
                      </a:cubicBezTo>
                      <a:cubicBezTo>
                        <a:pt x="463" y="515"/>
                        <a:pt x="463" y="515"/>
                        <a:pt x="463" y="515"/>
                      </a:cubicBezTo>
                      <a:cubicBezTo>
                        <a:pt x="360" y="515"/>
                        <a:pt x="360" y="515"/>
                        <a:pt x="360" y="515"/>
                      </a:cubicBezTo>
                      <a:lnTo>
                        <a:pt x="360" y="52"/>
                      </a:lnTo>
                      <a:close/>
                      <a:moveTo>
                        <a:pt x="205" y="232"/>
                      </a:moveTo>
                      <a:cubicBezTo>
                        <a:pt x="308" y="232"/>
                        <a:pt x="308" y="232"/>
                        <a:pt x="308" y="232"/>
                      </a:cubicBezTo>
                      <a:cubicBezTo>
                        <a:pt x="308" y="515"/>
                        <a:pt x="308" y="515"/>
                        <a:pt x="308" y="515"/>
                      </a:cubicBezTo>
                      <a:cubicBezTo>
                        <a:pt x="205" y="515"/>
                        <a:pt x="205" y="515"/>
                        <a:pt x="205" y="515"/>
                      </a:cubicBezTo>
                      <a:lnTo>
                        <a:pt x="205" y="232"/>
                      </a:lnTo>
                      <a:close/>
                      <a:moveTo>
                        <a:pt x="51" y="361"/>
                      </a:moveTo>
                      <a:cubicBezTo>
                        <a:pt x="154" y="361"/>
                        <a:pt x="154" y="361"/>
                        <a:pt x="154" y="361"/>
                      </a:cubicBezTo>
                      <a:cubicBezTo>
                        <a:pt x="154" y="515"/>
                        <a:pt x="154" y="515"/>
                        <a:pt x="154" y="515"/>
                      </a:cubicBezTo>
                      <a:cubicBezTo>
                        <a:pt x="51" y="515"/>
                        <a:pt x="51" y="515"/>
                        <a:pt x="51" y="515"/>
                      </a:cubicBezTo>
                      <a:lnTo>
                        <a:pt x="51" y="361"/>
                      </a:lnTo>
                      <a:close/>
                      <a:moveTo>
                        <a:pt x="51" y="361"/>
                      </a:moveTo>
                      <a:cubicBezTo>
                        <a:pt x="51" y="361"/>
                        <a:pt x="51" y="361"/>
                        <a:pt x="51" y="361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751" name="Freeform 403">
                  <a:extLst>
                    <a:ext uri="{FF2B5EF4-FFF2-40B4-BE49-F238E27FC236}">
                      <a16:creationId xmlns:a16="http://schemas.microsoft.com/office/drawing/2014/main" id="{0C90214F-303F-44ED-B256-009EF3E5C45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990851" y="6675438"/>
                  <a:ext cx="338138" cy="279400"/>
                </a:xfrm>
                <a:custGeom>
                  <a:avLst/>
                  <a:gdLst>
                    <a:gd name="T0" fmla="*/ 592 w 592"/>
                    <a:gd name="T1" fmla="*/ 463 h 489"/>
                    <a:gd name="T2" fmla="*/ 592 w 592"/>
                    <a:gd name="T3" fmla="*/ 26 h 489"/>
                    <a:gd name="T4" fmla="*/ 566 w 592"/>
                    <a:gd name="T5" fmla="*/ 0 h 489"/>
                    <a:gd name="T6" fmla="*/ 26 w 592"/>
                    <a:gd name="T7" fmla="*/ 0 h 489"/>
                    <a:gd name="T8" fmla="*/ 0 w 592"/>
                    <a:gd name="T9" fmla="*/ 26 h 489"/>
                    <a:gd name="T10" fmla="*/ 0 w 592"/>
                    <a:gd name="T11" fmla="*/ 463 h 489"/>
                    <a:gd name="T12" fmla="*/ 26 w 592"/>
                    <a:gd name="T13" fmla="*/ 489 h 489"/>
                    <a:gd name="T14" fmla="*/ 566 w 592"/>
                    <a:gd name="T15" fmla="*/ 489 h 489"/>
                    <a:gd name="T16" fmla="*/ 592 w 592"/>
                    <a:gd name="T17" fmla="*/ 463 h 489"/>
                    <a:gd name="T18" fmla="*/ 541 w 592"/>
                    <a:gd name="T19" fmla="*/ 155 h 489"/>
                    <a:gd name="T20" fmla="*/ 232 w 592"/>
                    <a:gd name="T21" fmla="*/ 155 h 489"/>
                    <a:gd name="T22" fmla="*/ 232 w 592"/>
                    <a:gd name="T23" fmla="*/ 51 h 489"/>
                    <a:gd name="T24" fmla="*/ 541 w 592"/>
                    <a:gd name="T25" fmla="*/ 51 h 489"/>
                    <a:gd name="T26" fmla="*/ 541 w 592"/>
                    <a:gd name="T27" fmla="*/ 155 h 489"/>
                    <a:gd name="T28" fmla="*/ 180 w 592"/>
                    <a:gd name="T29" fmla="*/ 51 h 489"/>
                    <a:gd name="T30" fmla="*/ 180 w 592"/>
                    <a:gd name="T31" fmla="*/ 155 h 489"/>
                    <a:gd name="T32" fmla="*/ 52 w 592"/>
                    <a:gd name="T33" fmla="*/ 155 h 489"/>
                    <a:gd name="T34" fmla="*/ 52 w 592"/>
                    <a:gd name="T35" fmla="*/ 51 h 489"/>
                    <a:gd name="T36" fmla="*/ 180 w 592"/>
                    <a:gd name="T37" fmla="*/ 51 h 489"/>
                    <a:gd name="T38" fmla="*/ 52 w 592"/>
                    <a:gd name="T39" fmla="*/ 206 h 489"/>
                    <a:gd name="T40" fmla="*/ 180 w 592"/>
                    <a:gd name="T41" fmla="*/ 206 h 489"/>
                    <a:gd name="T42" fmla="*/ 180 w 592"/>
                    <a:gd name="T43" fmla="*/ 438 h 489"/>
                    <a:gd name="T44" fmla="*/ 52 w 592"/>
                    <a:gd name="T45" fmla="*/ 438 h 489"/>
                    <a:gd name="T46" fmla="*/ 52 w 592"/>
                    <a:gd name="T47" fmla="*/ 206 h 489"/>
                    <a:gd name="T48" fmla="*/ 232 w 592"/>
                    <a:gd name="T49" fmla="*/ 438 h 489"/>
                    <a:gd name="T50" fmla="*/ 232 w 592"/>
                    <a:gd name="T51" fmla="*/ 206 h 489"/>
                    <a:gd name="T52" fmla="*/ 541 w 592"/>
                    <a:gd name="T53" fmla="*/ 206 h 489"/>
                    <a:gd name="T54" fmla="*/ 541 w 592"/>
                    <a:gd name="T55" fmla="*/ 438 h 489"/>
                    <a:gd name="T56" fmla="*/ 232 w 592"/>
                    <a:gd name="T57" fmla="*/ 438 h 489"/>
                    <a:gd name="T58" fmla="*/ 232 w 592"/>
                    <a:gd name="T59" fmla="*/ 438 h 489"/>
                    <a:gd name="T60" fmla="*/ 232 w 592"/>
                    <a:gd name="T61" fmla="*/ 438 h 4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592" h="489">
                      <a:moveTo>
                        <a:pt x="592" y="463"/>
                      </a:moveTo>
                      <a:cubicBezTo>
                        <a:pt x="592" y="26"/>
                        <a:pt x="592" y="26"/>
                        <a:pt x="592" y="26"/>
                      </a:cubicBezTo>
                      <a:cubicBezTo>
                        <a:pt x="592" y="10"/>
                        <a:pt x="582" y="0"/>
                        <a:pt x="566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cubicBezTo>
                        <a:pt x="10" y="0"/>
                        <a:pt x="0" y="10"/>
                        <a:pt x="0" y="26"/>
                      </a:cubicBezTo>
                      <a:cubicBezTo>
                        <a:pt x="0" y="463"/>
                        <a:pt x="0" y="463"/>
                        <a:pt x="0" y="463"/>
                      </a:cubicBezTo>
                      <a:cubicBezTo>
                        <a:pt x="0" y="479"/>
                        <a:pt x="10" y="489"/>
                        <a:pt x="26" y="489"/>
                      </a:cubicBezTo>
                      <a:cubicBezTo>
                        <a:pt x="566" y="489"/>
                        <a:pt x="566" y="489"/>
                        <a:pt x="566" y="489"/>
                      </a:cubicBezTo>
                      <a:cubicBezTo>
                        <a:pt x="582" y="489"/>
                        <a:pt x="592" y="479"/>
                        <a:pt x="592" y="463"/>
                      </a:cubicBezTo>
                      <a:close/>
                      <a:moveTo>
                        <a:pt x="541" y="155"/>
                      </a:moveTo>
                      <a:cubicBezTo>
                        <a:pt x="232" y="155"/>
                        <a:pt x="232" y="155"/>
                        <a:pt x="232" y="155"/>
                      </a:cubicBezTo>
                      <a:cubicBezTo>
                        <a:pt x="232" y="51"/>
                        <a:pt x="232" y="51"/>
                        <a:pt x="232" y="51"/>
                      </a:cubicBezTo>
                      <a:cubicBezTo>
                        <a:pt x="541" y="51"/>
                        <a:pt x="541" y="51"/>
                        <a:pt x="541" y="51"/>
                      </a:cubicBezTo>
                      <a:lnTo>
                        <a:pt x="541" y="155"/>
                      </a:lnTo>
                      <a:close/>
                      <a:moveTo>
                        <a:pt x="180" y="51"/>
                      </a:moveTo>
                      <a:cubicBezTo>
                        <a:pt x="180" y="155"/>
                        <a:pt x="180" y="155"/>
                        <a:pt x="180" y="155"/>
                      </a:cubicBezTo>
                      <a:cubicBezTo>
                        <a:pt x="52" y="155"/>
                        <a:pt x="52" y="155"/>
                        <a:pt x="52" y="155"/>
                      </a:cubicBezTo>
                      <a:cubicBezTo>
                        <a:pt x="52" y="51"/>
                        <a:pt x="52" y="51"/>
                        <a:pt x="52" y="51"/>
                      </a:cubicBezTo>
                      <a:lnTo>
                        <a:pt x="180" y="51"/>
                      </a:lnTo>
                      <a:close/>
                      <a:moveTo>
                        <a:pt x="52" y="206"/>
                      </a:moveTo>
                      <a:cubicBezTo>
                        <a:pt x="180" y="206"/>
                        <a:pt x="180" y="206"/>
                        <a:pt x="180" y="206"/>
                      </a:cubicBezTo>
                      <a:cubicBezTo>
                        <a:pt x="180" y="438"/>
                        <a:pt x="180" y="438"/>
                        <a:pt x="180" y="438"/>
                      </a:cubicBezTo>
                      <a:cubicBezTo>
                        <a:pt x="52" y="438"/>
                        <a:pt x="52" y="438"/>
                        <a:pt x="52" y="438"/>
                      </a:cubicBezTo>
                      <a:lnTo>
                        <a:pt x="52" y="206"/>
                      </a:lnTo>
                      <a:close/>
                      <a:moveTo>
                        <a:pt x="232" y="438"/>
                      </a:moveTo>
                      <a:cubicBezTo>
                        <a:pt x="232" y="206"/>
                        <a:pt x="232" y="206"/>
                        <a:pt x="232" y="206"/>
                      </a:cubicBezTo>
                      <a:cubicBezTo>
                        <a:pt x="541" y="206"/>
                        <a:pt x="541" y="206"/>
                        <a:pt x="541" y="206"/>
                      </a:cubicBezTo>
                      <a:cubicBezTo>
                        <a:pt x="541" y="438"/>
                        <a:pt x="541" y="438"/>
                        <a:pt x="541" y="438"/>
                      </a:cubicBezTo>
                      <a:lnTo>
                        <a:pt x="232" y="438"/>
                      </a:lnTo>
                      <a:close/>
                      <a:moveTo>
                        <a:pt x="232" y="438"/>
                      </a:moveTo>
                      <a:cubicBezTo>
                        <a:pt x="232" y="438"/>
                        <a:pt x="232" y="438"/>
                        <a:pt x="232" y="438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752" name="Rectangle 404">
                  <a:extLst>
                    <a:ext uri="{FF2B5EF4-FFF2-40B4-BE49-F238E27FC236}">
                      <a16:creationId xmlns:a16="http://schemas.microsoft.com/office/drawing/2014/main" id="{83ADE0BE-5F30-5D83-36A7-AADC7628DC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06726" y="6999288"/>
                  <a:ext cx="307975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753" name="Rectangle 405">
                  <a:extLst>
                    <a:ext uri="{FF2B5EF4-FFF2-40B4-BE49-F238E27FC236}">
                      <a16:creationId xmlns:a16="http://schemas.microsoft.com/office/drawing/2014/main" id="{23AE21B3-FA24-A316-F66F-9176E14D84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06726" y="7072313"/>
                  <a:ext cx="307975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754" name="Rectangle 407">
                  <a:extLst>
                    <a:ext uri="{FF2B5EF4-FFF2-40B4-BE49-F238E27FC236}">
                      <a16:creationId xmlns:a16="http://schemas.microsoft.com/office/drawing/2014/main" id="{A09F2056-21EE-5ECA-1254-E685F3CAC4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06725" y="7146926"/>
                  <a:ext cx="307975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755" name="Rectangle 408">
                  <a:extLst>
                    <a:ext uri="{FF2B5EF4-FFF2-40B4-BE49-F238E27FC236}">
                      <a16:creationId xmlns:a16="http://schemas.microsoft.com/office/drawing/2014/main" id="{090C80FF-FE6C-55C7-C50C-2F976FA2E3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00350" y="6675438"/>
                  <a:ext cx="88900" cy="3016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756" name="Rectangle 409">
                  <a:extLst>
                    <a:ext uri="{FF2B5EF4-FFF2-40B4-BE49-F238E27FC236}">
                      <a16:creationId xmlns:a16="http://schemas.microsoft.com/office/drawing/2014/main" id="{F36968EC-FF13-5759-22AE-BA92180B28B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97054" y="6753303"/>
                  <a:ext cx="131764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757" name="Rectangle 410">
                  <a:extLst>
                    <a:ext uri="{FF2B5EF4-FFF2-40B4-BE49-F238E27FC236}">
                      <a16:creationId xmlns:a16="http://schemas.microsoft.com/office/drawing/2014/main" id="{8A80EB22-A2ED-5251-94CE-EED3CBB46A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00350" y="7219951"/>
                  <a:ext cx="103188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758" name="Rectangle 411">
                  <a:extLst>
                    <a:ext uri="{FF2B5EF4-FFF2-40B4-BE49-F238E27FC236}">
                      <a16:creationId xmlns:a16="http://schemas.microsoft.com/office/drawing/2014/main" id="{AB3B47D0-9024-A0D5-AE25-BBDDFAA717F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47988" y="7219951"/>
                  <a:ext cx="101600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759" name="Rectangle 412">
                  <a:extLst>
                    <a:ext uri="{FF2B5EF4-FFF2-40B4-BE49-F238E27FC236}">
                      <a16:creationId xmlns:a16="http://schemas.microsoft.com/office/drawing/2014/main" id="{13CF508D-377C-31CE-7D19-0E854E0296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94038" y="7219951"/>
                  <a:ext cx="103188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760" name="Rectangle 413">
                  <a:extLst>
                    <a:ext uri="{FF2B5EF4-FFF2-40B4-BE49-F238E27FC236}">
                      <a16:creationId xmlns:a16="http://schemas.microsoft.com/office/drawing/2014/main" id="{B7FE0633-D110-B3BA-0DD3-1F602B65BC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00350" y="7292976"/>
                  <a:ext cx="103188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761" name="Rectangle 414">
                  <a:extLst>
                    <a:ext uri="{FF2B5EF4-FFF2-40B4-BE49-F238E27FC236}">
                      <a16:creationId xmlns:a16="http://schemas.microsoft.com/office/drawing/2014/main" id="{41400326-466B-4E17-5560-3251334021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47988" y="7292976"/>
                  <a:ext cx="101600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762" name="Rectangle 415">
                  <a:extLst>
                    <a:ext uri="{FF2B5EF4-FFF2-40B4-BE49-F238E27FC236}">
                      <a16:creationId xmlns:a16="http://schemas.microsoft.com/office/drawing/2014/main" id="{C6724713-3B78-6BF5-EFE8-7844D8BD77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94038" y="7292976"/>
                  <a:ext cx="103188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763" name="Rectangle 416">
                  <a:extLst>
                    <a:ext uri="{FF2B5EF4-FFF2-40B4-BE49-F238E27FC236}">
                      <a16:creationId xmlns:a16="http://schemas.microsoft.com/office/drawing/2014/main" id="{454113A3-1DCE-E041-6AD9-E05BFC541C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00350" y="7366001"/>
                  <a:ext cx="103188" cy="3016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764" name="Rectangle 417">
                  <a:extLst>
                    <a:ext uri="{FF2B5EF4-FFF2-40B4-BE49-F238E27FC236}">
                      <a16:creationId xmlns:a16="http://schemas.microsoft.com/office/drawing/2014/main" id="{3A7B9C21-9E40-A026-A5E1-A60F36D35B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47988" y="7366001"/>
                  <a:ext cx="101600" cy="3016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765" name="Rectangle 418">
                  <a:extLst>
                    <a:ext uri="{FF2B5EF4-FFF2-40B4-BE49-F238E27FC236}">
                      <a16:creationId xmlns:a16="http://schemas.microsoft.com/office/drawing/2014/main" id="{ED4AD36D-6F36-A158-1979-07C3C65E77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94038" y="7366001"/>
                  <a:ext cx="103188" cy="3016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</p:grpSp>
          <p:sp>
            <p:nvSpPr>
              <p:cNvPr id="748" name="직사각형 12">
                <a:extLst>
                  <a:ext uri="{FF2B5EF4-FFF2-40B4-BE49-F238E27FC236}">
                    <a16:creationId xmlns:a16="http://schemas.microsoft.com/office/drawing/2014/main" id="{9C2C22CB-207B-BBC5-7816-50B9ADADCF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0679" y="3274133"/>
                <a:ext cx="514694" cy="131864"/>
              </a:xfrm>
              <a:prstGeom prst="rect">
                <a:avLst/>
              </a:prstGeom>
              <a:solidFill>
                <a:srgbClr val="70AD47"/>
              </a:solidFill>
              <a:ln w="12700" cap="flat" cmpd="sng" algn="ctr">
                <a:solidFill>
                  <a:srgbClr val="70AD47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wrap="non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5pPr>
                <a:lvl6pPr marL="2514600" indent="-228600" defTabSz="890588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6pPr>
                <a:lvl7pPr marL="2971800" indent="-228600" defTabSz="890588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7pPr>
                <a:lvl8pPr marL="3429000" indent="-228600" defTabSz="890588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8pPr>
                <a:lvl9pPr marL="3886200" indent="-228600" defTabSz="890588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9pPr>
              </a:lstStyle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0" cap="none" spc="-50" normalizeH="0" baseline="0" noProof="0" dirty="0">
                    <a:ln>
                      <a:solidFill>
                        <a:prstClr val="white">
                          <a:alpha val="500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메타테이블</a:t>
                </a:r>
                <a:endParaRPr kumimoji="0" lang="en-US" altLang="ko-KR" sz="900" b="0" i="0" u="none" strike="noStrike" kern="0" cap="none" spc="-50" normalizeH="0" baseline="0" noProof="0" dirty="0">
                  <a:ln>
                    <a:solidFill>
                      <a:prstClr val="white">
                        <a:alpha val="500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endParaRPr>
              </a:p>
            </p:txBody>
          </p:sp>
        </p:grpSp>
        <p:sp>
          <p:nvSpPr>
            <p:cNvPr id="739" name="직사각형 738">
              <a:extLst>
                <a:ext uri="{FF2B5EF4-FFF2-40B4-BE49-F238E27FC236}">
                  <a16:creationId xmlns:a16="http://schemas.microsoft.com/office/drawing/2014/main" id="{5581B317-BA95-2C1F-37A6-D628C95A541E}"/>
                </a:ext>
              </a:extLst>
            </p:cNvPr>
            <p:cNvSpPr/>
            <p:nvPr/>
          </p:nvSpPr>
          <p:spPr>
            <a:xfrm>
              <a:off x="2793094" y="1659340"/>
              <a:ext cx="1230063" cy="714662"/>
            </a:xfrm>
            <a:prstGeom prst="rect">
              <a:avLst/>
            </a:prstGeom>
            <a:solidFill>
              <a:srgbClr val="70AD47"/>
            </a:solidFill>
            <a:ln w="12700" cap="flat" cmpd="sng" algn="ctr">
              <a:solidFill>
                <a:srgbClr val="70AD47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lIns="89319" tIns="44659" rIns="89319" bIns="44659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+mn-ea"/>
                  <a:cs typeface="+mn-cs"/>
                </a:rPr>
                <a:t>SMMS-Agent </a:t>
              </a:r>
            </a:p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+mn-ea"/>
                  <a:cs typeface="+mn-cs"/>
                </a:rPr>
                <a:t>(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+mn-ea"/>
                  <a:cs typeface="+mn-cs"/>
                </a:rPr>
                <a:t>송신 </a:t>
              </a:r>
              <a:r>
                <a:rPr kumimoji="0" lang="en-US" altLang="ko-KR" sz="7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+mn-ea"/>
                  <a:cs typeface="+mn-cs"/>
                </a:rPr>
                <a:t>Thread)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+mn-ea"/>
                  <a:cs typeface="+mn-cs"/>
                </a:rPr>
                <a:t>  </a:t>
              </a:r>
            </a:p>
          </p:txBody>
        </p:sp>
        <p:grpSp>
          <p:nvGrpSpPr>
            <p:cNvPr id="740" name="그룹 739">
              <a:extLst>
                <a:ext uri="{FF2B5EF4-FFF2-40B4-BE49-F238E27FC236}">
                  <a16:creationId xmlns:a16="http://schemas.microsoft.com/office/drawing/2014/main" id="{198395D1-6C14-4928-72CE-C7061B64E26A}"/>
                </a:ext>
              </a:extLst>
            </p:cNvPr>
            <p:cNvGrpSpPr/>
            <p:nvPr/>
          </p:nvGrpSpPr>
          <p:grpSpPr>
            <a:xfrm>
              <a:off x="877133" y="1609757"/>
              <a:ext cx="606724" cy="271535"/>
              <a:chOff x="958525" y="1526415"/>
              <a:chExt cx="606724" cy="271535"/>
            </a:xfrm>
          </p:grpSpPr>
          <p:sp>
            <p:nvSpPr>
              <p:cNvPr id="745" name="원통 295">
                <a:extLst>
                  <a:ext uri="{FF2B5EF4-FFF2-40B4-BE49-F238E27FC236}">
                    <a16:creationId xmlns:a16="http://schemas.microsoft.com/office/drawing/2014/main" id="{EE6A1BEB-C4D6-7D2F-6A91-2D5F42B943FF}"/>
                  </a:ext>
                </a:extLst>
              </p:cNvPr>
              <p:cNvSpPr/>
              <p:nvPr/>
            </p:nvSpPr>
            <p:spPr>
              <a:xfrm>
                <a:off x="958525" y="1526415"/>
                <a:ext cx="606724" cy="271535"/>
              </a:xfrm>
              <a:prstGeom prst="can">
                <a:avLst/>
              </a:prstGeom>
              <a:solidFill>
                <a:srgbClr val="354976"/>
              </a:solidFill>
              <a:ln w="9525" cap="flat" cmpd="sng" algn="ctr">
                <a:solidFill>
                  <a:sysClr val="window" lastClr="FFFFFF"/>
                </a:solidFill>
                <a:prstDash val="solid"/>
                <a:miter lim="800000"/>
              </a:ln>
              <a:effectLst/>
            </p:spPr>
            <p:txBody>
              <a:bodyPr lIns="89319" tIns="44659" rIns="89319" bIns="44659"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746" name="직사각형 745">
                <a:extLst>
                  <a:ext uri="{FF2B5EF4-FFF2-40B4-BE49-F238E27FC236}">
                    <a16:creationId xmlns:a16="http://schemas.microsoft.com/office/drawing/2014/main" id="{BEB8AF57-B063-CA83-6A10-C9AF92A10E86}"/>
                  </a:ext>
                </a:extLst>
              </p:cNvPr>
              <p:cNvSpPr/>
              <p:nvPr/>
            </p:nvSpPr>
            <p:spPr>
              <a:xfrm>
                <a:off x="966515" y="1621112"/>
                <a:ext cx="590746" cy="153888"/>
              </a:xfrm>
              <a:prstGeom prst="rect">
                <a:avLst/>
              </a:prstGeom>
            </p:spPr>
            <p:txBody>
              <a:bodyPr wrap="square" lIns="0" tIns="0" rIns="0" bIns="0" anchor="ctr">
                <a:spAutoFit/>
              </a:bodyPr>
              <a:lstStyle/>
              <a:p>
                <a:pPr algn="ctr" defTabSz="457200" latinLnBrk="0"/>
                <a:r>
                  <a:rPr lang="en-US" altLang="ko-KR" sz="100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+mn-ea"/>
                  </a:rPr>
                  <a:t>UMS DB</a:t>
                </a:r>
              </a:p>
            </p:txBody>
          </p:sp>
        </p:grpSp>
        <p:cxnSp>
          <p:nvCxnSpPr>
            <p:cNvPr id="741" name="직선 화살표 연결선 740">
              <a:extLst>
                <a:ext uri="{FF2B5EF4-FFF2-40B4-BE49-F238E27FC236}">
                  <a16:creationId xmlns:a16="http://schemas.microsoft.com/office/drawing/2014/main" id="{C4481CF0-6B62-495B-EF07-82CDFA1ADB86}"/>
                </a:ext>
              </a:extLst>
            </p:cNvPr>
            <p:cNvCxnSpPr>
              <a:cxnSpLocks/>
            </p:cNvCxnSpPr>
            <p:nvPr/>
          </p:nvCxnSpPr>
          <p:spPr>
            <a:xfrm>
              <a:off x="1173443" y="1885681"/>
              <a:ext cx="0" cy="146890"/>
            </a:xfrm>
            <a:prstGeom prst="straightConnector1">
              <a:avLst/>
            </a:prstGeom>
            <a:noFill/>
            <a:ln w="6350" cap="flat" cmpd="sng" algn="ctr">
              <a:solidFill>
                <a:srgbClr val="FF0000"/>
              </a:solidFill>
              <a:prstDash val="solid"/>
              <a:miter lim="800000"/>
              <a:tailEnd type="triangle" w="sm" len="sm"/>
            </a:ln>
            <a:effectLst/>
          </p:spPr>
        </p:cxnSp>
        <p:sp>
          <p:nvSpPr>
            <p:cNvPr id="742" name="직사각형 741">
              <a:extLst>
                <a:ext uri="{FF2B5EF4-FFF2-40B4-BE49-F238E27FC236}">
                  <a16:creationId xmlns:a16="http://schemas.microsoft.com/office/drawing/2014/main" id="{571836F6-7179-7FF6-65C2-EFCE22885A09}"/>
                </a:ext>
              </a:extLst>
            </p:cNvPr>
            <p:cNvSpPr/>
            <p:nvPr/>
          </p:nvSpPr>
          <p:spPr>
            <a:xfrm>
              <a:off x="1780167" y="1651644"/>
              <a:ext cx="775357" cy="279780"/>
            </a:xfrm>
            <a:prstGeom prst="rect">
              <a:avLst/>
            </a:prstGeom>
            <a:solidFill>
              <a:sysClr val="window" lastClr="FFFFFF"/>
            </a:solidFill>
            <a:ln w="9525" cap="flat" cmpd="sng" algn="ctr">
              <a:noFill/>
              <a:prstDash val="solid"/>
              <a:miter lim="800000"/>
            </a:ln>
            <a:effectLst/>
          </p:spPr>
          <p:txBody>
            <a:bodyPr lIns="89319" tIns="44659" rIns="89319" bIns="44659" rtlCol="0" anchor="ctr"/>
            <a:lstStyle/>
            <a:p>
              <a:pPr algn="ctr" defTabSz="457200" latinLnBrk="0"/>
              <a:r>
                <a:rPr lang="ko-KR" altLang="en-US" sz="1000" kern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</a:rPr>
                <a:t>분배기</a:t>
              </a:r>
            </a:p>
          </p:txBody>
        </p:sp>
        <p:cxnSp>
          <p:nvCxnSpPr>
            <p:cNvPr id="743" name="연결선: 꺾임 301">
              <a:extLst>
                <a:ext uri="{FF2B5EF4-FFF2-40B4-BE49-F238E27FC236}">
                  <a16:creationId xmlns:a16="http://schemas.microsoft.com/office/drawing/2014/main" id="{1DBFA053-A9EF-CCD4-0220-0E6AA6F98B3B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1296219" y="1803343"/>
              <a:ext cx="481810" cy="361541"/>
            </a:xfrm>
            <a:prstGeom prst="bentConnector3">
              <a:avLst>
                <a:gd name="adj1" fmla="val 50000"/>
              </a:avLst>
            </a:prstGeom>
            <a:noFill/>
            <a:ln w="22225" cap="flat" cmpd="sng" algn="ctr">
              <a:solidFill>
                <a:srgbClr val="FF0000"/>
              </a:solidFill>
              <a:prstDash val="solid"/>
              <a:miter lim="800000"/>
              <a:tailEnd type="triangle" w="sm" len="sm"/>
            </a:ln>
            <a:effectLst/>
          </p:spPr>
        </p:cxnSp>
        <p:cxnSp>
          <p:nvCxnSpPr>
            <p:cNvPr id="744" name="연결선: 꺾임 854">
              <a:extLst>
                <a:ext uri="{FF2B5EF4-FFF2-40B4-BE49-F238E27FC236}">
                  <a16:creationId xmlns:a16="http://schemas.microsoft.com/office/drawing/2014/main" id="{4C6A5FF1-E45C-5864-A6A3-7B62B3E35E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5869" y="2260610"/>
              <a:ext cx="1287878" cy="90009"/>
            </a:xfrm>
            <a:prstGeom prst="bentConnector3">
              <a:avLst/>
            </a:prstGeom>
            <a:noFill/>
            <a:ln w="635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  <a:tailEnd type="triangle" w="sm" len="sm"/>
            </a:ln>
            <a:effectLst/>
          </p:spPr>
        </p:cxnSp>
      </p:grpSp>
      <p:grpSp>
        <p:nvGrpSpPr>
          <p:cNvPr id="766" name="그룹 765">
            <a:extLst>
              <a:ext uri="{FF2B5EF4-FFF2-40B4-BE49-F238E27FC236}">
                <a16:creationId xmlns:a16="http://schemas.microsoft.com/office/drawing/2014/main" id="{7DDD4609-7A05-A5FF-18C6-83A1ED68ACF5}"/>
              </a:ext>
            </a:extLst>
          </p:cNvPr>
          <p:cNvGrpSpPr/>
          <p:nvPr/>
        </p:nvGrpSpPr>
        <p:grpSpPr>
          <a:xfrm>
            <a:off x="3941713" y="1275467"/>
            <a:ext cx="3404257" cy="1001080"/>
            <a:chOff x="782745" y="1488219"/>
            <a:chExt cx="3404257" cy="1001080"/>
          </a:xfrm>
        </p:grpSpPr>
        <p:sp>
          <p:nvSpPr>
            <p:cNvPr id="767" name="모서리가 둥근 직사각형 146">
              <a:extLst>
                <a:ext uri="{FF2B5EF4-FFF2-40B4-BE49-F238E27FC236}">
                  <a16:creationId xmlns:a16="http://schemas.microsoft.com/office/drawing/2014/main" id="{D19BB0A3-FEA1-90C4-F37D-229CA8B112FA}"/>
                </a:ext>
              </a:extLst>
            </p:cNvPr>
            <p:cNvSpPr/>
            <p:nvPr/>
          </p:nvSpPr>
          <p:spPr>
            <a:xfrm>
              <a:off x="844651" y="1573681"/>
              <a:ext cx="3270149" cy="845267"/>
            </a:xfrm>
            <a:prstGeom prst="roundRect">
              <a:avLst>
                <a:gd name="adj" fmla="val 0"/>
              </a:avLst>
            </a:prstGeom>
            <a:solidFill>
              <a:srgbClr val="D4E3F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768" name="모서리가 둥근 직사각형 43">
              <a:extLst>
                <a:ext uri="{FF2B5EF4-FFF2-40B4-BE49-F238E27FC236}">
                  <a16:creationId xmlns:a16="http://schemas.microsoft.com/office/drawing/2014/main" id="{B5878E4D-7A00-B5D2-6D58-6020CD6EB3C0}"/>
                </a:ext>
              </a:extLst>
            </p:cNvPr>
            <p:cNvSpPr/>
            <p:nvPr/>
          </p:nvSpPr>
          <p:spPr>
            <a:xfrm>
              <a:off x="782745" y="1488219"/>
              <a:ext cx="3404257" cy="1001080"/>
            </a:xfrm>
            <a:prstGeom prst="roundRect">
              <a:avLst>
                <a:gd name="adj" fmla="val 4458"/>
              </a:avLst>
            </a:prstGeom>
            <a:noFill/>
            <a:ln w="19050" cap="flat" cmpd="sng" algn="ctr">
              <a:solidFill>
                <a:srgbClr val="718BC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grpSp>
          <p:nvGrpSpPr>
            <p:cNvPr id="769" name="그룹 768">
              <a:extLst>
                <a:ext uri="{FF2B5EF4-FFF2-40B4-BE49-F238E27FC236}">
                  <a16:creationId xmlns:a16="http://schemas.microsoft.com/office/drawing/2014/main" id="{5939D0D4-6652-8418-108C-53A6D5632575}"/>
                </a:ext>
              </a:extLst>
            </p:cNvPr>
            <p:cNvGrpSpPr/>
            <p:nvPr/>
          </p:nvGrpSpPr>
          <p:grpSpPr>
            <a:xfrm>
              <a:off x="890294" y="2042096"/>
              <a:ext cx="951534" cy="380908"/>
              <a:chOff x="2390679" y="3043337"/>
              <a:chExt cx="898585" cy="362660"/>
            </a:xfrm>
          </p:grpSpPr>
          <p:grpSp>
            <p:nvGrpSpPr>
              <p:cNvPr id="778" name="그룹 777">
                <a:extLst>
                  <a:ext uri="{FF2B5EF4-FFF2-40B4-BE49-F238E27FC236}">
                    <a16:creationId xmlns:a16="http://schemas.microsoft.com/office/drawing/2014/main" id="{DF84433C-C364-8789-DB76-7BFB82A9D680}"/>
                  </a:ext>
                </a:extLst>
              </p:cNvPr>
              <p:cNvGrpSpPr/>
              <p:nvPr/>
            </p:nvGrpSpPr>
            <p:grpSpPr>
              <a:xfrm>
                <a:off x="2548087" y="3043337"/>
                <a:ext cx="741177" cy="225928"/>
                <a:chOff x="2638426" y="6588126"/>
                <a:chExt cx="2890392" cy="881063"/>
              </a:xfrm>
              <a:solidFill>
                <a:srgbClr val="718BC5"/>
              </a:solidFill>
            </p:grpSpPr>
            <p:sp>
              <p:nvSpPr>
                <p:cNvPr id="780" name="Freeform 401">
                  <a:extLst>
                    <a:ext uri="{FF2B5EF4-FFF2-40B4-BE49-F238E27FC236}">
                      <a16:creationId xmlns:a16="http://schemas.microsoft.com/office/drawing/2014/main" id="{653951F1-5961-809E-C745-CEDFABC04C5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727326" y="6588126"/>
                  <a:ext cx="690563" cy="881063"/>
                </a:xfrm>
                <a:custGeom>
                  <a:avLst/>
                  <a:gdLst>
                    <a:gd name="T0" fmla="*/ 1209 w 1209"/>
                    <a:gd name="T1" fmla="*/ 1261 h 1544"/>
                    <a:gd name="T2" fmla="*/ 1209 w 1209"/>
                    <a:gd name="T3" fmla="*/ 25 h 1544"/>
                    <a:gd name="T4" fmla="*/ 1184 w 1209"/>
                    <a:gd name="T5" fmla="*/ 0 h 1544"/>
                    <a:gd name="T6" fmla="*/ 26 w 1209"/>
                    <a:gd name="T7" fmla="*/ 0 h 1544"/>
                    <a:gd name="T8" fmla="*/ 0 w 1209"/>
                    <a:gd name="T9" fmla="*/ 25 h 1544"/>
                    <a:gd name="T10" fmla="*/ 0 w 1209"/>
                    <a:gd name="T11" fmla="*/ 386 h 1544"/>
                    <a:gd name="T12" fmla="*/ 51 w 1209"/>
                    <a:gd name="T13" fmla="*/ 386 h 1544"/>
                    <a:gd name="T14" fmla="*/ 51 w 1209"/>
                    <a:gd name="T15" fmla="*/ 51 h 1544"/>
                    <a:gd name="T16" fmla="*/ 1158 w 1209"/>
                    <a:gd name="T17" fmla="*/ 51 h 1544"/>
                    <a:gd name="T18" fmla="*/ 1158 w 1209"/>
                    <a:gd name="T19" fmla="*/ 1235 h 1544"/>
                    <a:gd name="T20" fmla="*/ 926 w 1209"/>
                    <a:gd name="T21" fmla="*/ 1235 h 1544"/>
                    <a:gd name="T22" fmla="*/ 901 w 1209"/>
                    <a:gd name="T23" fmla="*/ 1261 h 1544"/>
                    <a:gd name="T24" fmla="*/ 901 w 1209"/>
                    <a:gd name="T25" fmla="*/ 1492 h 1544"/>
                    <a:gd name="T26" fmla="*/ 51 w 1209"/>
                    <a:gd name="T27" fmla="*/ 1492 h 1544"/>
                    <a:gd name="T28" fmla="*/ 51 w 1209"/>
                    <a:gd name="T29" fmla="*/ 1106 h 1544"/>
                    <a:gd name="T30" fmla="*/ 0 w 1209"/>
                    <a:gd name="T31" fmla="*/ 1106 h 1544"/>
                    <a:gd name="T32" fmla="*/ 0 w 1209"/>
                    <a:gd name="T33" fmla="*/ 1518 h 1544"/>
                    <a:gd name="T34" fmla="*/ 26 w 1209"/>
                    <a:gd name="T35" fmla="*/ 1544 h 1544"/>
                    <a:gd name="T36" fmla="*/ 926 w 1209"/>
                    <a:gd name="T37" fmla="*/ 1544 h 1544"/>
                    <a:gd name="T38" fmla="*/ 944 w 1209"/>
                    <a:gd name="T39" fmla="*/ 1536 h 1544"/>
                    <a:gd name="T40" fmla="*/ 1202 w 1209"/>
                    <a:gd name="T41" fmla="*/ 1279 h 1544"/>
                    <a:gd name="T42" fmla="*/ 1207 w 1209"/>
                    <a:gd name="T43" fmla="*/ 1271 h 1544"/>
                    <a:gd name="T44" fmla="*/ 1207 w 1209"/>
                    <a:gd name="T45" fmla="*/ 1269 h 1544"/>
                    <a:gd name="T46" fmla="*/ 1209 w 1209"/>
                    <a:gd name="T47" fmla="*/ 1261 h 1544"/>
                    <a:gd name="T48" fmla="*/ 952 w 1209"/>
                    <a:gd name="T49" fmla="*/ 1286 h 1544"/>
                    <a:gd name="T50" fmla="*/ 1122 w 1209"/>
                    <a:gd name="T51" fmla="*/ 1286 h 1544"/>
                    <a:gd name="T52" fmla="*/ 952 w 1209"/>
                    <a:gd name="T53" fmla="*/ 1456 h 1544"/>
                    <a:gd name="T54" fmla="*/ 952 w 1209"/>
                    <a:gd name="T55" fmla="*/ 1286 h 1544"/>
                    <a:gd name="T56" fmla="*/ 952 w 1209"/>
                    <a:gd name="T57" fmla="*/ 1286 h 1544"/>
                    <a:gd name="T58" fmla="*/ 952 w 1209"/>
                    <a:gd name="T59" fmla="*/ 1286 h 15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1209" h="1544">
                      <a:moveTo>
                        <a:pt x="1209" y="1261"/>
                      </a:moveTo>
                      <a:cubicBezTo>
                        <a:pt x="1209" y="25"/>
                        <a:pt x="1209" y="25"/>
                        <a:pt x="1209" y="25"/>
                      </a:cubicBezTo>
                      <a:cubicBezTo>
                        <a:pt x="1209" y="10"/>
                        <a:pt x="1199" y="0"/>
                        <a:pt x="118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cubicBezTo>
                        <a:pt x="10" y="0"/>
                        <a:pt x="0" y="10"/>
                        <a:pt x="0" y="25"/>
                      </a:cubicBezTo>
                      <a:cubicBezTo>
                        <a:pt x="0" y="386"/>
                        <a:pt x="0" y="386"/>
                        <a:pt x="0" y="386"/>
                      </a:cubicBezTo>
                      <a:cubicBezTo>
                        <a:pt x="51" y="386"/>
                        <a:pt x="51" y="386"/>
                        <a:pt x="51" y="386"/>
                      </a:cubicBezTo>
                      <a:cubicBezTo>
                        <a:pt x="51" y="51"/>
                        <a:pt x="51" y="51"/>
                        <a:pt x="51" y="51"/>
                      </a:cubicBezTo>
                      <a:cubicBezTo>
                        <a:pt x="1158" y="51"/>
                        <a:pt x="1158" y="51"/>
                        <a:pt x="1158" y="51"/>
                      </a:cubicBezTo>
                      <a:cubicBezTo>
                        <a:pt x="1158" y="1235"/>
                        <a:pt x="1158" y="1235"/>
                        <a:pt x="1158" y="1235"/>
                      </a:cubicBezTo>
                      <a:cubicBezTo>
                        <a:pt x="926" y="1235"/>
                        <a:pt x="926" y="1235"/>
                        <a:pt x="926" y="1235"/>
                      </a:cubicBezTo>
                      <a:cubicBezTo>
                        <a:pt x="911" y="1235"/>
                        <a:pt x="901" y="1245"/>
                        <a:pt x="901" y="1261"/>
                      </a:cubicBezTo>
                      <a:cubicBezTo>
                        <a:pt x="901" y="1492"/>
                        <a:pt x="901" y="1492"/>
                        <a:pt x="901" y="1492"/>
                      </a:cubicBezTo>
                      <a:cubicBezTo>
                        <a:pt x="51" y="1492"/>
                        <a:pt x="51" y="1492"/>
                        <a:pt x="51" y="1492"/>
                      </a:cubicBezTo>
                      <a:cubicBezTo>
                        <a:pt x="51" y="1106"/>
                        <a:pt x="51" y="1106"/>
                        <a:pt x="51" y="1106"/>
                      </a:cubicBezTo>
                      <a:cubicBezTo>
                        <a:pt x="0" y="1106"/>
                        <a:pt x="0" y="1106"/>
                        <a:pt x="0" y="1106"/>
                      </a:cubicBezTo>
                      <a:cubicBezTo>
                        <a:pt x="0" y="1518"/>
                        <a:pt x="0" y="1518"/>
                        <a:pt x="0" y="1518"/>
                      </a:cubicBezTo>
                      <a:cubicBezTo>
                        <a:pt x="0" y="1534"/>
                        <a:pt x="10" y="1544"/>
                        <a:pt x="26" y="1544"/>
                      </a:cubicBezTo>
                      <a:cubicBezTo>
                        <a:pt x="926" y="1544"/>
                        <a:pt x="926" y="1544"/>
                        <a:pt x="926" y="1544"/>
                      </a:cubicBezTo>
                      <a:cubicBezTo>
                        <a:pt x="934" y="1544"/>
                        <a:pt x="939" y="1541"/>
                        <a:pt x="944" y="1536"/>
                      </a:cubicBezTo>
                      <a:cubicBezTo>
                        <a:pt x="1202" y="1279"/>
                        <a:pt x="1202" y="1279"/>
                        <a:pt x="1202" y="1279"/>
                      </a:cubicBezTo>
                      <a:cubicBezTo>
                        <a:pt x="1204" y="1276"/>
                        <a:pt x="1204" y="1274"/>
                        <a:pt x="1207" y="1271"/>
                      </a:cubicBezTo>
                      <a:cubicBezTo>
                        <a:pt x="1207" y="1269"/>
                        <a:pt x="1207" y="1269"/>
                        <a:pt x="1207" y="1269"/>
                      </a:cubicBezTo>
                      <a:cubicBezTo>
                        <a:pt x="1209" y="1266"/>
                        <a:pt x="1209" y="1263"/>
                        <a:pt x="1209" y="1261"/>
                      </a:cubicBezTo>
                      <a:close/>
                      <a:moveTo>
                        <a:pt x="952" y="1286"/>
                      </a:moveTo>
                      <a:cubicBezTo>
                        <a:pt x="1122" y="1286"/>
                        <a:pt x="1122" y="1286"/>
                        <a:pt x="1122" y="1286"/>
                      </a:cubicBezTo>
                      <a:cubicBezTo>
                        <a:pt x="952" y="1456"/>
                        <a:pt x="952" y="1456"/>
                        <a:pt x="952" y="1456"/>
                      </a:cubicBezTo>
                      <a:lnTo>
                        <a:pt x="952" y="1286"/>
                      </a:lnTo>
                      <a:close/>
                      <a:moveTo>
                        <a:pt x="952" y="1286"/>
                      </a:moveTo>
                      <a:cubicBezTo>
                        <a:pt x="952" y="1286"/>
                        <a:pt x="952" y="1286"/>
                        <a:pt x="952" y="1286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781" name="Freeform 402">
                  <a:extLst>
                    <a:ext uri="{FF2B5EF4-FFF2-40B4-BE49-F238E27FC236}">
                      <a16:creationId xmlns:a16="http://schemas.microsoft.com/office/drawing/2014/main" id="{8B9D00A6-AC3B-5B83-52FA-13C17498EB4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638426" y="6823076"/>
                  <a:ext cx="338138" cy="323850"/>
                </a:xfrm>
                <a:custGeom>
                  <a:avLst/>
                  <a:gdLst>
                    <a:gd name="T0" fmla="*/ 334 w 591"/>
                    <a:gd name="T1" fmla="*/ 567 h 567"/>
                    <a:gd name="T2" fmla="*/ 591 w 591"/>
                    <a:gd name="T3" fmla="*/ 567 h 567"/>
                    <a:gd name="T4" fmla="*/ 591 w 591"/>
                    <a:gd name="T5" fmla="*/ 515 h 567"/>
                    <a:gd name="T6" fmla="*/ 514 w 591"/>
                    <a:gd name="T7" fmla="*/ 515 h 567"/>
                    <a:gd name="T8" fmla="*/ 514 w 591"/>
                    <a:gd name="T9" fmla="*/ 26 h 567"/>
                    <a:gd name="T10" fmla="*/ 488 w 591"/>
                    <a:gd name="T11" fmla="*/ 0 h 567"/>
                    <a:gd name="T12" fmla="*/ 334 w 591"/>
                    <a:gd name="T13" fmla="*/ 0 h 567"/>
                    <a:gd name="T14" fmla="*/ 308 w 591"/>
                    <a:gd name="T15" fmla="*/ 26 h 567"/>
                    <a:gd name="T16" fmla="*/ 308 w 591"/>
                    <a:gd name="T17" fmla="*/ 181 h 567"/>
                    <a:gd name="T18" fmla="*/ 180 w 591"/>
                    <a:gd name="T19" fmla="*/ 181 h 567"/>
                    <a:gd name="T20" fmla="*/ 154 w 591"/>
                    <a:gd name="T21" fmla="*/ 206 h 567"/>
                    <a:gd name="T22" fmla="*/ 154 w 591"/>
                    <a:gd name="T23" fmla="*/ 309 h 567"/>
                    <a:gd name="T24" fmla="*/ 25 w 591"/>
                    <a:gd name="T25" fmla="*/ 309 h 567"/>
                    <a:gd name="T26" fmla="*/ 0 w 591"/>
                    <a:gd name="T27" fmla="*/ 335 h 567"/>
                    <a:gd name="T28" fmla="*/ 0 w 591"/>
                    <a:gd name="T29" fmla="*/ 541 h 567"/>
                    <a:gd name="T30" fmla="*/ 25 w 591"/>
                    <a:gd name="T31" fmla="*/ 567 h 567"/>
                    <a:gd name="T32" fmla="*/ 334 w 591"/>
                    <a:gd name="T33" fmla="*/ 567 h 567"/>
                    <a:gd name="T34" fmla="*/ 360 w 591"/>
                    <a:gd name="T35" fmla="*/ 52 h 567"/>
                    <a:gd name="T36" fmla="*/ 463 w 591"/>
                    <a:gd name="T37" fmla="*/ 52 h 567"/>
                    <a:gd name="T38" fmla="*/ 463 w 591"/>
                    <a:gd name="T39" fmla="*/ 515 h 567"/>
                    <a:gd name="T40" fmla="*/ 360 w 591"/>
                    <a:gd name="T41" fmla="*/ 515 h 567"/>
                    <a:gd name="T42" fmla="*/ 360 w 591"/>
                    <a:gd name="T43" fmla="*/ 52 h 567"/>
                    <a:gd name="T44" fmla="*/ 205 w 591"/>
                    <a:gd name="T45" fmla="*/ 232 h 567"/>
                    <a:gd name="T46" fmla="*/ 308 w 591"/>
                    <a:gd name="T47" fmla="*/ 232 h 567"/>
                    <a:gd name="T48" fmla="*/ 308 w 591"/>
                    <a:gd name="T49" fmla="*/ 515 h 567"/>
                    <a:gd name="T50" fmla="*/ 205 w 591"/>
                    <a:gd name="T51" fmla="*/ 515 h 567"/>
                    <a:gd name="T52" fmla="*/ 205 w 591"/>
                    <a:gd name="T53" fmla="*/ 232 h 567"/>
                    <a:gd name="T54" fmla="*/ 51 w 591"/>
                    <a:gd name="T55" fmla="*/ 361 h 567"/>
                    <a:gd name="T56" fmla="*/ 154 w 591"/>
                    <a:gd name="T57" fmla="*/ 361 h 567"/>
                    <a:gd name="T58" fmla="*/ 154 w 591"/>
                    <a:gd name="T59" fmla="*/ 515 h 567"/>
                    <a:gd name="T60" fmla="*/ 51 w 591"/>
                    <a:gd name="T61" fmla="*/ 515 h 567"/>
                    <a:gd name="T62" fmla="*/ 51 w 591"/>
                    <a:gd name="T63" fmla="*/ 361 h 567"/>
                    <a:gd name="T64" fmla="*/ 51 w 591"/>
                    <a:gd name="T65" fmla="*/ 361 h 567"/>
                    <a:gd name="T66" fmla="*/ 51 w 591"/>
                    <a:gd name="T67" fmla="*/ 361 h 5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591" h="567">
                      <a:moveTo>
                        <a:pt x="334" y="567"/>
                      </a:moveTo>
                      <a:cubicBezTo>
                        <a:pt x="591" y="567"/>
                        <a:pt x="591" y="567"/>
                        <a:pt x="591" y="567"/>
                      </a:cubicBezTo>
                      <a:cubicBezTo>
                        <a:pt x="591" y="515"/>
                        <a:pt x="591" y="515"/>
                        <a:pt x="591" y="515"/>
                      </a:cubicBezTo>
                      <a:cubicBezTo>
                        <a:pt x="514" y="515"/>
                        <a:pt x="514" y="515"/>
                        <a:pt x="514" y="515"/>
                      </a:cubicBezTo>
                      <a:cubicBezTo>
                        <a:pt x="514" y="26"/>
                        <a:pt x="514" y="26"/>
                        <a:pt x="514" y="26"/>
                      </a:cubicBezTo>
                      <a:cubicBezTo>
                        <a:pt x="514" y="11"/>
                        <a:pt x="504" y="0"/>
                        <a:pt x="488" y="0"/>
                      </a:cubicBezTo>
                      <a:cubicBezTo>
                        <a:pt x="334" y="0"/>
                        <a:pt x="334" y="0"/>
                        <a:pt x="334" y="0"/>
                      </a:cubicBezTo>
                      <a:cubicBezTo>
                        <a:pt x="319" y="0"/>
                        <a:pt x="308" y="11"/>
                        <a:pt x="308" y="26"/>
                      </a:cubicBezTo>
                      <a:cubicBezTo>
                        <a:pt x="308" y="181"/>
                        <a:pt x="308" y="181"/>
                        <a:pt x="308" y="181"/>
                      </a:cubicBezTo>
                      <a:cubicBezTo>
                        <a:pt x="180" y="181"/>
                        <a:pt x="180" y="181"/>
                        <a:pt x="180" y="181"/>
                      </a:cubicBezTo>
                      <a:cubicBezTo>
                        <a:pt x="164" y="181"/>
                        <a:pt x="154" y="191"/>
                        <a:pt x="154" y="206"/>
                      </a:cubicBezTo>
                      <a:cubicBezTo>
                        <a:pt x="154" y="309"/>
                        <a:pt x="154" y="309"/>
                        <a:pt x="154" y="309"/>
                      </a:cubicBezTo>
                      <a:cubicBezTo>
                        <a:pt x="25" y="309"/>
                        <a:pt x="25" y="309"/>
                        <a:pt x="25" y="309"/>
                      </a:cubicBezTo>
                      <a:cubicBezTo>
                        <a:pt x="10" y="309"/>
                        <a:pt x="0" y="320"/>
                        <a:pt x="0" y="335"/>
                      </a:cubicBezTo>
                      <a:cubicBezTo>
                        <a:pt x="0" y="541"/>
                        <a:pt x="0" y="541"/>
                        <a:pt x="0" y="541"/>
                      </a:cubicBezTo>
                      <a:cubicBezTo>
                        <a:pt x="0" y="556"/>
                        <a:pt x="10" y="567"/>
                        <a:pt x="25" y="567"/>
                      </a:cubicBezTo>
                      <a:lnTo>
                        <a:pt x="334" y="567"/>
                      </a:lnTo>
                      <a:close/>
                      <a:moveTo>
                        <a:pt x="360" y="52"/>
                      </a:moveTo>
                      <a:cubicBezTo>
                        <a:pt x="463" y="52"/>
                        <a:pt x="463" y="52"/>
                        <a:pt x="463" y="52"/>
                      </a:cubicBezTo>
                      <a:cubicBezTo>
                        <a:pt x="463" y="515"/>
                        <a:pt x="463" y="515"/>
                        <a:pt x="463" y="515"/>
                      </a:cubicBezTo>
                      <a:cubicBezTo>
                        <a:pt x="360" y="515"/>
                        <a:pt x="360" y="515"/>
                        <a:pt x="360" y="515"/>
                      </a:cubicBezTo>
                      <a:lnTo>
                        <a:pt x="360" y="52"/>
                      </a:lnTo>
                      <a:close/>
                      <a:moveTo>
                        <a:pt x="205" y="232"/>
                      </a:moveTo>
                      <a:cubicBezTo>
                        <a:pt x="308" y="232"/>
                        <a:pt x="308" y="232"/>
                        <a:pt x="308" y="232"/>
                      </a:cubicBezTo>
                      <a:cubicBezTo>
                        <a:pt x="308" y="515"/>
                        <a:pt x="308" y="515"/>
                        <a:pt x="308" y="515"/>
                      </a:cubicBezTo>
                      <a:cubicBezTo>
                        <a:pt x="205" y="515"/>
                        <a:pt x="205" y="515"/>
                        <a:pt x="205" y="515"/>
                      </a:cubicBezTo>
                      <a:lnTo>
                        <a:pt x="205" y="232"/>
                      </a:lnTo>
                      <a:close/>
                      <a:moveTo>
                        <a:pt x="51" y="361"/>
                      </a:moveTo>
                      <a:cubicBezTo>
                        <a:pt x="154" y="361"/>
                        <a:pt x="154" y="361"/>
                        <a:pt x="154" y="361"/>
                      </a:cubicBezTo>
                      <a:cubicBezTo>
                        <a:pt x="154" y="515"/>
                        <a:pt x="154" y="515"/>
                        <a:pt x="154" y="515"/>
                      </a:cubicBezTo>
                      <a:cubicBezTo>
                        <a:pt x="51" y="515"/>
                        <a:pt x="51" y="515"/>
                        <a:pt x="51" y="515"/>
                      </a:cubicBezTo>
                      <a:lnTo>
                        <a:pt x="51" y="361"/>
                      </a:lnTo>
                      <a:close/>
                      <a:moveTo>
                        <a:pt x="51" y="361"/>
                      </a:moveTo>
                      <a:cubicBezTo>
                        <a:pt x="51" y="361"/>
                        <a:pt x="51" y="361"/>
                        <a:pt x="51" y="361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782" name="Freeform 403">
                  <a:extLst>
                    <a:ext uri="{FF2B5EF4-FFF2-40B4-BE49-F238E27FC236}">
                      <a16:creationId xmlns:a16="http://schemas.microsoft.com/office/drawing/2014/main" id="{1B79DF08-9462-6317-568F-B612AA1E4E0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990851" y="6675438"/>
                  <a:ext cx="338138" cy="279400"/>
                </a:xfrm>
                <a:custGeom>
                  <a:avLst/>
                  <a:gdLst>
                    <a:gd name="T0" fmla="*/ 592 w 592"/>
                    <a:gd name="T1" fmla="*/ 463 h 489"/>
                    <a:gd name="T2" fmla="*/ 592 w 592"/>
                    <a:gd name="T3" fmla="*/ 26 h 489"/>
                    <a:gd name="T4" fmla="*/ 566 w 592"/>
                    <a:gd name="T5" fmla="*/ 0 h 489"/>
                    <a:gd name="T6" fmla="*/ 26 w 592"/>
                    <a:gd name="T7" fmla="*/ 0 h 489"/>
                    <a:gd name="T8" fmla="*/ 0 w 592"/>
                    <a:gd name="T9" fmla="*/ 26 h 489"/>
                    <a:gd name="T10" fmla="*/ 0 w 592"/>
                    <a:gd name="T11" fmla="*/ 463 h 489"/>
                    <a:gd name="T12" fmla="*/ 26 w 592"/>
                    <a:gd name="T13" fmla="*/ 489 h 489"/>
                    <a:gd name="T14" fmla="*/ 566 w 592"/>
                    <a:gd name="T15" fmla="*/ 489 h 489"/>
                    <a:gd name="T16" fmla="*/ 592 w 592"/>
                    <a:gd name="T17" fmla="*/ 463 h 489"/>
                    <a:gd name="T18" fmla="*/ 541 w 592"/>
                    <a:gd name="T19" fmla="*/ 155 h 489"/>
                    <a:gd name="T20" fmla="*/ 232 w 592"/>
                    <a:gd name="T21" fmla="*/ 155 h 489"/>
                    <a:gd name="T22" fmla="*/ 232 w 592"/>
                    <a:gd name="T23" fmla="*/ 51 h 489"/>
                    <a:gd name="T24" fmla="*/ 541 w 592"/>
                    <a:gd name="T25" fmla="*/ 51 h 489"/>
                    <a:gd name="T26" fmla="*/ 541 w 592"/>
                    <a:gd name="T27" fmla="*/ 155 h 489"/>
                    <a:gd name="T28" fmla="*/ 180 w 592"/>
                    <a:gd name="T29" fmla="*/ 51 h 489"/>
                    <a:gd name="T30" fmla="*/ 180 w 592"/>
                    <a:gd name="T31" fmla="*/ 155 h 489"/>
                    <a:gd name="T32" fmla="*/ 52 w 592"/>
                    <a:gd name="T33" fmla="*/ 155 h 489"/>
                    <a:gd name="T34" fmla="*/ 52 w 592"/>
                    <a:gd name="T35" fmla="*/ 51 h 489"/>
                    <a:gd name="T36" fmla="*/ 180 w 592"/>
                    <a:gd name="T37" fmla="*/ 51 h 489"/>
                    <a:gd name="T38" fmla="*/ 52 w 592"/>
                    <a:gd name="T39" fmla="*/ 206 h 489"/>
                    <a:gd name="T40" fmla="*/ 180 w 592"/>
                    <a:gd name="T41" fmla="*/ 206 h 489"/>
                    <a:gd name="T42" fmla="*/ 180 w 592"/>
                    <a:gd name="T43" fmla="*/ 438 h 489"/>
                    <a:gd name="T44" fmla="*/ 52 w 592"/>
                    <a:gd name="T45" fmla="*/ 438 h 489"/>
                    <a:gd name="T46" fmla="*/ 52 w 592"/>
                    <a:gd name="T47" fmla="*/ 206 h 489"/>
                    <a:gd name="T48" fmla="*/ 232 w 592"/>
                    <a:gd name="T49" fmla="*/ 438 h 489"/>
                    <a:gd name="T50" fmla="*/ 232 w 592"/>
                    <a:gd name="T51" fmla="*/ 206 h 489"/>
                    <a:gd name="T52" fmla="*/ 541 w 592"/>
                    <a:gd name="T53" fmla="*/ 206 h 489"/>
                    <a:gd name="T54" fmla="*/ 541 w 592"/>
                    <a:gd name="T55" fmla="*/ 438 h 489"/>
                    <a:gd name="T56" fmla="*/ 232 w 592"/>
                    <a:gd name="T57" fmla="*/ 438 h 489"/>
                    <a:gd name="T58" fmla="*/ 232 w 592"/>
                    <a:gd name="T59" fmla="*/ 438 h 489"/>
                    <a:gd name="T60" fmla="*/ 232 w 592"/>
                    <a:gd name="T61" fmla="*/ 438 h 4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592" h="489">
                      <a:moveTo>
                        <a:pt x="592" y="463"/>
                      </a:moveTo>
                      <a:cubicBezTo>
                        <a:pt x="592" y="26"/>
                        <a:pt x="592" y="26"/>
                        <a:pt x="592" y="26"/>
                      </a:cubicBezTo>
                      <a:cubicBezTo>
                        <a:pt x="592" y="10"/>
                        <a:pt x="582" y="0"/>
                        <a:pt x="566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cubicBezTo>
                        <a:pt x="10" y="0"/>
                        <a:pt x="0" y="10"/>
                        <a:pt x="0" y="26"/>
                      </a:cubicBezTo>
                      <a:cubicBezTo>
                        <a:pt x="0" y="463"/>
                        <a:pt x="0" y="463"/>
                        <a:pt x="0" y="463"/>
                      </a:cubicBezTo>
                      <a:cubicBezTo>
                        <a:pt x="0" y="479"/>
                        <a:pt x="10" y="489"/>
                        <a:pt x="26" y="489"/>
                      </a:cubicBezTo>
                      <a:cubicBezTo>
                        <a:pt x="566" y="489"/>
                        <a:pt x="566" y="489"/>
                        <a:pt x="566" y="489"/>
                      </a:cubicBezTo>
                      <a:cubicBezTo>
                        <a:pt x="582" y="489"/>
                        <a:pt x="592" y="479"/>
                        <a:pt x="592" y="463"/>
                      </a:cubicBezTo>
                      <a:close/>
                      <a:moveTo>
                        <a:pt x="541" y="155"/>
                      </a:moveTo>
                      <a:cubicBezTo>
                        <a:pt x="232" y="155"/>
                        <a:pt x="232" y="155"/>
                        <a:pt x="232" y="155"/>
                      </a:cubicBezTo>
                      <a:cubicBezTo>
                        <a:pt x="232" y="51"/>
                        <a:pt x="232" y="51"/>
                        <a:pt x="232" y="51"/>
                      </a:cubicBezTo>
                      <a:cubicBezTo>
                        <a:pt x="541" y="51"/>
                        <a:pt x="541" y="51"/>
                        <a:pt x="541" y="51"/>
                      </a:cubicBezTo>
                      <a:lnTo>
                        <a:pt x="541" y="155"/>
                      </a:lnTo>
                      <a:close/>
                      <a:moveTo>
                        <a:pt x="180" y="51"/>
                      </a:moveTo>
                      <a:cubicBezTo>
                        <a:pt x="180" y="155"/>
                        <a:pt x="180" y="155"/>
                        <a:pt x="180" y="155"/>
                      </a:cubicBezTo>
                      <a:cubicBezTo>
                        <a:pt x="52" y="155"/>
                        <a:pt x="52" y="155"/>
                        <a:pt x="52" y="155"/>
                      </a:cubicBezTo>
                      <a:cubicBezTo>
                        <a:pt x="52" y="51"/>
                        <a:pt x="52" y="51"/>
                        <a:pt x="52" y="51"/>
                      </a:cubicBezTo>
                      <a:lnTo>
                        <a:pt x="180" y="51"/>
                      </a:lnTo>
                      <a:close/>
                      <a:moveTo>
                        <a:pt x="52" y="206"/>
                      </a:moveTo>
                      <a:cubicBezTo>
                        <a:pt x="180" y="206"/>
                        <a:pt x="180" y="206"/>
                        <a:pt x="180" y="206"/>
                      </a:cubicBezTo>
                      <a:cubicBezTo>
                        <a:pt x="180" y="438"/>
                        <a:pt x="180" y="438"/>
                        <a:pt x="180" y="438"/>
                      </a:cubicBezTo>
                      <a:cubicBezTo>
                        <a:pt x="52" y="438"/>
                        <a:pt x="52" y="438"/>
                        <a:pt x="52" y="438"/>
                      </a:cubicBezTo>
                      <a:lnTo>
                        <a:pt x="52" y="206"/>
                      </a:lnTo>
                      <a:close/>
                      <a:moveTo>
                        <a:pt x="232" y="438"/>
                      </a:moveTo>
                      <a:cubicBezTo>
                        <a:pt x="232" y="206"/>
                        <a:pt x="232" y="206"/>
                        <a:pt x="232" y="206"/>
                      </a:cubicBezTo>
                      <a:cubicBezTo>
                        <a:pt x="541" y="206"/>
                        <a:pt x="541" y="206"/>
                        <a:pt x="541" y="206"/>
                      </a:cubicBezTo>
                      <a:cubicBezTo>
                        <a:pt x="541" y="438"/>
                        <a:pt x="541" y="438"/>
                        <a:pt x="541" y="438"/>
                      </a:cubicBezTo>
                      <a:lnTo>
                        <a:pt x="232" y="438"/>
                      </a:lnTo>
                      <a:close/>
                      <a:moveTo>
                        <a:pt x="232" y="438"/>
                      </a:moveTo>
                      <a:cubicBezTo>
                        <a:pt x="232" y="438"/>
                        <a:pt x="232" y="438"/>
                        <a:pt x="232" y="438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783" name="Rectangle 404">
                  <a:extLst>
                    <a:ext uri="{FF2B5EF4-FFF2-40B4-BE49-F238E27FC236}">
                      <a16:creationId xmlns:a16="http://schemas.microsoft.com/office/drawing/2014/main" id="{E4537EBC-5AF3-F884-3BBE-6C9FB7EF4D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06726" y="6999288"/>
                  <a:ext cx="307975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784" name="Rectangle 405">
                  <a:extLst>
                    <a:ext uri="{FF2B5EF4-FFF2-40B4-BE49-F238E27FC236}">
                      <a16:creationId xmlns:a16="http://schemas.microsoft.com/office/drawing/2014/main" id="{0C62F310-D928-DC11-39F1-ED5394B9B1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06726" y="7072313"/>
                  <a:ext cx="307975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785" name="Rectangle 407">
                  <a:extLst>
                    <a:ext uri="{FF2B5EF4-FFF2-40B4-BE49-F238E27FC236}">
                      <a16:creationId xmlns:a16="http://schemas.microsoft.com/office/drawing/2014/main" id="{C1994F33-84A2-DC35-F5CB-16DF12675F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06725" y="7146926"/>
                  <a:ext cx="307975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786" name="Rectangle 408">
                  <a:extLst>
                    <a:ext uri="{FF2B5EF4-FFF2-40B4-BE49-F238E27FC236}">
                      <a16:creationId xmlns:a16="http://schemas.microsoft.com/office/drawing/2014/main" id="{C8E9C5D6-EFA4-F16E-DD8B-DB98C87AAE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00350" y="6675438"/>
                  <a:ext cx="88900" cy="3016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787" name="Rectangle 409">
                  <a:extLst>
                    <a:ext uri="{FF2B5EF4-FFF2-40B4-BE49-F238E27FC236}">
                      <a16:creationId xmlns:a16="http://schemas.microsoft.com/office/drawing/2014/main" id="{3EBA676A-6932-6E88-768F-433C2116F2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97054" y="6753303"/>
                  <a:ext cx="131764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788" name="Rectangle 410">
                  <a:extLst>
                    <a:ext uri="{FF2B5EF4-FFF2-40B4-BE49-F238E27FC236}">
                      <a16:creationId xmlns:a16="http://schemas.microsoft.com/office/drawing/2014/main" id="{13E39F14-8FD5-FB73-DD2D-406B101207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00350" y="7219951"/>
                  <a:ext cx="103188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789" name="Rectangle 411">
                  <a:extLst>
                    <a:ext uri="{FF2B5EF4-FFF2-40B4-BE49-F238E27FC236}">
                      <a16:creationId xmlns:a16="http://schemas.microsoft.com/office/drawing/2014/main" id="{377DF0BC-AB5B-490C-67F3-B2FF130667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47988" y="7219951"/>
                  <a:ext cx="101600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790" name="Rectangle 412">
                  <a:extLst>
                    <a:ext uri="{FF2B5EF4-FFF2-40B4-BE49-F238E27FC236}">
                      <a16:creationId xmlns:a16="http://schemas.microsoft.com/office/drawing/2014/main" id="{1A09D0F1-6C1F-CE0D-DF64-A45A96E386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94038" y="7219951"/>
                  <a:ext cx="103188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791" name="Rectangle 413">
                  <a:extLst>
                    <a:ext uri="{FF2B5EF4-FFF2-40B4-BE49-F238E27FC236}">
                      <a16:creationId xmlns:a16="http://schemas.microsoft.com/office/drawing/2014/main" id="{780B1F34-0693-390A-E35F-F476C5B08A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00350" y="7292976"/>
                  <a:ext cx="103188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792" name="Rectangle 414">
                  <a:extLst>
                    <a:ext uri="{FF2B5EF4-FFF2-40B4-BE49-F238E27FC236}">
                      <a16:creationId xmlns:a16="http://schemas.microsoft.com/office/drawing/2014/main" id="{ED0C9567-508B-BC3A-45EF-2C636F1C823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47988" y="7292976"/>
                  <a:ext cx="101600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793" name="Rectangle 415">
                  <a:extLst>
                    <a:ext uri="{FF2B5EF4-FFF2-40B4-BE49-F238E27FC236}">
                      <a16:creationId xmlns:a16="http://schemas.microsoft.com/office/drawing/2014/main" id="{9F43FEDA-83B4-EC13-8F3B-BA0574EE17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94038" y="7292976"/>
                  <a:ext cx="103188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794" name="Rectangle 416">
                  <a:extLst>
                    <a:ext uri="{FF2B5EF4-FFF2-40B4-BE49-F238E27FC236}">
                      <a16:creationId xmlns:a16="http://schemas.microsoft.com/office/drawing/2014/main" id="{A9398B3E-0336-4E4D-85C3-D6224C8C51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00350" y="7366001"/>
                  <a:ext cx="103188" cy="3016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795" name="Rectangle 417">
                  <a:extLst>
                    <a:ext uri="{FF2B5EF4-FFF2-40B4-BE49-F238E27FC236}">
                      <a16:creationId xmlns:a16="http://schemas.microsoft.com/office/drawing/2014/main" id="{78241CDC-B906-25A5-5B13-ECD8E9E390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47988" y="7366001"/>
                  <a:ext cx="101600" cy="3016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796" name="Rectangle 418">
                  <a:extLst>
                    <a:ext uri="{FF2B5EF4-FFF2-40B4-BE49-F238E27FC236}">
                      <a16:creationId xmlns:a16="http://schemas.microsoft.com/office/drawing/2014/main" id="{248D9C8F-DAE0-E42E-C57E-4FCD7B9911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94038" y="7366001"/>
                  <a:ext cx="103188" cy="3016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</p:grpSp>
          <p:sp>
            <p:nvSpPr>
              <p:cNvPr id="779" name="직사각형 12">
                <a:extLst>
                  <a:ext uri="{FF2B5EF4-FFF2-40B4-BE49-F238E27FC236}">
                    <a16:creationId xmlns:a16="http://schemas.microsoft.com/office/drawing/2014/main" id="{A20D8E90-AAA8-4175-592A-162DD95F7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0679" y="3274133"/>
                <a:ext cx="514694" cy="131864"/>
              </a:xfrm>
              <a:prstGeom prst="rect">
                <a:avLst/>
              </a:prstGeom>
              <a:solidFill>
                <a:srgbClr val="70AD47"/>
              </a:solidFill>
              <a:ln w="12700" cap="flat" cmpd="sng" algn="ctr">
                <a:solidFill>
                  <a:srgbClr val="70AD47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wrap="non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5pPr>
                <a:lvl6pPr marL="2514600" indent="-228600" defTabSz="890588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6pPr>
                <a:lvl7pPr marL="2971800" indent="-228600" defTabSz="890588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7pPr>
                <a:lvl8pPr marL="3429000" indent="-228600" defTabSz="890588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8pPr>
                <a:lvl9pPr marL="3886200" indent="-228600" defTabSz="890588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9pPr>
              </a:lstStyle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0" cap="none" spc="-50" normalizeH="0" baseline="0" noProof="0" dirty="0">
                    <a:ln>
                      <a:solidFill>
                        <a:prstClr val="white">
                          <a:alpha val="500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메타테이블</a:t>
                </a:r>
                <a:endParaRPr kumimoji="0" lang="en-US" altLang="ko-KR" sz="900" b="0" i="0" u="none" strike="noStrike" kern="0" cap="none" spc="-50" normalizeH="0" baseline="0" noProof="0" dirty="0">
                  <a:ln>
                    <a:solidFill>
                      <a:prstClr val="white">
                        <a:alpha val="500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endParaRPr>
              </a:p>
            </p:txBody>
          </p:sp>
        </p:grpSp>
        <p:sp>
          <p:nvSpPr>
            <p:cNvPr id="770" name="직사각형 769">
              <a:extLst>
                <a:ext uri="{FF2B5EF4-FFF2-40B4-BE49-F238E27FC236}">
                  <a16:creationId xmlns:a16="http://schemas.microsoft.com/office/drawing/2014/main" id="{E23B8EDA-14F1-F729-E0BB-1B6BE7E37A2E}"/>
                </a:ext>
              </a:extLst>
            </p:cNvPr>
            <p:cNvSpPr/>
            <p:nvPr/>
          </p:nvSpPr>
          <p:spPr>
            <a:xfrm>
              <a:off x="2793094" y="1659340"/>
              <a:ext cx="1230063" cy="714662"/>
            </a:xfrm>
            <a:prstGeom prst="rect">
              <a:avLst/>
            </a:prstGeom>
            <a:solidFill>
              <a:srgbClr val="70AD47"/>
            </a:solidFill>
            <a:ln w="12700" cap="flat" cmpd="sng" algn="ctr">
              <a:solidFill>
                <a:srgbClr val="70AD47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lIns="89319" tIns="44659" rIns="89319" bIns="44659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+mn-ea"/>
                  <a:cs typeface="+mn-cs"/>
                </a:rPr>
                <a:t>SMMS-Agent </a:t>
              </a:r>
            </a:p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+mn-ea"/>
                  <a:cs typeface="+mn-cs"/>
                </a:rPr>
                <a:t>(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+mn-ea"/>
                  <a:cs typeface="+mn-cs"/>
                </a:rPr>
                <a:t>송신 </a:t>
              </a:r>
              <a:r>
                <a:rPr kumimoji="0" lang="en-US" altLang="ko-KR" sz="7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+mn-ea"/>
                  <a:cs typeface="+mn-cs"/>
                </a:rPr>
                <a:t>Thread)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+mn-ea"/>
                  <a:cs typeface="+mn-cs"/>
                </a:rPr>
                <a:t>  </a:t>
              </a:r>
            </a:p>
          </p:txBody>
        </p:sp>
        <p:grpSp>
          <p:nvGrpSpPr>
            <p:cNvPr id="771" name="그룹 770">
              <a:extLst>
                <a:ext uri="{FF2B5EF4-FFF2-40B4-BE49-F238E27FC236}">
                  <a16:creationId xmlns:a16="http://schemas.microsoft.com/office/drawing/2014/main" id="{76FB064A-7FB1-171C-C597-A46C93283DF0}"/>
                </a:ext>
              </a:extLst>
            </p:cNvPr>
            <p:cNvGrpSpPr/>
            <p:nvPr/>
          </p:nvGrpSpPr>
          <p:grpSpPr>
            <a:xfrm>
              <a:off x="877133" y="1609757"/>
              <a:ext cx="606724" cy="271535"/>
              <a:chOff x="958525" y="1526415"/>
              <a:chExt cx="606724" cy="271535"/>
            </a:xfrm>
          </p:grpSpPr>
          <p:sp>
            <p:nvSpPr>
              <p:cNvPr id="776" name="원통 295">
                <a:extLst>
                  <a:ext uri="{FF2B5EF4-FFF2-40B4-BE49-F238E27FC236}">
                    <a16:creationId xmlns:a16="http://schemas.microsoft.com/office/drawing/2014/main" id="{D6CA5898-3E2C-1221-976D-74236E8FEF06}"/>
                  </a:ext>
                </a:extLst>
              </p:cNvPr>
              <p:cNvSpPr/>
              <p:nvPr/>
            </p:nvSpPr>
            <p:spPr>
              <a:xfrm>
                <a:off x="958525" y="1526415"/>
                <a:ext cx="606724" cy="271535"/>
              </a:xfrm>
              <a:prstGeom prst="can">
                <a:avLst/>
              </a:prstGeom>
              <a:solidFill>
                <a:srgbClr val="354976"/>
              </a:solidFill>
              <a:ln w="9525" cap="flat" cmpd="sng" algn="ctr">
                <a:solidFill>
                  <a:sysClr val="window" lastClr="FFFFFF"/>
                </a:solidFill>
                <a:prstDash val="solid"/>
                <a:miter lim="800000"/>
              </a:ln>
              <a:effectLst/>
            </p:spPr>
            <p:txBody>
              <a:bodyPr lIns="89319" tIns="44659" rIns="89319" bIns="44659"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777" name="직사각형 776">
                <a:extLst>
                  <a:ext uri="{FF2B5EF4-FFF2-40B4-BE49-F238E27FC236}">
                    <a16:creationId xmlns:a16="http://schemas.microsoft.com/office/drawing/2014/main" id="{76EA38F9-85FA-8E91-F296-F21365F33DF5}"/>
                  </a:ext>
                </a:extLst>
              </p:cNvPr>
              <p:cNvSpPr/>
              <p:nvPr/>
            </p:nvSpPr>
            <p:spPr>
              <a:xfrm>
                <a:off x="966515" y="1621112"/>
                <a:ext cx="590746" cy="153888"/>
              </a:xfrm>
              <a:prstGeom prst="rect">
                <a:avLst/>
              </a:prstGeom>
            </p:spPr>
            <p:txBody>
              <a:bodyPr wrap="square" lIns="0" tIns="0" rIns="0" bIns="0" anchor="ctr">
                <a:spAutoFit/>
              </a:bodyPr>
              <a:lstStyle/>
              <a:p>
                <a:pPr algn="ctr" defTabSz="457200" latinLnBrk="0"/>
                <a:r>
                  <a:rPr lang="en-US" altLang="ko-KR" sz="100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+mn-ea"/>
                  </a:rPr>
                  <a:t>UMS DB</a:t>
                </a:r>
              </a:p>
            </p:txBody>
          </p:sp>
        </p:grpSp>
        <p:cxnSp>
          <p:nvCxnSpPr>
            <p:cNvPr id="772" name="직선 화살표 연결선 771">
              <a:extLst>
                <a:ext uri="{FF2B5EF4-FFF2-40B4-BE49-F238E27FC236}">
                  <a16:creationId xmlns:a16="http://schemas.microsoft.com/office/drawing/2014/main" id="{CD8B183B-0FC1-C251-ACC0-BDA82FC3DCC2}"/>
                </a:ext>
              </a:extLst>
            </p:cNvPr>
            <p:cNvCxnSpPr>
              <a:cxnSpLocks/>
            </p:cNvCxnSpPr>
            <p:nvPr/>
          </p:nvCxnSpPr>
          <p:spPr>
            <a:xfrm>
              <a:off x="1173443" y="1885681"/>
              <a:ext cx="0" cy="146890"/>
            </a:xfrm>
            <a:prstGeom prst="straightConnector1">
              <a:avLst/>
            </a:prstGeom>
            <a:noFill/>
            <a:ln w="6350" cap="flat" cmpd="sng" algn="ctr">
              <a:solidFill>
                <a:srgbClr val="FF0000"/>
              </a:solidFill>
              <a:prstDash val="solid"/>
              <a:miter lim="800000"/>
              <a:tailEnd type="triangle" w="sm" len="sm"/>
            </a:ln>
            <a:effectLst/>
          </p:spPr>
        </p:cxnSp>
        <p:sp>
          <p:nvSpPr>
            <p:cNvPr id="773" name="직사각형 772">
              <a:extLst>
                <a:ext uri="{FF2B5EF4-FFF2-40B4-BE49-F238E27FC236}">
                  <a16:creationId xmlns:a16="http://schemas.microsoft.com/office/drawing/2014/main" id="{B572CAB5-B91D-05C8-A8A0-971004BE94A6}"/>
                </a:ext>
              </a:extLst>
            </p:cNvPr>
            <p:cNvSpPr/>
            <p:nvPr/>
          </p:nvSpPr>
          <p:spPr>
            <a:xfrm>
              <a:off x="1780167" y="1651644"/>
              <a:ext cx="775357" cy="279780"/>
            </a:xfrm>
            <a:prstGeom prst="rect">
              <a:avLst/>
            </a:prstGeom>
            <a:solidFill>
              <a:sysClr val="window" lastClr="FFFFFF"/>
            </a:solidFill>
            <a:ln w="9525" cap="flat" cmpd="sng" algn="ctr">
              <a:noFill/>
              <a:prstDash val="solid"/>
              <a:miter lim="800000"/>
            </a:ln>
            <a:effectLst/>
          </p:spPr>
          <p:txBody>
            <a:bodyPr lIns="89319" tIns="44659" rIns="89319" bIns="44659" rtlCol="0" anchor="ctr"/>
            <a:lstStyle/>
            <a:p>
              <a:pPr algn="ctr" defTabSz="457200" latinLnBrk="0"/>
              <a:r>
                <a:rPr lang="ko-KR" altLang="en-US" sz="1000" kern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</a:rPr>
                <a:t>분배기</a:t>
              </a:r>
            </a:p>
          </p:txBody>
        </p:sp>
        <p:cxnSp>
          <p:nvCxnSpPr>
            <p:cNvPr id="774" name="연결선: 꺾임 301">
              <a:extLst>
                <a:ext uri="{FF2B5EF4-FFF2-40B4-BE49-F238E27FC236}">
                  <a16:creationId xmlns:a16="http://schemas.microsoft.com/office/drawing/2014/main" id="{D7D6B876-DCE1-E264-8334-CED38851A08C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1296219" y="1803343"/>
              <a:ext cx="481810" cy="361541"/>
            </a:xfrm>
            <a:prstGeom prst="bentConnector3">
              <a:avLst>
                <a:gd name="adj1" fmla="val 50000"/>
              </a:avLst>
            </a:prstGeom>
            <a:noFill/>
            <a:ln w="22225" cap="flat" cmpd="sng" algn="ctr">
              <a:solidFill>
                <a:srgbClr val="FF0000"/>
              </a:solidFill>
              <a:prstDash val="solid"/>
              <a:miter lim="800000"/>
              <a:tailEnd type="triangle" w="sm" len="sm"/>
            </a:ln>
            <a:effectLst/>
          </p:spPr>
        </p:cxnSp>
        <p:cxnSp>
          <p:nvCxnSpPr>
            <p:cNvPr id="775" name="연결선: 꺾임 854">
              <a:extLst>
                <a:ext uri="{FF2B5EF4-FFF2-40B4-BE49-F238E27FC236}">
                  <a16:creationId xmlns:a16="http://schemas.microsoft.com/office/drawing/2014/main" id="{731951A5-0D36-543E-BCEF-485D5D80A5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5869" y="2260610"/>
              <a:ext cx="1287878" cy="90009"/>
            </a:xfrm>
            <a:prstGeom prst="bentConnector3">
              <a:avLst/>
            </a:prstGeom>
            <a:noFill/>
            <a:ln w="635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  <a:tailEnd type="triangle" w="sm" len="sm"/>
            </a:ln>
            <a:effectLst/>
          </p:spPr>
        </p:cxnSp>
      </p:grpSp>
      <p:grpSp>
        <p:nvGrpSpPr>
          <p:cNvPr id="798" name="그룹 797">
            <a:extLst>
              <a:ext uri="{FF2B5EF4-FFF2-40B4-BE49-F238E27FC236}">
                <a16:creationId xmlns:a16="http://schemas.microsoft.com/office/drawing/2014/main" id="{D33A4BC5-0794-B423-2FFC-5D661D69D0E0}"/>
              </a:ext>
            </a:extLst>
          </p:cNvPr>
          <p:cNvGrpSpPr/>
          <p:nvPr/>
        </p:nvGrpSpPr>
        <p:grpSpPr>
          <a:xfrm>
            <a:off x="3941713" y="3799487"/>
            <a:ext cx="3404257" cy="1001080"/>
            <a:chOff x="782745" y="1488219"/>
            <a:chExt cx="3404257" cy="1001080"/>
          </a:xfrm>
        </p:grpSpPr>
        <p:sp>
          <p:nvSpPr>
            <p:cNvPr id="799" name="모서리가 둥근 직사각형 146">
              <a:extLst>
                <a:ext uri="{FF2B5EF4-FFF2-40B4-BE49-F238E27FC236}">
                  <a16:creationId xmlns:a16="http://schemas.microsoft.com/office/drawing/2014/main" id="{793CA616-49A0-FB95-F992-0B1B7F1665F7}"/>
                </a:ext>
              </a:extLst>
            </p:cNvPr>
            <p:cNvSpPr/>
            <p:nvPr/>
          </p:nvSpPr>
          <p:spPr>
            <a:xfrm>
              <a:off x="844651" y="1573681"/>
              <a:ext cx="3270149" cy="845267"/>
            </a:xfrm>
            <a:prstGeom prst="roundRect">
              <a:avLst>
                <a:gd name="adj" fmla="val 0"/>
              </a:avLst>
            </a:prstGeom>
            <a:solidFill>
              <a:srgbClr val="D4E3F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800" name="모서리가 둥근 직사각형 43">
              <a:extLst>
                <a:ext uri="{FF2B5EF4-FFF2-40B4-BE49-F238E27FC236}">
                  <a16:creationId xmlns:a16="http://schemas.microsoft.com/office/drawing/2014/main" id="{499436FA-7EDC-E450-7C21-E121E81869DD}"/>
                </a:ext>
              </a:extLst>
            </p:cNvPr>
            <p:cNvSpPr/>
            <p:nvPr/>
          </p:nvSpPr>
          <p:spPr>
            <a:xfrm>
              <a:off x="782745" y="1488219"/>
              <a:ext cx="3404257" cy="1001080"/>
            </a:xfrm>
            <a:prstGeom prst="roundRect">
              <a:avLst>
                <a:gd name="adj" fmla="val 4458"/>
              </a:avLst>
            </a:prstGeom>
            <a:noFill/>
            <a:ln w="19050" cap="flat" cmpd="sng" algn="ctr">
              <a:solidFill>
                <a:srgbClr val="718BC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grpSp>
          <p:nvGrpSpPr>
            <p:cNvPr id="801" name="그룹 800">
              <a:extLst>
                <a:ext uri="{FF2B5EF4-FFF2-40B4-BE49-F238E27FC236}">
                  <a16:creationId xmlns:a16="http://schemas.microsoft.com/office/drawing/2014/main" id="{E5D84957-B1B3-AB88-63EB-F53D5FB355C7}"/>
                </a:ext>
              </a:extLst>
            </p:cNvPr>
            <p:cNvGrpSpPr/>
            <p:nvPr/>
          </p:nvGrpSpPr>
          <p:grpSpPr>
            <a:xfrm>
              <a:off x="890294" y="2042096"/>
              <a:ext cx="951534" cy="380908"/>
              <a:chOff x="2390679" y="3043337"/>
              <a:chExt cx="898585" cy="362660"/>
            </a:xfrm>
          </p:grpSpPr>
          <p:grpSp>
            <p:nvGrpSpPr>
              <p:cNvPr id="810" name="그룹 809">
                <a:extLst>
                  <a:ext uri="{FF2B5EF4-FFF2-40B4-BE49-F238E27FC236}">
                    <a16:creationId xmlns:a16="http://schemas.microsoft.com/office/drawing/2014/main" id="{C613E11B-EB3D-1E7A-CC36-118447B79D3C}"/>
                  </a:ext>
                </a:extLst>
              </p:cNvPr>
              <p:cNvGrpSpPr/>
              <p:nvPr/>
            </p:nvGrpSpPr>
            <p:grpSpPr>
              <a:xfrm>
                <a:off x="2548087" y="3043337"/>
                <a:ext cx="741177" cy="225928"/>
                <a:chOff x="2638426" y="6588126"/>
                <a:chExt cx="2890392" cy="881063"/>
              </a:xfrm>
              <a:solidFill>
                <a:srgbClr val="718BC5"/>
              </a:solidFill>
            </p:grpSpPr>
            <p:sp>
              <p:nvSpPr>
                <p:cNvPr id="812" name="Freeform 401">
                  <a:extLst>
                    <a:ext uri="{FF2B5EF4-FFF2-40B4-BE49-F238E27FC236}">
                      <a16:creationId xmlns:a16="http://schemas.microsoft.com/office/drawing/2014/main" id="{59FFD1BE-0C16-7845-B1B6-1AF016E7B97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727326" y="6588126"/>
                  <a:ext cx="690563" cy="881063"/>
                </a:xfrm>
                <a:custGeom>
                  <a:avLst/>
                  <a:gdLst>
                    <a:gd name="T0" fmla="*/ 1209 w 1209"/>
                    <a:gd name="T1" fmla="*/ 1261 h 1544"/>
                    <a:gd name="T2" fmla="*/ 1209 w 1209"/>
                    <a:gd name="T3" fmla="*/ 25 h 1544"/>
                    <a:gd name="T4" fmla="*/ 1184 w 1209"/>
                    <a:gd name="T5" fmla="*/ 0 h 1544"/>
                    <a:gd name="T6" fmla="*/ 26 w 1209"/>
                    <a:gd name="T7" fmla="*/ 0 h 1544"/>
                    <a:gd name="T8" fmla="*/ 0 w 1209"/>
                    <a:gd name="T9" fmla="*/ 25 h 1544"/>
                    <a:gd name="T10" fmla="*/ 0 w 1209"/>
                    <a:gd name="T11" fmla="*/ 386 h 1544"/>
                    <a:gd name="T12" fmla="*/ 51 w 1209"/>
                    <a:gd name="T13" fmla="*/ 386 h 1544"/>
                    <a:gd name="T14" fmla="*/ 51 w 1209"/>
                    <a:gd name="T15" fmla="*/ 51 h 1544"/>
                    <a:gd name="T16" fmla="*/ 1158 w 1209"/>
                    <a:gd name="T17" fmla="*/ 51 h 1544"/>
                    <a:gd name="T18" fmla="*/ 1158 w 1209"/>
                    <a:gd name="T19" fmla="*/ 1235 h 1544"/>
                    <a:gd name="T20" fmla="*/ 926 w 1209"/>
                    <a:gd name="T21" fmla="*/ 1235 h 1544"/>
                    <a:gd name="T22" fmla="*/ 901 w 1209"/>
                    <a:gd name="T23" fmla="*/ 1261 h 1544"/>
                    <a:gd name="T24" fmla="*/ 901 w 1209"/>
                    <a:gd name="T25" fmla="*/ 1492 h 1544"/>
                    <a:gd name="T26" fmla="*/ 51 w 1209"/>
                    <a:gd name="T27" fmla="*/ 1492 h 1544"/>
                    <a:gd name="T28" fmla="*/ 51 w 1209"/>
                    <a:gd name="T29" fmla="*/ 1106 h 1544"/>
                    <a:gd name="T30" fmla="*/ 0 w 1209"/>
                    <a:gd name="T31" fmla="*/ 1106 h 1544"/>
                    <a:gd name="T32" fmla="*/ 0 w 1209"/>
                    <a:gd name="T33" fmla="*/ 1518 h 1544"/>
                    <a:gd name="T34" fmla="*/ 26 w 1209"/>
                    <a:gd name="T35" fmla="*/ 1544 h 1544"/>
                    <a:gd name="T36" fmla="*/ 926 w 1209"/>
                    <a:gd name="T37" fmla="*/ 1544 h 1544"/>
                    <a:gd name="T38" fmla="*/ 944 w 1209"/>
                    <a:gd name="T39" fmla="*/ 1536 h 1544"/>
                    <a:gd name="T40" fmla="*/ 1202 w 1209"/>
                    <a:gd name="T41" fmla="*/ 1279 h 1544"/>
                    <a:gd name="T42" fmla="*/ 1207 w 1209"/>
                    <a:gd name="T43" fmla="*/ 1271 h 1544"/>
                    <a:gd name="T44" fmla="*/ 1207 w 1209"/>
                    <a:gd name="T45" fmla="*/ 1269 h 1544"/>
                    <a:gd name="T46" fmla="*/ 1209 w 1209"/>
                    <a:gd name="T47" fmla="*/ 1261 h 1544"/>
                    <a:gd name="T48" fmla="*/ 952 w 1209"/>
                    <a:gd name="T49" fmla="*/ 1286 h 1544"/>
                    <a:gd name="T50" fmla="*/ 1122 w 1209"/>
                    <a:gd name="T51" fmla="*/ 1286 h 1544"/>
                    <a:gd name="T52" fmla="*/ 952 w 1209"/>
                    <a:gd name="T53" fmla="*/ 1456 h 1544"/>
                    <a:gd name="T54" fmla="*/ 952 w 1209"/>
                    <a:gd name="T55" fmla="*/ 1286 h 1544"/>
                    <a:gd name="T56" fmla="*/ 952 w 1209"/>
                    <a:gd name="T57" fmla="*/ 1286 h 1544"/>
                    <a:gd name="T58" fmla="*/ 952 w 1209"/>
                    <a:gd name="T59" fmla="*/ 1286 h 15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1209" h="1544">
                      <a:moveTo>
                        <a:pt x="1209" y="1261"/>
                      </a:moveTo>
                      <a:cubicBezTo>
                        <a:pt x="1209" y="25"/>
                        <a:pt x="1209" y="25"/>
                        <a:pt x="1209" y="25"/>
                      </a:cubicBezTo>
                      <a:cubicBezTo>
                        <a:pt x="1209" y="10"/>
                        <a:pt x="1199" y="0"/>
                        <a:pt x="118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cubicBezTo>
                        <a:pt x="10" y="0"/>
                        <a:pt x="0" y="10"/>
                        <a:pt x="0" y="25"/>
                      </a:cubicBezTo>
                      <a:cubicBezTo>
                        <a:pt x="0" y="386"/>
                        <a:pt x="0" y="386"/>
                        <a:pt x="0" y="386"/>
                      </a:cubicBezTo>
                      <a:cubicBezTo>
                        <a:pt x="51" y="386"/>
                        <a:pt x="51" y="386"/>
                        <a:pt x="51" y="386"/>
                      </a:cubicBezTo>
                      <a:cubicBezTo>
                        <a:pt x="51" y="51"/>
                        <a:pt x="51" y="51"/>
                        <a:pt x="51" y="51"/>
                      </a:cubicBezTo>
                      <a:cubicBezTo>
                        <a:pt x="1158" y="51"/>
                        <a:pt x="1158" y="51"/>
                        <a:pt x="1158" y="51"/>
                      </a:cubicBezTo>
                      <a:cubicBezTo>
                        <a:pt x="1158" y="1235"/>
                        <a:pt x="1158" y="1235"/>
                        <a:pt x="1158" y="1235"/>
                      </a:cubicBezTo>
                      <a:cubicBezTo>
                        <a:pt x="926" y="1235"/>
                        <a:pt x="926" y="1235"/>
                        <a:pt x="926" y="1235"/>
                      </a:cubicBezTo>
                      <a:cubicBezTo>
                        <a:pt x="911" y="1235"/>
                        <a:pt x="901" y="1245"/>
                        <a:pt x="901" y="1261"/>
                      </a:cubicBezTo>
                      <a:cubicBezTo>
                        <a:pt x="901" y="1492"/>
                        <a:pt x="901" y="1492"/>
                        <a:pt x="901" y="1492"/>
                      </a:cubicBezTo>
                      <a:cubicBezTo>
                        <a:pt x="51" y="1492"/>
                        <a:pt x="51" y="1492"/>
                        <a:pt x="51" y="1492"/>
                      </a:cubicBezTo>
                      <a:cubicBezTo>
                        <a:pt x="51" y="1106"/>
                        <a:pt x="51" y="1106"/>
                        <a:pt x="51" y="1106"/>
                      </a:cubicBezTo>
                      <a:cubicBezTo>
                        <a:pt x="0" y="1106"/>
                        <a:pt x="0" y="1106"/>
                        <a:pt x="0" y="1106"/>
                      </a:cubicBezTo>
                      <a:cubicBezTo>
                        <a:pt x="0" y="1518"/>
                        <a:pt x="0" y="1518"/>
                        <a:pt x="0" y="1518"/>
                      </a:cubicBezTo>
                      <a:cubicBezTo>
                        <a:pt x="0" y="1534"/>
                        <a:pt x="10" y="1544"/>
                        <a:pt x="26" y="1544"/>
                      </a:cubicBezTo>
                      <a:cubicBezTo>
                        <a:pt x="926" y="1544"/>
                        <a:pt x="926" y="1544"/>
                        <a:pt x="926" y="1544"/>
                      </a:cubicBezTo>
                      <a:cubicBezTo>
                        <a:pt x="934" y="1544"/>
                        <a:pt x="939" y="1541"/>
                        <a:pt x="944" y="1536"/>
                      </a:cubicBezTo>
                      <a:cubicBezTo>
                        <a:pt x="1202" y="1279"/>
                        <a:pt x="1202" y="1279"/>
                        <a:pt x="1202" y="1279"/>
                      </a:cubicBezTo>
                      <a:cubicBezTo>
                        <a:pt x="1204" y="1276"/>
                        <a:pt x="1204" y="1274"/>
                        <a:pt x="1207" y="1271"/>
                      </a:cubicBezTo>
                      <a:cubicBezTo>
                        <a:pt x="1207" y="1269"/>
                        <a:pt x="1207" y="1269"/>
                        <a:pt x="1207" y="1269"/>
                      </a:cubicBezTo>
                      <a:cubicBezTo>
                        <a:pt x="1209" y="1266"/>
                        <a:pt x="1209" y="1263"/>
                        <a:pt x="1209" y="1261"/>
                      </a:cubicBezTo>
                      <a:close/>
                      <a:moveTo>
                        <a:pt x="952" y="1286"/>
                      </a:moveTo>
                      <a:cubicBezTo>
                        <a:pt x="1122" y="1286"/>
                        <a:pt x="1122" y="1286"/>
                        <a:pt x="1122" y="1286"/>
                      </a:cubicBezTo>
                      <a:cubicBezTo>
                        <a:pt x="952" y="1456"/>
                        <a:pt x="952" y="1456"/>
                        <a:pt x="952" y="1456"/>
                      </a:cubicBezTo>
                      <a:lnTo>
                        <a:pt x="952" y="1286"/>
                      </a:lnTo>
                      <a:close/>
                      <a:moveTo>
                        <a:pt x="952" y="1286"/>
                      </a:moveTo>
                      <a:cubicBezTo>
                        <a:pt x="952" y="1286"/>
                        <a:pt x="952" y="1286"/>
                        <a:pt x="952" y="1286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813" name="Freeform 402">
                  <a:extLst>
                    <a:ext uri="{FF2B5EF4-FFF2-40B4-BE49-F238E27FC236}">
                      <a16:creationId xmlns:a16="http://schemas.microsoft.com/office/drawing/2014/main" id="{3D538ADC-D22B-BFAE-6EB6-0A8AE3C4DFC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638426" y="6823076"/>
                  <a:ext cx="338138" cy="323850"/>
                </a:xfrm>
                <a:custGeom>
                  <a:avLst/>
                  <a:gdLst>
                    <a:gd name="T0" fmla="*/ 334 w 591"/>
                    <a:gd name="T1" fmla="*/ 567 h 567"/>
                    <a:gd name="T2" fmla="*/ 591 w 591"/>
                    <a:gd name="T3" fmla="*/ 567 h 567"/>
                    <a:gd name="T4" fmla="*/ 591 w 591"/>
                    <a:gd name="T5" fmla="*/ 515 h 567"/>
                    <a:gd name="T6" fmla="*/ 514 w 591"/>
                    <a:gd name="T7" fmla="*/ 515 h 567"/>
                    <a:gd name="T8" fmla="*/ 514 w 591"/>
                    <a:gd name="T9" fmla="*/ 26 h 567"/>
                    <a:gd name="T10" fmla="*/ 488 w 591"/>
                    <a:gd name="T11" fmla="*/ 0 h 567"/>
                    <a:gd name="T12" fmla="*/ 334 w 591"/>
                    <a:gd name="T13" fmla="*/ 0 h 567"/>
                    <a:gd name="T14" fmla="*/ 308 w 591"/>
                    <a:gd name="T15" fmla="*/ 26 h 567"/>
                    <a:gd name="T16" fmla="*/ 308 w 591"/>
                    <a:gd name="T17" fmla="*/ 181 h 567"/>
                    <a:gd name="T18" fmla="*/ 180 w 591"/>
                    <a:gd name="T19" fmla="*/ 181 h 567"/>
                    <a:gd name="T20" fmla="*/ 154 w 591"/>
                    <a:gd name="T21" fmla="*/ 206 h 567"/>
                    <a:gd name="T22" fmla="*/ 154 w 591"/>
                    <a:gd name="T23" fmla="*/ 309 h 567"/>
                    <a:gd name="T24" fmla="*/ 25 w 591"/>
                    <a:gd name="T25" fmla="*/ 309 h 567"/>
                    <a:gd name="T26" fmla="*/ 0 w 591"/>
                    <a:gd name="T27" fmla="*/ 335 h 567"/>
                    <a:gd name="T28" fmla="*/ 0 w 591"/>
                    <a:gd name="T29" fmla="*/ 541 h 567"/>
                    <a:gd name="T30" fmla="*/ 25 w 591"/>
                    <a:gd name="T31" fmla="*/ 567 h 567"/>
                    <a:gd name="T32" fmla="*/ 334 w 591"/>
                    <a:gd name="T33" fmla="*/ 567 h 567"/>
                    <a:gd name="T34" fmla="*/ 360 w 591"/>
                    <a:gd name="T35" fmla="*/ 52 h 567"/>
                    <a:gd name="T36" fmla="*/ 463 w 591"/>
                    <a:gd name="T37" fmla="*/ 52 h 567"/>
                    <a:gd name="T38" fmla="*/ 463 w 591"/>
                    <a:gd name="T39" fmla="*/ 515 h 567"/>
                    <a:gd name="T40" fmla="*/ 360 w 591"/>
                    <a:gd name="T41" fmla="*/ 515 h 567"/>
                    <a:gd name="T42" fmla="*/ 360 w 591"/>
                    <a:gd name="T43" fmla="*/ 52 h 567"/>
                    <a:gd name="T44" fmla="*/ 205 w 591"/>
                    <a:gd name="T45" fmla="*/ 232 h 567"/>
                    <a:gd name="T46" fmla="*/ 308 w 591"/>
                    <a:gd name="T47" fmla="*/ 232 h 567"/>
                    <a:gd name="T48" fmla="*/ 308 w 591"/>
                    <a:gd name="T49" fmla="*/ 515 h 567"/>
                    <a:gd name="T50" fmla="*/ 205 w 591"/>
                    <a:gd name="T51" fmla="*/ 515 h 567"/>
                    <a:gd name="T52" fmla="*/ 205 w 591"/>
                    <a:gd name="T53" fmla="*/ 232 h 567"/>
                    <a:gd name="T54" fmla="*/ 51 w 591"/>
                    <a:gd name="T55" fmla="*/ 361 h 567"/>
                    <a:gd name="T56" fmla="*/ 154 w 591"/>
                    <a:gd name="T57" fmla="*/ 361 h 567"/>
                    <a:gd name="T58" fmla="*/ 154 w 591"/>
                    <a:gd name="T59" fmla="*/ 515 h 567"/>
                    <a:gd name="T60" fmla="*/ 51 w 591"/>
                    <a:gd name="T61" fmla="*/ 515 h 567"/>
                    <a:gd name="T62" fmla="*/ 51 w 591"/>
                    <a:gd name="T63" fmla="*/ 361 h 567"/>
                    <a:gd name="T64" fmla="*/ 51 w 591"/>
                    <a:gd name="T65" fmla="*/ 361 h 567"/>
                    <a:gd name="T66" fmla="*/ 51 w 591"/>
                    <a:gd name="T67" fmla="*/ 361 h 5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591" h="567">
                      <a:moveTo>
                        <a:pt x="334" y="567"/>
                      </a:moveTo>
                      <a:cubicBezTo>
                        <a:pt x="591" y="567"/>
                        <a:pt x="591" y="567"/>
                        <a:pt x="591" y="567"/>
                      </a:cubicBezTo>
                      <a:cubicBezTo>
                        <a:pt x="591" y="515"/>
                        <a:pt x="591" y="515"/>
                        <a:pt x="591" y="515"/>
                      </a:cubicBezTo>
                      <a:cubicBezTo>
                        <a:pt x="514" y="515"/>
                        <a:pt x="514" y="515"/>
                        <a:pt x="514" y="515"/>
                      </a:cubicBezTo>
                      <a:cubicBezTo>
                        <a:pt x="514" y="26"/>
                        <a:pt x="514" y="26"/>
                        <a:pt x="514" y="26"/>
                      </a:cubicBezTo>
                      <a:cubicBezTo>
                        <a:pt x="514" y="11"/>
                        <a:pt x="504" y="0"/>
                        <a:pt x="488" y="0"/>
                      </a:cubicBezTo>
                      <a:cubicBezTo>
                        <a:pt x="334" y="0"/>
                        <a:pt x="334" y="0"/>
                        <a:pt x="334" y="0"/>
                      </a:cubicBezTo>
                      <a:cubicBezTo>
                        <a:pt x="319" y="0"/>
                        <a:pt x="308" y="11"/>
                        <a:pt x="308" y="26"/>
                      </a:cubicBezTo>
                      <a:cubicBezTo>
                        <a:pt x="308" y="181"/>
                        <a:pt x="308" y="181"/>
                        <a:pt x="308" y="181"/>
                      </a:cubicBezTo>
                      <a:cubicBezTo>
                        <a:pt x="180" y="181"/>
                        <a:pt x="180" y="181"/>
                        <a:pt x="180" y="181"/>
                      </a:cubicBezTo>
                      <a:cubicBezTo>
                        <a:pt x="164" y="181"/>
                        <a:pt x="154" y="191"/>
                        <a:pt x="154" y="206"/>
                      </a:cubicBezTo>
                      <a:cubicBezTo>
                        <a:pt x="154" y="309"/>
                        <a:pt x="154" y="309"/>
                        <a:pt x="154" y="309"/>
                      </a:cubicBezTo>
                      <a:cubicBezTo>
                        <a:pt x="25" y="309"/>
                        <a:pt x="25" y="309"/>
                        <a:pt x="25" y="309"/>
                      </a:cubicBezTo>
                      <a:cubicBezTo>
                        <a:pt x="10" y="309"/>
                        <a:pt x="0" y="320"/>
                        <a:pt x="0" y="335"/>
                      </a:cubicBezTo>
                      <a:cubicBezTo>
                        <a:pt x="0" y="541"/>
                        <a:pt x="0" y="541"/>
                        <a:pt x="0" y="541"/>
                      </a:cubicBezTo>
                      <a:cubicBezTo>
                        <a:pt x="0" y="556"/>
                        <a:pt x="10" y="567"/>
                        <a:pt x="25" y="567"/>
                      </a:cubicBezTo>
                      <a:lnTo>
                        <a:pt x="334" y="567"/>
                      </a:lnTo>
                      <a:close/>
                      <a:moveTo>
                        <a:pt x="360" y="52"/>
                      </a:moveTo>
                      <a:cubicBezTo>
                        <a:pt x="463" y="52"/>
                        <a:pt x="463" y="52"/>
                        <a:pt x="463" y="52"/>
                      </a:cubicBezTo>
                      <a:cubicBezTo>
                        <a:pt x="463" y="515"/>
                        <a:pt x="463" y="515"/>
                        <a:pt x="463" y="515"/>
                      </a:cubicBezTo>
                      <a:cubicBezTo>
                        <a:pt x="360" y="515"/>
                        <a:pt x="360" y="515"/>
                        <a:pt x="360" y="515"/>
                      </a:cubicBezTo>
                      <a:lnTo>
                        <a:pt x="360" y="52"/>
                      </a:lnTo>
                      <a:close/>
                      <a:moveTo>
                        <a:pt x="205" y="232"/>
                      </a:moveTo>
                      <a:cubicBezTo>
                        <a:pt x="308" y="232"/>
                        <a:pt x="308" y="232"/>
                        <a:pt x="308" y="232"/>
                      </a:cubicBezTo>
                      <a:cubicBezTo>
                        <a:pt x="308" y="515"/>
                        <a:pt x="308" y="515"/>
                        <a:pt x="308" y="515"/>
                      </a:cubicBezTo>
                      <a:cubicBezTo>
                        <a:pt x="205" y="515"/>
                        <a:pt x="205" y="515"/>
                        <a:pt x="205" y="515"/>
                      </a:cubicBezTo>
                      <a:lnTo>
                        <a:pt x="205" y="232"/>
                      </a:lnTo>
                      <a:close/>
                      <a:moveTo>
                        <a:pt x="51" y="361"/>
                      </a:moveTo>
                      <a:cubicBezTo>
                        <a:pt x="154" y="361"/>
                        <a:pt x="154" y="361"/>
                        <a:pt x="154" y="361"/>
                      </a:cubicBezTo>
                      <a:cubicBezTo>
                        <a:pt x="154" y="515"/>
                        <a:pt x="154" y="515"/>
                        <a:pt x="154" y="515"/>
                      </a:cubicBezTo>
                      <a:cubicBezTo>
                        <a:pt x="51" y="515"/>
                        <a:pt x="51" y="515"/>
                        <a:pt x="51" y="515"/>
                      </a:cubicBezTo>
                      <a:lnTo>
                        <a:pt x="51" y="361"/>
                      </a:lnTo>
                      <a:close/>
                      <a:moveTo>
                        <a:pt x="51" y="361"/>
                      </a:moveTo>
                      <a:cubicBezTo>
                        <a:pt x="51" y="361"/>
                        <a:pt x="51" y="361"/>
                        <a:pt x="51" y="361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814" name="Freeform 403">
                  <a:extLst>
                    <a:ext uri="{FF2B5EF4-FFF2-40B4-BE49-F238E27FC236}">
                      <a16:creationId xmlns:a16="http://schemas.microsoft.com/office/drawing/2014/main" id="{E9F98C14-965D-425D-95ED-14714155796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990851" y="6675438"/>
                  <a:ext cx="338138" cy="279400"/>
                </a:xfrm>
                <a:custGeom>
                  <a:avLst/>
                  <a:gdLst>
                    <a:gd name="T0" fmla="*/ 592 w 592"/>
                    <a:gd name="T1" fmla="*/ 463 h 489"/>
                    <a:gd name="T2" fmla="*/ 592 w 592"/>
                    <a:gd name="T3" fmla="*/ 26 h 489"/>
                    <a:gd name="T4" fmla="*/ 566 w 592"/>
                    <a:gd name="T5" fmla="*/ 0 h 489"/>
                    <a:gd name="T6" fmla="*/ 26 w 592"/>
                    <a:gd name="T7" fmla="*/ 0 h 489"/>
                    <a:gd name="T8" fmla="*/ 0 w 592"/>
                    <a:gd name="T9" fmla="*/ 26 h 489"/>
                    <a:gd name="T10" fmla="*/ 0 w 592"/>
                    <a:gd name="T11" fmla="*/ 463 h 489"/>
                    <a:gd name="T12" fmla="*/ 26 w 592"/>
                    <a:gd name="T13" fmla="*/ 489 h 489"/>
                    <a:gd name="T14" fmla="*/ 566 w 592"/>
                    <a:gd name="T15" fmla="*/ 489 h 489"/>
                    <a:gd name="T16" fmla="*/ 592 w 592"/>
                    <a:gd name="T17" fmla="*/ 463 h 489"/>
                    <a:gd name="T18" fmla="*/ 541 w 592"/>
                    <a:gd name="T19" fmla="*/ 155 h 489"/>
                    <a:gd name="T20" fmla="*/ 232 w 592"/>
                    <a:gd name="T21" fmla="*/ 155 h 489"/>
                    <a:gd name="T22" fmla="*/ 232 w 592"/>
                    <a:gd name="T23" fmla="*/ 51 h 489"/>
                    <a:gd name="T24" fmla="*/ 541 w 592"/>
                    <a:gd name="T25" fmla="*/ 51 h 489"/>
                    <a:gd name="T26" fmla="*/ 541 w 592"/>
                    <a:gd name="T27" fmla="*/ 155 h 489"/>
                    <a:gd name="T28" fmla="*/ 180 w 592"/>
                    <a:gd name="T29" fmla="*/ 51 h 489"/>
                    <a:gd name="T30" fmla="*/ 180 w 592"/>
                    <a:gd name="T31" fmla="*/ 155 h 489"/>
                    <a:gd name="T32" fmla="*/ 52 w 592"/>
                    <a:gd name="T33" fmla="*/ 155 h 489"/>
                    <a:gd name="T34" fmla="*/ 52 w 592"/>
                    <a:gd name="T35" fmla="*/ 51 h 489"/>
                    <a:gd name="T36" fmla="*/ 180 w 592"/>
                    <a:gd name="T37" fmla="*/ 51 h 489"/>
                    <a:gd name="T38" fmla="*/ 52 w 592"/>
                    <a:gd name="T39" fmla="*/ 206 h 489"/>
                    <a:gd name="T40" fmla="*/ 180 w 592"/>
                    <a:gd name="T41" fmla="*/ 206 h 489"/>
                    <a:gd name="T42" fmla="*/ 180 w 592"/>
                    <a:gd name="T43" fmla="*/ 438 h 489"/>
                    <a:gd name="T44" fmla="*/ 52 w 592"/>
                    <a:gd name="T45" fmla="*/ 438 h 489"/>
                    <a:gd name="T46" fmla="*/ 52 w 592"/>
                    <a:gd name="T47" fmla="*/ 206 h 489"/>
                    <a:gd name="T48" fmla="*/ 232 w 592"/>
                    <a:gd name="T49" fmla="*/ 438 h 489"/>
                    <a:gd name="T50" fmla="*/ 232 w 592"/>
                    <a:gd name="T51" fmla="*/ 206 h 489"/>
                    <a:gd name="T52" fmla="*/ 541 w 592"/>
                    <a:gd name="T53" fmla="*/ 206 h 489"/>
                    <a:gd name="T54" fmla="*/ 541 w 592"/>
                    <a:gd name="T55" fmla="*/ 438 h 489"/>
                    <a:gd name="T56" fmla="*/ 232 w 592"/>
                    <a:gd name="T57" fmla="*/ 438 h 489"/>
                    <a:gd name="T58" fmla="*/ 232 w 592"/>
                    <a:gd name="T59" fmla="*/ 438 h 489"/>
                    <a:gd name="T60" fmla="*/ 232 w 592"/>
                    <a:gd name="T61" fmla="*/ 438 h 4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592" h="489">
                      <a:moveTo>
                        <a:pt x="592" y="463"/>
                      </a:moveTo>
                      <a:cubicBezTo>
                        <a:pt x="592" y="26"/>
                        <a:pt x="592" y="26"/>
                        <a:pt x="592" y="26"/>
                      </a:cubicBezTo>
                      <a:cubicBezTo>
                        <a:pt x="592" y="10"/>
                        <a:pt x="582" y="0"/>
                        <a:pt x="566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cubicBezTo>
                        <a:pt x="10" y="0"/>
                        <a:pt x="0" y="10"/>
                        <a:pt x="0" y="26"/>
                      </a:cubicBezTo>
                      <a:cubicBezTo>
                        <a:pt x="0" y="463"/>
                        <a:pt x="0" y="463"/>
                        <a:pt x="0" y="463"/>
                      </a:cubicBezTo>
                      <a:cubicBezTo>
                        <a:pt x="0" y="479"/>
                        <a:pt x="10" y="489"/>
                        <a:pt x="26" y="489"/>
                      </a:cubicBezTo>
                      <a:cubicBezTo>
                        <a:pt x="566" y="489"/>
                        <a:pt x="566" y="489"/>
                        <a:pt x="566" y="489"/>
                      </a:cubicBezTo>
                      <a:cubicBezTo>
                        <a:pt x="582" y="489"/>
                        <a:pt x="592" y="479"/>
                        <a:pt x="592" y="463"/>
                      </a:cubicBezTo>
                      <a:close/>
                      <a:moveTo>
                        <a:pt x="541" y="155"/>
                      </a:moveTo>
                      <a:cubicBezTo>
                        <a:pt x="232" y="155"/>
                        <a:pt x="232" y="155"/>
                        <a:pt x="232" y="155"/>
                      </a:cubicBezTo>
                      <a:cubicBezTo>
                        <a:pt x="232" y="51"/>
                        <a:pt x="232" y="51"/>
                        <a:pt x="232" y="51"/>
                      </a:cubicBezTo>
                      <a:cubicBezTo>
                        <a:pt x="541" y="51"/>
                        <a:pt x="541" y="51"/>
                        <a:pt x="541" y="51"/>
                      </a:cubicBezTo>
                      <a:lnTo>
                        <a:pt x="541" y="155"/>
                      </a:lnTo>
                      <a:close/>
                      <a:moveTo>
                        <a:pt x="180" y="51"/>
                      </a:moveTo>
                      <a:cubicBezTo>
                        <a:pt x="180" y="155"/>
                        <a:pt x="180" y="155"/>
                        <a:pt x="180" y="155"/>
                      </a:cubicBezTo>
                      <a:cubicBezTo>
                        <a:pt x="52" y="155"/>
                        <a:pt x="52" y="155"/>
                        <a:pt x="52" y="155"/>
                      </a:cubicBezTo>
                      <a:cubicBezTo>
                        <a:pt x="52" y="51"/>
                        <a:pt x="52" y="51"/>
                        <a:pt x="52" y="51"/>
                      </a:cubicBezTo>
                      <a:lnTo>
                        <a:pt x="180" y="51"/>
                      </a:lnTo>
                      <a:close/>
                      <a:moveTo>
                        <a:pt x="52" y="206"/>
                      </a:moveTo>
                      <a:cubicBezTo>
                        <a:pt x="180" y="206"/>
                        <a:pt x="180" y="206"/>
                        <a:pt x="180" y="206"/>
                      </a:cubicBezTo>
                      <a:cubicBezTo>
                        <a:pt x="180" y="438"/>
                        <a:pt x="180" y="438"/>
                        <a:pt x="180" y="438"/>
                      </a:cubicBezTo>
                      <a:cubicBezTo>
                        <a:pt x="52" y="438"/>
                        <a:pt x="52" y="438"/>
                        <a:pt x="52" y="438"/>
                      </a:cubicBezTo>
                      <a:lnTo>
                        <a:pt x="52" y="206"/>
                      </a:lnTo>
                      <a:close/>
                      <a:moveTo>
                        <a:pt x="232" y="438"/>
                      </a:moveTo>
                      <a:cubicBezTo>
                        <a:pt x="232" y="206"/>
                        <a:pt x="232" y="206"/>
                        <a:pt x="232" y="206"/>
                      </a:cubicBezTo>
                      <a:cubicBezTo>
                        <a:pt x="541" y="206"/>
                        <a:pt x="541" y="206"/>
                        <a:pt x="541" y="206"/>
                      </a:cubicBezTo>
                      <a:cubicBezTo>
                        <a:pt x="541" y="438"/>
                        <a:pt x="541" y="438"/>
                        <a:pt x="541" y="438"/>
                      </a:cubicBezTo>
                      <a:lnTo>
                        <a:pt x="232" y="438"/>
                      </a:lnTo>
                      <a:close/>
                      <a:moveTo>
                        <a:pt x="232" y="438"/>
                      </a:moveTo>
                      <a:cubicBezTo>
                        <a:pt x="232" y="438"/>
                        <a:pt x="232" y="438"/>
                        <a:pt x="232" y="438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815" name="Rectangle 404">
                  <a:extLst>
                    <a:ext uri="{FF2B5EF4-FFF2-40B4-BE49-F238E27FC236}">
                      <a16:creationId xmlns:a16="http://schemas.microsoft.com/office/drawing/2014/main" id="{B0D83C50-586A-D77C-1159-3A96924527F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06726" y="6999288"/>
                  <a:ext cx="307975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816" name="Rectangle 405">
                  <a:extLst>
                    <a:ext uri="{FF2B5EF4-FFF2-40B4-BE49-F238E27FC236}">
                      <a16:creationId xmlns:a16="http://schemas.microsoft.com/office/drawing/2014/main" id="{2DB40580-DAB1-4568-50F1-B5C7A4A0D67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06726" y="7072313"/>
                  <a:ext cx="307975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817" name="Rectangle 407">
                  <a:extLst>
                    <a:ext uri="{FF2B5EF4-FFF2-40B4-BE49-F238E27FC236}">
                      <a16:creationId xmlns:a16="http://schemas.microsoft.com/office/drawing/2014/main" id="{63035EB1-E00E-45DE-AE15-B849746BA7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06725" y="7146926"/>
                  <a:ext cx="307975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818" name="Rectangle 408">
                  <a:extLst>
                    <a:ext uri="{FF2B5EF4-FFF2-40B4-BE49-F238E27FC236}">
                      <a16:creationId xmlns:a16="http://schemas.microsoft.com/office/drawing/2014/main" id="{4DA30F02-B552-9845-2D55-9ECD5E3C9E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00350" y="6675438"/>
                  <a:ext cx="88900" cy="3016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819" name="Rectangle 409">
                  <a:extLst>
                    <a:ext uri="{FF2B5EF4-FFF2-40B4-BE49-F238E27FC236}">
                      <a16:creationId xmlns:a16="http://schemas.microsoft.com/office/drawing/2014/main" id="{0C78F94E-4125-DD29-0678-9BAC8E1EAB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97054" y="6753303"/>
                  <a:ext cx="131764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820" name="Rectangle 410">
                  <a:extLst>
                    <a:ext uri="{FF2B5EF4-FFF2-40B4-BE49-F238E27FC236}">
                      <a16:creationId xmlns:a16="http://schemas.microsoft.com/office/drawing/2014/main" id="{601B2C0A-46B7-681C-27CC-BE107F9D0D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00350" y="7219951"/>
                  <a:ext cx="103188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821" name="Rectangle 411">
                  <a:extLst>
                    <a:ext uri="{FF2B5EF4-FFF2-40B4-BE49-F238E27FC236}">
                      <a16:creationId xmlns:a16="http://schemas.microsoft.com/office/drawing/2014/main" id="{9BBB95BA-9B9E-6EA0-1FC9-2354F457EE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47988" y="7219951"/>
                  <a:ext cx="101600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822" name="Rectangle 412">
                  <a:extLst>
                    <a:ext uri="{FF2B5EF4-FFF2-40B4-BE49-F238E27FC236}">
                      <a16:creationId xmlns:a16="http://schemas.microsoft.com/office/drawing/2014/main" id="{E8C778E9-BABA-A66B-B293-6F9F1F9CA1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94038" y="7219951"/>
                  <a:ext cx="103188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823" name="Rectangle 413">
                  <a:extLst>
                    <a:ext uri="{FF2B5EF4-FFF2-40B4-BE49-F238E27FC236}">
                      <a16:creationId xmlns:a16="http://schemas.microsoft.com/office/drawing/2014/main" id="{0CCD168F-0297-7B92-BE74-09FC449914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00350" y="7292976"/>
                  <a:ext cx="103188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824" name="Rectangle 414">
                  <a:extLst>
                    <a:ext uri="{FF2B5EF4-FFF2-40B4-BE49-F238E27FC236}">
                      <a16:creationId xmlns:a16="http://schemas.microsoft.com/office/drawing/2014/main" id="{B8AD8892-9F47-805D-D02B-63F4B1F500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47988" y="7292976"/>
                  <a:ext cx="101600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825" name="Rectangle 415">
                  <a:extLst>
                    <a:ext uri="{FF2B5EF4-FFF2-40B4-BE49-F238E27FC236}">
                      <a16:creationId xmlns:a16="http://schemas.microsoft.com/office/drawing/2014/main" id="{9E27BB18-870C-9435-78DF-CB19086055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94038" y="7292976"/>
                  <a:ext cx="103188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826" name="Rectangle 416">
                  <a:extLst>
                    <a:ext uri="{FF2B5EF4-FFF2-40B4-BE49-F238E27FC236}">
                      <a16:creationId xmlns:a16="http://schemas.microsoft.com/office/drawing/2014/main" id="{F33830D0-47B2-D351-881B-A4EE1DF505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00350" y="7366001"/>
                  <a:ext cx="103188" cy="3016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827" name="Rectangle 417">
                  <a:extLst>
                    <a:ext uri="{FF2B5EF4-FFF2-40B4-BE49-F238E27FC236}">
                      <a16:creationId xmlns:a16="http://schemas.microsoft.com/office/drawing/2014/main" id="{8E5E9312-E6E4-72F7-2BC6-771E42D512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47988" y="7366001"/>
                  <a:ext cx="101600" cy="3016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828" name="Rectangle 418">
                  <a:extLst>
                    <a:ext uri="{FF2B5EF4-FFF2-40B4-BE49-F238E27FC236}">
                      <a16:creationId xmlns:a16="http://schemas.microsoft.com/office/drawing/2014/main" id="{3E470FF4-888E-923C-5F37-5F8342A5F9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94038" y="7366001"/>
                  <a:ext cx="103188" cy="3016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</p:grpSp>
          <p:sp>
            <p:nvSpPr>
              <p:cNvPr id="811" name="직사각형 12">
                <a:extLst>
                  <a:ext uri="{FF2B5EF4-FFF2-40B4-BE49-F238E27FC236}">
                    <a16:creationId xmlns:a16="http://schemas.microsoft.com/office/drawing/2014/main" id="{1C964B67-B6D3-55D7-0E9E-ABAF633464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0679" y="3274133"/>
                <a:ext cx="514694" cy="131864"/>
              </a:xfrm>
              <a:prstGeom prst="rect">
                <a:avLst/>
              </a:prstGeom>
              <a:solidFill>
                <a:srgbClr val="70AD47"/>
              </a:solidFill>
              <a:ln w="12700" cap="flat" cmpd="sng" algn="ctr">
                <a:solidFill>
                  <a:srgbClr val="70AD47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wrap="non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5pPr>
                <a:lvl6pPr marL="2514600" indent="-228600" defTabSz="890588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6pPr>
                <a:lvl7pPr marL="2971800" indent="-228600" defTabSz="890588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7pPr>
                <a:lvl8pPr marL="3429000" indent="-228600" defTabSz="890588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8pPr>
                <a:lvl9pPr marL="3886200" indent="-228600" defTabSz="890588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9pPr>
              </a:lstStyle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0" cap="none" spc="-50" normalizeH="0" baseline="0" noProof="0" dirty="0">
                    <a:ln>
                      <a:solidFill>
                        <a:prstClr val="white">
                          <a:alpha val="500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메타테이블</a:t>
                </a:r>
                <a:endParaRPr kumimoji="0" lang="en-US" altLang="ko-KR" sz="900" b="0" i="0" u="none" strike="noStrike" kern="0" cap="none" spc="-50" normalizeH="0" baseline="0" noProof="0" dirty="0">
                  <a:ln>
                    <a:solidFill>
                      <a:prstClr val="white">
                        <a:alpha val="500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endParaRPr>
              </a:p>
            </p:txBody>
          </p:sp>
        </p:grpSp>
        <p:sp>
          <p:nvSpPr>
            <p:cNvPr id="802" name="직사각형 801">
              <a:extLst>
                <a:ext uri="{FF2B5EF4-FFF2-40B4-BE49-F238E27FC236}">
                  <a16:creationId xmlns:a16="http://schemas.microsoft.com/office/drawing/2014/main" id="{4699E7CB-DE9C-22FB-DDED-A618E76E64D7}"/>
                </a:ext>
              </a:extLst>
            </p:cNvPr>
            <p:cNvSpPr/>
            <p:nvPr/>
          </p:nvSpPr>
          <p:spPr>
            <a:xfrm>
              <a:off x="2793094" y="1659340"/>
              <a:ext cx="1230063" cy="714662"/>
            </a:xfrm>
            <a:prstGeom prst="rect">
              <a:avLst/>
            </a:prstGeom>
            <a:solidFill>
              <a:srgbClr val="70AD47"/>
            </a:solidFill>
            <a:ln w="12700" cap="flat" cmpd="sng" algn="ctr">
              <a:solidFill>
                <a:srgbClr val="70AD47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lIns="89319" tIns="44659" rIns="89319" bIns="44659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+mn-ea"/>
                  <a:cs typeface="+mn-cs"/>
                </a:rPr>
                <a:t>SMMS-Agent </a:t>
              </a:r>
            </a:p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+mn-ea"/>
                  <a:cs typeface="+mn-cs"/>
                </a:rPr>
                <a:t>(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+mn-ea"/>
                  <a:cs typeface="+mn-cs"/>
                </a:rPr>
                <a:t>송신 </a:t>
              </a:r>
              <a:r>
                <a:rPr kumimoji="0" lang="en-US" altLang="ko-KR" sz="7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+mn-ea"/>
                  <a:cs typeface="+mn-cs"/>
                </a:rPr>
                <a:t>Thread)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+mn-ea"/>
                  <a:cs typeface="+mn-cs"/>
                </a:rPr>
                <a:t>  </a:t>
              </a:r>
            </a:p>
          </p:txBody>
        </p:sp>
        <p:grpSp>
          <p:nvGrpSpPr>
            <p:cNvPr id="803" name="그룹 802">
              <a:extLst>
                <a:ext uri="{FF2B5EF4-FFF2-40B4-BE49-F238E27FC236}">
                  <a16:creationId xmlns:a16="http://schemas.microsoft.com/office/drawing/2014/main" id="{8D81A7DD-60A6-E556-E11E-F4C189220831}"/>
                </a:ext>
              </a:extLst>
            </p:cNvPr>
            <p:cNvGrpSpPr/>
            <p:nvPr/>
          </p:nvGrpSpPr>
          <p:grpSpPr>
            <a:xfrm>
              <a:off x="877133" y="1609757"/>
              <a:ext cx="606724" cy="271535"/>
              <a:chOff x="958525" y="1526415"/>
              <a:chExt cx="606724" cy="271535"/>
            </a:xfrm>
          </p:grpSpPr>
          <p:sp>
            <p:nvSpPr>
              <p:cNvPr id="808" name="원통 295">
                <a:extLst>
                  <a:ext uri="{FF2B5EF4-FFF2-40B4-BE49-F238E27FC236}">
                    <a16:creationId xmlns:a16="http://schemas.microsoft.com/office/drawing/2014/main" id="{FD867535-3B1B-7A93-7CB7-BA56046439E2}"/>
                  </a:ext>
                </a:extLst>
              </p:cNvPr>
              <p:cNvSpPr/>
              <p:nvPr/>
            </p:nvSpPr>
            <p:spPr>
              <a:xfrm>
                <a:off x="958525" y="1526415"/>
                <a:ext cx="606724" cy="271535"/>
              </a:xfrm>
              <a:prstGeom prst="can">
                <a:avLst/>
              </a:prstGeom>
              <a:solidFill>
                <a:srgbClr val="354976"/>
              </a:solidFill>
              <a:ln w="9525" cap="flat" cmpd="sng" algn="ctr">
                <a:solidFill>
                  <a:sysClr val="window" lastClr="FFFFFF"/>
                </a:solidFill>
                <a:prstDash val="solid"/>
                <a:miter lim="800000"/>
              </a:ln>
              <a:effectLst/>
            </p:spPr>
            <p:txBody>
              <a:bodyPr lIns="89319" tIns="44659" rIns="89319" bIns="44659"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809" name="직사각형 808">
                <a:extLst>
                  <a:ext uri="{FF2B5EF4-FFF2-40B4-BE49-F238E27FC236}">
                    <a16:creationId xmlns:a16="http://schemas.microsoft.com/office/drawing/2014/main" id="{F537BDF7-D04E-A029-4D9D-B43213E8D3D4}"/>
                  </a:ext>
                </a:extLst>
              </p:cNvPr>
              <p:cNvSpPr/>
              <p:nvPr/>
            </p:nvSpPr>
            <p:spPr>
              <a:xfrm>
                <a:off x="966515" y="1621112"/>
                <a:ext cx="590746" cy="153888"/>
              </a:xfrm>
              <a:prstGeom prst="rect">
                <a:avLst/>
              </a:prstGeom>
            </p:spPr>
            <p:txBody>
              <a:bodyPr wrap="square" lIns="0" tIns="0" rIns="0" bIns="0" anchor="ctr">
                <a:spAutoFit/>
              </a:bodyPr>
              <a:lstStyle/>
              <a:p>
                <a:pPr algn="ctr" defTabSz="457200" latinLnBrk="0"/>
                <a:r>
                  <a:rPr lang="en-US" altLang="ko-KR" sz="100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+mn-ea"/>
                  </a:rPr>
                  <a:t>UMS DB</a:t>
                </a:r>
              </a:p>
            </p:txBody>
          </p:sp>
        </p:grpSp>
        <p:cxnSp>
          <p:nvCxnSpPr>
            <p:cNvPr id="804" name="직선 화살표 연결선 803">
              <a:extLst>
                <a:ext uri="{FF2B5EF4-FFF2-40B4-BE49-F238E27FC236}">
                  <a16:creationId xmlns:a16="http://schemas.microsoft.com/office/drawing/2014/main" id="{83C3AA3D-9889-60BB-B78C-6F935A6D366D}"/>
                </a:ext>
              </a:extLst>
            </p:cNvPr>
            <p:cNvCxnSpPr>
              <a:cxnSpLocks/>
            </p:cNvCxnSpPr>
            <p:nvPr/>
          </p:nvCxnSpPr>
          <p:spPr>
            <a:xfrm>
              <a:off x="1173443" y="1885681"/>
              <a:ext cx="0" cy="146890"/>
            </a:xfrm>
            <a:prstGeom prst="straightConnector1">
              <a:avLst/>
            </a:prstGeom>
            <a:noFill/>
            <a:ln w="6350" cap="flat" cmpd="sng" algn="ctr">
              <a:solidFill>
                <a:srgbClr val="FF0000"/>
              </a:solidFill>
              <a:prstDash val="solid"/>
              <a:miter lim="800000"/>
              <a:tailEnd type="triangle" w="sm" len="sm"/>
            </a:ln>
            <a:effectLst/>
          </p:spPr>
        </p:cxnSp>
        <p:sp>
          <p:nvSpPr>
            <p:cNvPr id="805" name="직사각형 804">
              <a:extLst>
                <a:ext uri="{FF2B5EF4-FFF2-40B4-BE49-F238E27FC236}">
                  <a16:creationId xmlns:a16="http://schemas.microsoft.com/office/drawing/2014/main" id="{A5F584D2-FAAD-7EB1-5513-D365A702F22D}"/>
                </a:ext>
              </a:extLst>
            </p:cNvPr>
            <p:cNvSpPr/>
            <p:nvPr/>
          </p:nvSpPr>
          <p:spPr>
            <a:xfrm>
              <a:off x="1780167" y="1651644"/>
              <a:ext cx="775357" cy="279780"/>
            </a:xfrm>
            <a:prstGeom prst="rect">
              <a:avLst/>
            </a:prstGeom>
            <a:solidFill>
              <a:sysClr val="window" lastClr="FFFFFF"/>
            </a:solidFill>
            <a:ln w="9525" cap="flat" cmpd="sng" algn="ctr">
              <a:noFill/>
              <a:prstDash val="solid"/>
              <a:miter lim="800000"/>
            </a:ln>
            <a:effectLst/>
          </p:spPr>
          <p:txBody>
            <a:bodyPr lIns="89319" tIns="44659" rIns="89319" bIns="44659" rtlCol="0" anchor="ctr"/>
            <a:lstStyle/>
            <a:p>
              <a:pPr algn="ctr" defTabSz="457200" latinLnBrk="0"/>
              <a:r>
                <a:rPr lang="ko-KR" altLang="en-US" sz="1000" kern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</a:rPr>
                <a:t>분배기</a:t>
              </a:r>
            </a:p>
          </p:txBody>
        </p:sp>
        <p:cxnSp>
          <p:nvCxnSpPr>
            <p:cNvPr id="806" name="연결선: 꺾임 301">
              <a:extLst>
                <a:ext uri="{FF2B5EF4-FFF2-40B4-BE49-F238E27FC236}">
                  <a16:creationId xmlns:a16="http://schemas.microsoft.com/office/drawing/2014/main" id="{6D3E4196-B786-4124-7AE5-C659809A83BF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1296219" y="1803343"/>
              <a:ext cx="481810" cy="361541"/>
            </a:xfrm>
            <a:prstGeom prst="bentConnector3">
              <a:avLst>
                <a:gd name="adj1" fmla="val 50000"/>
              </a:avLst>
            </a:prstGeom>
            <a:noFill/>
            <a:ln w="22225" cap="flat" cmpd="sng" algn="ctr">
              <a:solidFill>
                <a:srgbClr val="FF0000"/>
              </a:solidFill>
              <a:prstDash val="solid"/>
              <a:miter lim="800000"/>
              <a:tailEnd type="triangle" w="sm" len="sm"/>
            </a:ln>
            <a:effectLst/>
          </p:spPr>
        </p:cxnSp>
        <p:cxnSp>
          <p:nvCxnSpPr>
            <p:cNvPr id="807" name="연결선: 꺾임 854">
              <a:extLst>
                <a:ext uri="{FF2B5EF4-FFF2-40B4-BE49-F238E27FC236}">
                  <a16:creationId xmlns:a16="http://schemas.microsoft.com/office/drawing/2014/main" id="{C5C71E07-4966-B762-367D-E7C29F9276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5869" y="2260610"/>
              <a:ext cx="1287878" cy="90009"/>
            </a:xfrm>
            <a:prstGeom prst="bentConnector3">
              <a:avLst/>
            </a:prstGeom>
            <a:noFill/>
            <a:ln w="635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  <a:tailEnd type="triangle" w="sm" len="sm"/>
            </a:ln>
            <a:effectLst/>
          </p:spPr>
        </p:cxnSp>
      </p:grpSp>
      <p:sp>
        <p:nvSpPr>
          <p:cNvPr id="441" name="TextBox 440">
            <a:extLst>
              <a:ext uri="{FF2B5EF4-FFF2-40B4-BE49-F238E27FC236}">
                <a16:creationId xmlns:a16="http://schemas.microsoft.com/office/drawing/2014/main" id="{8FDE71D5-2B59-CBFB-8BFE-C23689245794}"/>
              </a:ext>
            </a:extLst>
          </p:cNvPr>
          <p:cNvSpPr txBox="1"/>
          <p:nvPr/>
        </p:nvSpPr>
        <p:spPr>
          <a:xfrm>
            <a:off x="465216" y="1177503"/>
            <a:ext cx="631051" cy="169277"/>
          </a:xfrm>
          <a:prstGeom prst="rect">
            <a:avLst/>
          </a:prstGeom>
          <a:solidFill>
            <a:sysClr val="window" lastClr="FFFFFF"/>
          </a:solidFill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54976"/>
                </a:solidFill>
                <a:effectLst/>
                <a:uLnTx/>
                <a:uFillTx/>
                <a:latin typeface="+mn-ea"/>
              </a:rPr>
              <a:t>신한 은행</a:t>
            </a:r>
          </a:p>
        </p:txBody>
      </p:sp>
      <p:sp>
        <p:nvSpPr>
          <p:cNvPr id="852" name="TextBox 851">
            <a:extLst>
              <a:ext uri="{FF2B5EF4-FFF2-40B4-BE49-F238E27FC236}">
                <a16:creationId xmlns:a16="http://schemas.microsoft.com/office/drawing/2014/main" id="{60112346-AD12-A05E-2518-93D2AAC8FED3}"/>
              </a:ext>
            </a:extLst>
          </p:cNvPr>
          <p:cNvSpPr txBox="1"/>
          <p:nvPr/>
        </p:nvSpPr>
        <p:spPr>
          <a:xfrm>
            <a:off x="4084053" y="1177503"/>
            <a:ext cx="631051" cy="169277"/>
          </a:xfrm>
          <a:prstGeom prst="rect">
            <a:avLst/>
          </a:prstGeom>
          <a:solidFill>
            <a:sysClr val="window" lastClr="FFFFFF"/>
          </a:solidFill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54976"/>
                </a:solidFill>
                <a:effectLst/>
                <a:uLnTx/>
                <a:uFillTx/>
                <a:latin typeface="+mn-ea"/>
              </a:rPr>
              <a:t>신한 카드</a:t>
            </a:r>
          </a:p>
        </p:txBody>
      </p:sp>
      <p:sp>
        <p:nvSpPr>
          <p:cNvPr id="853" name="TextBox 852">
            <a:extLst>
              <a:ext uri="{FF2B5EF4-FFF2-40B4-BE49-F238E27FC236}">
                <a16:creationId xmlns:a16="http://schemas.microsoft.com/office/drawing/2014/main" id="{D044862B-C8ED-2F0B-35E4-D31E9E810ACE}"/>
              </a:ext>
            </a:extLst>
          </p:cNvPr>
          <p:cNvSpPr txBox="1"/>
          <p:nvPr/>
        </p:nvSpPr>
        <p:spPr>
          <a:xfrm>
            <a:off x="4036101" y="2463677"/>
            <a:ext cx="765191" cy="169277"/>
          </a:xfrm>
          <a:prstGeom prst="rect">
            <a:avLst/>
          </a:prstGeom>
          <a:solidFill>
            <a:sysClr val="window" lastClr="FFFFFF"/>
          </a:solidFill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54976"/>
                </a:solidFill>
                <a:effectLst/>
                <a:uLnTx/>
                <a:uFillTx/>
                <a:latin typeface="+mn-ea"/>
              </a:rPr>
              <a:t>신한 라이프</a:t>
            </a:r>
            <a:endParaRPr kumimoji="0" lang="ko-KR" altLang="en-US" sz="11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354976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854" name="TextBox 853">
            <a:extLst>
              <a:ext uri="{FF2B5EF4-FFF2-40B4-BE49-F238E27FC236}">
                <a16:creationId xmlns:a16="http://schemas.microsoft.com/office/drawing/2014/main" id="{C7ED1B58-B034-9DC8-887B-39B9D7D8D6DC}"/>
              </a:ext>
            </a:extLst>
          </p:cNvPr>
          <p:cNvSpPr txBox="1"/>
          <p:nvPr/>
        </p:nvSpPr>
        <p:spPr>
          <a:xfrm>
            <a:off x="448272" y="3720163"/>
            <a:ext cx="966889" cy="169277"/>
          </a:xfrm>
          <a:prstGeom prst="rect">
            <a:avLst/>
          </a:prstGeom>
          <a:solidFill>
            <a:sysClr val="window" lastClr="FFFFFF"/>
          </a:solidFill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54976"/>
                </a:solidFill>
                <a:effectLst/>
                <a:uLnTx/>
                <a:uFillTx/>
                <a:latin typeface="+mn-ea"/>
              </a:rPr>
              <a:t>신한 저축은행</a:t>
            </a:r>
            <a:endParaRPr kumimoji="0" lang="ko-KR" altLang="en-US" sz="11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354976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855" name="TextBox 854">
            <a:extLst>
              <a:ext uri="{FF2B5EF4-FFF2-40B4-BE49-F238E27FC236}">
                <a16:creationId xmlns:a16="http://schemas.microsoft.com/office/drawing/2014/main" id="{F301F6AA-1CD0-F9AD-F1B3-95B32A1F5C88}"/>
              </a:ext>
            </a:extLst>
          </p:cNvPr>
          <p:cNvSpPr txBox="1"/>
          <p:nvPr/>
        </p:nvSpPr>
        <p:spPr>
          <a:xfrm>
            <a:off x="465216" y="2472736"/>
            <a:ext cx="1036248" cy="169277"/>
          </a:xfrm>
          <a:prstGeom prst="rect">
            <a:avLst/>
          </a:prstGeom>
          <a:solidFill>
            <a:sysClr val="window" lastClr="FFFFFF"/>
          </a:solidFill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54976"/>
                </a:solidFill>
                <a:effectLst/>
                <a:uLnTx/>
                <a:uFillTx/>
                <a:latin typeface="+mn-ea"/>
              </a:rPr>
              <a:t>신한 투자증권</a:t>
            </a:r>
            <a:endParaRPr kumimoji="0" lang="ko-KR" altLang="en-US" sz="11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354976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856" name="TextBox 855">
            <a:extLst>
              <a:ext uri="{FF2B5EF4-FFF2-40B4-BE49-F238E27FC236}">
                <a16:creationId xmlns:a16="http://schemas.microsoft.com/office/drawing/2014/main" id="{78B75FA5-9BB3-A950-6317-DF7F74B100A6}"/>
              </a:ext>
            </a:extLst>
          </p:cNvPr>
          <p:cNvSpPr txBox="1"/>
          <p:nvPr/>
        </p:nvSpPr>
        <p:spPr>
          <a:xfrm>
            <a:off x="4065040" y="3710341"/>
            <a:ext cx="631051" cy="169277"/>
          </a:xfrm>
          <a:prstGeom prst="rect">
            <a:avLst/>
          </a:prstGeom>
          <a:solidFill>
            <a:sysClr val="window" lastClr="FFFFFF"/>
          </a:solidFill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54976"/>
                </a:solidFill>
                <a:effectLst/>
                <a:uLnTx/>
                <a:uFillTx/>
                <a:latin typeface="+mn-ea"/>
              </a:rPr>
              <a:t>제주 은행</a:t>
            </a:r>
          </a:p>
        </p:txBody>
      </p:sp>
      <p:sp>
        <p:nvSpPr>
          <p:cNvPr id="265" name="직사각형 264">
            <a:extLst>
              <a:ext uri="{FF2B5EF4-FFF2-40B4-BE49-F238E27FC236}">
                <a16:creationId xmlns:a16="http://schemas.microsoft.com/office/drawing/2014/main" id="{7D7CCB15-44BF-DAE6-7C14-E3A446A15847}"/>
              </a:ext>
            </a:extLst>
          </p:cNvPr>
          <p:cNvSpPr/>
          <p:nvPr/>
        </p:nvSpPr>
        <p:spPr>
          <a:xfrm>
            <a:off x="8254550" y="3853973"/>
            <a:ext cx="1913633" cy="882816"/>
          </a:xfrm>
          <a:prstGeom prst="rect">
            <a:avLst/>
          </a:prstGeom>
          <a:solidFill>
            <a:srgbClr val="FFC000"/>
          </a:solidFill>
          <a:ln w="1905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lIns="36000" tIns="36000" rIns="0" bIns="0" rtlCol="0" anchor="ctr" anchorCtr="0"/>
          <a:lstStyle/>
          <a:p>
            <a:pPr defTabSz="457200" latinLnBrk="0"/>
            <a:r>
              <a:rPr lang="en-US" altLang="ko-KR" sz="1000" b="1" kern="0" dirty="0">
                <a:solidFill>
                  <a:prstClr val="black"/>
                </a:solidFill>
                <a:latin typeface="+mn-ea"/>
              </a:rPr>
              <a:t>SMMS </a:t>
            </a:r>
            <a:r>
              <a:rPr lang="ko-KR" altLang="en-US" sz="1000" b="1" kern="0" dirty="0">
                <a:solidFill>
                  <a:prstClr val="black"/>
                </a:solidFill>
                <a:latin typeface="+mn-ea"/>
              </a:rPr>
              <a:t>통합 모니터링</a:t>
            </a:r>
            <a:endParaRPr lang="en-US" altLang="ko-KR" sz="1000" b="1" kern="0" dirty="0">
              <a:solidFill>
                <a:prstClr val="black"/>
              </a:solidFill>
              <a:latin typeface="+mn-ea"/>
            </a:endParaRPr>
          </a:p>
          <a:p>
            <a:pPr defTabSz="457200" latinLnBrk="0"/>
            <a:r>
              <a:rPr lang="en-US" altLang="ko-KR" sz="1000" b="1" kern="0" dirty="0">
                <a:solidFill>
                  <a:prstClr val="black"/>
                </a:solidFill>
                <a:latin typeface="+mn-ea"/>
              </a:rPr>
              <a:t>  o </a:t>
            </a:r>
            <a:r>
              <a:rPr lang="ko-KR" altLang="en-US" sz="1000" b="1" kern="0" dirty="0">
                <a:solidFill>
                  <a:prstClr val="black"/>
                </a:solidFill>
                <a:latin typeface="+mn-ea"/>
              </a:rPr>
              <a:t>대시보드</a:t>
            </a:r>
            <a:endParaRPr lang="en-US" altLang="ko-KR" sz="1000" b="1" kern="0" dirty="0">
              <a:solidFill>
                <a:prstClr val="black"/>
              </a:solidFill>
              <a:latin typeface="+mn-ea"/>
            </a:endParaRPr>
          </a:p>
          <a:p>
            <a:pPr defTabSz="457200" latinLnBrk="0"/>
            <a:r>
              <a:rPr lang="en-US" altLang="ko-KR" sz="1000" b="1" kern="0" dirty="0">
                <a:solidFill>
                  <a:prstClr val="black"/>
                </a:solidFill>
                <a:latin typeface="+mn-ea"/>
              </a:rPr>
              <a:t>  o </a:t>
            </a:r>
            <a:r>
              <a:rPr lang="ko-KR" altLang="en-US" sz="1000" b="1" kern="0" dirty="0">
                <a:solidFill>
                  <a:prstClr val="black"/>
                </a:solidFill>
                <a:latin typeface="+mn-ea"/>
              </a:rPr>
              <a:t>시스템 및 채널 관제</a:t>
            </a:r>
            <a:endParaRPr lang="en-US" altLang="ko-KR" sz="1000" b="1" kern="0" dirty="0">
              <a:solidFill>
                <a:prstClr val="black"/>
              </a:solidFill>
              <a:latin typeface="+mn-ea"/>
            </a:endParaRPr>
          </a:p>
          <a:p>
            <a:pPr defTabSz="457200" latinLnBrk="0"/>
            <a:r>
              <a:rPr lang="en-US" altLang="ko-KR" sz="1000" b="1" kern="0" dirty="0">
                <a:solidFill>
                  <a:prstClr val="black"/>
                </a:solidFill>
                <a:latin typeface="+mn-ea"/>
              </a:rPr>
              <a:t>  o </a:t>
            </a:r>
            <a:r>
              <a:rPr lang="ko-KR" altLang="en-US" sz="1000" b="1" kern="0" dirty="0">
                <a:solidFill>
                  <a:prstClr val="black"/>
                </a:solidFill>
                <a:latin typeface="+mn-ea"/>
              </a:rPr>
              <a:t>그룹사</a:t>
            </a:r>
            <a:r>
              <a:rPr lang="en-US" altLang="ko-KR" sz="1000" b="1" kern="0" dirty="0">
                <a:solidFill>
                  <a:prstClr val="black"/>
                </a:solidFill>
                <a:latin typeface="+mn-ea"/>
              </a:rPr>
              <a:t>/</a:t>
            </a:r>
            <a:r>
              <a:rPr lang="ko-KR" altLang="en-US" sz="1000" b="1" kern="0" dirty="0">
                <a:solidFill>
                  <a:prstClr val="black"/>
                </a:solidFill>
                <a:latin typeface="+mn-ea"/>
              </a:rPr>
              <a:t>부서</a:t>
            </a:r>
            <a:r>
              <a:rPr lang="en-US" altLang="ko-KR" sz="1000" b="1" kern="0" dirty="0">
                <a:solidFill>
                  <a:prstClr val="black"/>
                </a:solidFill>
                <a:latin typeface="+mn-ea"/>
              </a:rPr>
              <a:t>/</a:t>
            </a:r>
            <a:r>
              <a:rPr lang="ko-KR" altLang="en-US" sz="1000" b="1" kern="0" dirty="0">
                <a:solidFill>
                  <a:prstClr val="black"/>
                </a:solidFill>
                <a:latin typeface="+mn-ea"/>
              </a:rPr>
              <a:t>업무 단위 정산</a:t>
            </a:r>
            <a:endParaRPr lang="en-US" altLang="ko-KR" sz="1000" b="1" kern="0" dirty="0">
              <a:solidFill>
                <a:prstClr val="black"/>
              </a:solidFill>
              <a:latin typeface="+mn-ea"/>
            </a:endParaRPr>
          </a:p>
          <a:p>
            <a:pPr defTabSz="457200" latinLnBrk="0"/>
            <a:r>
              <a:rPr lang="en-US" altLang="ko-KR" sz="1000" b="1" kern="0" dirty="0">
                <a:solidFill>
                  <a:prstClr val="black"/>
                </a:solidFill>
                <a:latin typeface="+mn-ea"/>
              </a:rPr>
              <a:t>  o </a:t>
            </a:r>
            <a:r>
              <a:rPr lang="ko-KR" altLang="en-US" sz="1000" b="1" kern="0" dirty="0">
                <a:solidFill>
                  <a:prstClr val="black"/>
                </a:solidFill>
                <a:latin typeface="+mn-ea"/>
              </a:rPr>
              <a:t>분석 통계</a:t>
            </a:r>
            <a:endParaRPr lang="en-US" altLang="ko-KR" sz="1000" b="1" kern="0" dirty="0">
              <a:solidFill>
                <a:prstClr val="black"/>
              </a:solidFill>
              <a:latin typeface="+mn-ea"/>
            </a:endParaRPr>
          </a:p>
        </p:txBody>
      </p:sp>
      <p:cxnSp>
        <p:nvCxnSpPr>
          <p:cNvPr id="861" name="직선 화살표 연결선 860">
            <a:extLst>
              <a:ext uri="{FF2B5EF4-FFF2-40B4-BE49-F238E27FC236}">
                <a16:creationId xmlns:a16="http://schemas.microsoft.com/office/drawing/2014/main" id="{EFBFA826-9929-BBE0-CD81-858A208FABF6}"/>
              </a:ext>
            </a:extLst>
          </p:cNvPr>
          <p:cNvCxnSpPr>
            <a:cxnSpLocks/>
          </p:cNvCxnSpPr>
          <p:nvPr/>
        </p:nvCxnSpPr>
        <p:spPr>
          <a:xfrm>
            <a:off x="10856176" y="5038380"/>
            <a:ext cx="0" cy="146890"/>
          </a:xfrm>
          <a:prstGeom prst="straightConnector1">
            <a:avLst/>
          </a:prstGeom>
          <a:noFill/>
          <a:ln w="6350" cap="flat" cmpd="sng" algn="ctr">
            <a:solidFill>
              <a:srgbClr val="FF0000"/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875" name="모서리가 둥근 직사각형 445">
            <a:extLst>
              <a:ext uri="{FF2B5EF4-FFF2-40B4-BE49-F238E27FC236}">
                <a16:creationId xmlns:a16="http://schemas.microsoft.com/office/drawing/2014/main" id="{0D98E7F1-8838-5F88-0D02-1CF7D1FCCCBB}"/>
              </a:ext>
            </a:extLst>
          </p:cNvPr>
          <p:cNvSpPr/>
          <p:nvPr/>
        </p:nvSpPr>
        <p:spPr>
          <a:xfrm flipV="1">
            <a:off x="4097098" y="5674671"/>
            <a:ext cx="1359520" cy="1128832"/>
          </a:xfrm>
          <a:prstGeom prst="roundRect">
            <a:avLst>
              <a:gd name="adj" fmla="val 3257"/>
            </a:avLst>
          </a:prstGeom>
          <a:solidFill>
            <a:sysClr val="window" lastClr="FFFFFF"/>
          </a:solidFill>
          <a:ln w="12700" cap="flat" cmpd="sng" algn="ctr">
            <a:solidFill>
              <a:srgbClr val="70AD47">
                <a:shade val="50000"/>
              </a:srgbClr>
            </a:solidFill>
            <a:prstDash val="solid"/>
            <a:miter lim="800000"/>
          </a:ln>
          <a:effectLst/>
        </p:spPr>
        <p:txBody>
          <a:bodyPr lIns="89319" tIns="44659" rIns="89319" bIns="44659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grpSp>
        <p:nvGrpSpPr>
          <p:cNvPr id="862" name="그룹 861">
            <a:extLst>
              <a:ext uri="{FF2B5EF4-FFF2-40B4-BE49-F238E27FC236}">
                <a16:creationId xmlns:a16="http://schemas.microsoft.com/office/drawing/2014/main" id="{1233DEC9-2DE4-97F5-57F3-A431444FAAD2}"/>
              </a:ext>
            </a:extLst>
          </p:cNvPr>
          <p:cNvGrpSpPr/>
          <p:nvPr/>
        </p:nvGrpSpPr>
        <p:grpSpPr>
          <a:xfrm>
            <a:off x="4642825" y="5929318"/>
            <a:ext cx="204283" cy="199541"/>
            <a:chOff x="2372914" y="1777478"/>
            <a:chExt cx="494001" cy="491331"/>
          </a:xfrm>
          <a:solidFill>
            <a:srgbClr val="6783C1"/>
          </a:solidFill>
        </p:grpSpPr>
        <p:sp>
          <p:nvSpPr>
            <p:cNvPr id="863" name="Freeform 48">
              <a:extLst>
                <a:ext uri="{FF2B5EF4-FFF2-40B4-BE49-F238E27FC236}">
                  <a16:creationId xmlns:a16="http://schemas.microsoft.com/office/drawing/2014/main" id="{F6222496-5B9E-F024-1BE5-B94952119F6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2914" y="1777478"/>
              <a:ext cx="228309" cy="92125"/>
            </a:xfrm>
            <a:custGeom>
              <a:avLst/>
              <a:gdLst>
                <a:gd name="T0" fmla="*/ 6 w 77"/>
                <a:gd name="T1" fmla="*/ 31 h 31"/>
                <a:gd name="T2" fmla="*/ 71 w 77"/>
                <a:gd name="T3" fmla="*/ 31 h 31"/>
                <a:gd name="T4" fmla="*/ 77 w 77"/>
                <a:gd name="T5" fmla="*/ 25 h 31"/>
                <a:gd name="T6" fmla="*/ 77 w 77"/>
                <a:gd name="T7" fmla="*/ 6 h 31"/>
                <a:gd name="T8" fmla="*/ 71 w 77"/>
                <a:gd name="T9" fmla="*/ 0 h 31"/>
                <a:gd name="T10" fmla="*/ 6 w 77"/>
                <a:gd name="T11" fmla="*/ 0 h 31"/>
                <a:gd name="T12" fmla="*/ 0 w 77"/>
                <a:gd name="T13" fmla="*/ 6 h 31"/>
                <a:gd name="T14" fmla="*/ 0 w 77"/>
                <a:gd name="T15" fmla="*/ 25 h 31"/>
                <a:gd name="T16" fmla="*/ 6 w 77"/>
                <a:gd name="T17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7" h="31">
                  <a:moveTo>
                    <a:pt x="6" y="31"/>
                  </a:moveTo>
                  <a:cubicBezTo>
                    <a:pt x="71" y="31"/>
                    <a:pt x="71" y="31"/>
                    <a:pt x="71" y="31"/>
                  </a:cubicBezTo>
                  <a:cubicBezTo>
                    <a:pt x="74" y="31"/>
                    <a:pt x="77" y="28"/>
                    <a:pt x="77" y="25"/>
                  </a:cubicBezTo>
                  <a:cubicBezTo>
                    <a:pt x="77" y="6"/>
                    <a:pt x="77" y="6"/>
                    <a:pt x="77" y="6"/>
                  </a:cubicBezTo>
                  <a:cubicBezTo>
                    <a:pt x="77" y="2"/>
                    <a:pt x="74" y="0"/>
                    <a:pt x="71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2" y="0"/>
                    <a:pt x="0" y="2"/>
                    <a:pt x="0" y="6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8"/>
                    <a:pt x="2" y="31"/>
                    <a:pt x="6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defTabSz="893186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864" name="Freeform 49">
              <a:extLst>
                <a:ext uri="{FF2B5EF4-FFF2-40B4-BE49-F238E27FC236}">
                  <a16:creationId xmlns:a16="http://schemas.microsoft.com/office/drawing/2014/main" id="{B8EDD6B6-6AB2-B4EB-021A-8248144F03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7271" y="1777478"/>
              <a:ext cx="229643" cy="92125"/>
            </a:xfrm>
            <a:custGeom>
              <a:avLst/>
              <a:gdLst>
                <a:gd name="T0" fmla="*/ 6 w 77"/>
                <a:gd name="T1" fmla="*/ 31 h 31"/>
                <a:gd name="T2" fmla="*/ 71 w 77"/>
                <a:gd name="T3" fmla="*/ 31 h 31"/>
                <a:gd name="T4" fmla="*/ 77 w 77"/>
                <a:gd name="T5" fmla="*/ 25 h 31"/>
                <a:gd name="T6" fmla="*/ 77 w 77"/>
                <a:gd name="T7" fmla="*/ 6 h 31"/>
                <a:gd name="T8" fmla="*/ 71 w 77"/>
                <a:gd name="T9" fmla="*/ 0 h 31"/>
                <a:gd name="T10" fmla="*/ 6 w 77"/>
                <a:gd name="T11" fmla="*/ 0 h 31"/>
                <a:gd name="T12" fmla="*/ 0 w 77"/>
                <a:gd name="T13" fmla="*/ 6 h 31"/>
                <a:gd name="T14" fmla="*/ 0 w 77"/>
                <a:gd name="T15" fmla="*/ 25 h 31"/>
                <a:gd name="T16" fmla="*/ 6 w 77"/>
                <a:gd name="T17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7" h="31">
                  <a:moveTo>
                    <a:pt x="6" y="31"/>
                  </a:moveTo>
                  <a:cubicBezTo>
                    <a:pt x="71" y="31"/>
                    <a:pt x="71" y="31"/>
                    <a:pt x="71" y="31"/>
                  </a:cubicBezTo>
                  <a:cubicBezTo>
                    <a:pt x="74" y="31"/>
                    <a:pt x="77" y="28"/>
                    <a:pt x="77" y="25"/>
                  </a:cubicBezTo>
                  <a:cubicBezTo>
                    <a:pt x="77" y="6"/>
                    <a:pt x="77" y="6"/>
                    <a:pt x="77" y="6"/>
                  </a:cubicBezTo>
                  <a:cubicBezTo>
                    <a:pt x="77" y="2"/>
                    <a:pt x="74" y="0"/>
                    <a:pt x="71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2" y="0"/>
                    <a:pt x="0" y="2"/>
                    <a:pt x="0" y="6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8"/>
                    <a:pt x="2" y="31"/>
                    <a:pt x="6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defTabSz="893186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865" name="Freeform 50">
              <a:extLst>
                <a:ext uri="{FF2B5EF4-FFF2-40B4-BE49-F238E27FC236}">
                  <a16:creationId xmlns:a16="http://schemas.microsoft.com/office/drawing/2014/main" id="{4FCFA6CC-0782-A50F-6378-322F786FC9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6428" y="1908322"/>
              <a:ext cx="229643" cy="96130"/>
            </a:xfrm>
            <a:custGeom>
              <a:avLst/>
              <a:gdLst>
                <a:gd name="T0" fmla="*/ 71 w 77"/>
                <a:gd name="T1" fmla="*/ 0 h 32"/>
                <a:gd name="T2" fmla="*/ 6 w 77"/>
                <a:gd name="T3" fmla="*/ 0 h 32"/>
                <a:gd name="T4" fmla="*/ 0 w 77"/>
                <a:gd name="T5" fmla="*/ 6 h 32"/>
                <a:gd name="T6" fmla="*/ 0 w 77"/>
                <a:gd name="T7" fmla="*/ 25 h 32"/>
                <a:gd name="T8" fmla="*/ 6 w 77"/>
                <a:gd name="T9" fmla="*/ 32 h 32"/>
                <a:gd name="T10" fmla="*/ 71 w 77"/>
                <a:gd name="T11" fmla="*/ 32 h 32"/>
                <a:gd name="T12" fmla="*/ 77 w 77"/>
                <a:gd name="T13" fmla="*/ 25 h 32"/>
                <a:gd name="T14" fmla="*/ 77 w 77"/>
                <a:gd name="T15" fmla="*/ 6 h 32"/>
                <a:gd name="T16" fmla="*/ 71 w 77"/>
                <a:gd name="T1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7" h="32">
                  <a:moveTo>
                    <a:pt x="71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2" y="0"/>
                    <a:pt x="0" y="3"/>
                    <a:pt x="0" y="6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9"/>
                    <a:pt x="2" y="32"/>
                    <a:pt x="6" y="32"/>
                  </a:cubicBezTo>
                  <a:cubicBezTo>
                    <a:pt x="71" y="32"/>
                    <a:pt x="71" y="32"/>
                    <a:pt x="71" y="32"/>
                  </a:cubicBezTo>
                  <a:cubicBezTo>
                    <a:pt x="74" y="32"/>
                    <a:pt x="77" y="29"/>
                    <a:pt x="77" y="25"/>
                  </a:cubicBezTo>
                  <a:cubicBezTo>
                    <a:pt x="77" y="6"/>
                    <a:pt x="77" y="6"/>
                    <a:pt x="77" y="6"/>
                  </a:cubicBezTo>
                  <a:cubicBezTo>
                    <a:pt x="77" y="3"/>
                    <a:pt x="74" y="0"/>
                    <a:pt x="7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defTabSz="893186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866" name="Freeform 51">
              <a:extLst>
                <a:ext uri="{FF2B5EF4-FFF2-40B4-BE49-F238E27FC236}">
                  <a16:creationId xmlns:a16="http://schemas.microsoft.com/office/drawing/2014/main" id="{1E57FAFD-A21C-2976-355B-A9366DAC99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0785" y="1908322"/>
              <a:ext cx="96130" cy="96130"/>
            </a:xfrm>
            <a:custGeom>
              <a:avLst/>
              <a:gdLst>
                <a:gd name="T0" fmla="*/ 6 w 32"/>
                <a:gd name="T1" fmla="*/ 0 h 32"/>
                <a:gd name="T2" fmla="*/ 0 w 32"/>
                <a:gd name="T3" fmla="*/ 6 h 32"/>
                <a:gd name="T4" fmla="*/ 0 w 32"/>
                <a:gd name="T5" fmla="*/ 25 h 32"/>
                <a:gd name="T6" fmla="*/ 6 w 32"/>
                <a:gd name="T7" fmla="*/ 32 h 32"/>
                <a:gd name="T8" fmla="*/ 32 w 32"/>
                <a:gd name="T9" fmla="*/ 32 h 32"/>
                <a:gd name="T10" fmla="*/ 32 w 32"/>
                <a:gd name="T11" fmla="*/ 0 h 32"/>
                <a:gd name="T12" fmla="*/ 6 w 32"/>
                <a:gd name="T13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32">
                  <a:moveTo>
                    <a:pt x="6" y="0"/>
                  </a:moveTo>
                  <a:cubicBezTo>
                    <a:pt x="2" y="0"/>
                    <a:pt x="0" y="3"/>
                    <a:pt x="0" y="6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9"/>
                    <a:pt x="2" y="32"/>
                    <a:pt x="6" y="32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32" y="0"/>
                    <a:pt x="32" y="0"/>
                    <a:pt x="32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defTabSz="893186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867" name="Freeform 52">
              <a:extLst>
                <a:ext uri="{FF2B5EF4-FFF2-40B4-BE49-F238E27FC236}">
                  <a16:creationId xmlns:a16="http://schemas.microsoft.com/office/drawing/2014/main" id="{F63B7177-0599-AA66-161B-DFD0FF29DD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2914" y="1908322"/>
              <a:ext cx="97465" cy="96130"/>
            </a:xfrm>
            <a:custGeom>
              <a:avLst/>
              <a:gdLst>
                <a:gd name="T0" fmla="*/ 0 w 33"/>
                <a:gd name="T1" fmla="*/ 0 h 32"/>
                <a:gd name="T2" fmla="*/ 0 w 33"/>
                <a:gd name="T3" fmla="*/ 32 h 32"/>
                <a:gd name="T4" fmla="*/ 27 w 33"/>
                <a:gd name="T5" fmla="*/ 32 h 32"/>
                <a:gd name="T6" fmla="*/ 33 w 33"/>
                <a:gd name="T7" fmla="*/ 25 h 32"/>
                <a:gd name="T8" fmla="*/ 33 w 33"/>
                <a:gd name="T9" fmla="*/ 6 h 32"/>
                <a:gd name="T10" fmla="*/ 27 w 33"/>
                <a:gd name="T11" fmla="*/ 0 h 32"/>
                <a:gd name="T12" fmla="*/ 0 w 33"/>
                <a:gd name="T13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32">
                  <a:moveTo>
                    <a:pt x="0" y="0"/>
                  </a:moveTo>
                  <a:cubicBezTo>
                    <a:pt x="0" y="32"/>
                    <a:pt x="0" y="32"/>
                    <a:pt x="0" y="32"/>
                  </a:cubicBezTo>
                  <a:cubicBezTo>
                    <a:pt x="27" y="32"/>
                    <a:pt x="27" y="32"/>
                    <a:pt x="27" y="32"/>
                  </a:cubicBezTo>
                  <a:cubicBezTo>
                    <a:pt x="30" y="32"/>
                    <a:pt x="33" y="29"/>
                    <a:pt x="33" y="25"/>
                  </a:cubicBezTo>
                  <a:cubicBezTo>
                    <a:pt x="33" y="6"/>
                    <a:pt x="33" y="6"/>
                    <a:pt x="33" y="6"/>
                  </a:cubicBezTo>
                  <a:cubicBezTo>
                    <a:pt x="33" y="3"/>
                    <a:pt x="30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defTabSz="893186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868" name="Freeform 53">
              <a:extLst>
                <a:ext uri="{FF2B5EF4-FFF2-40B4-BE49-F238E27FC236}">
                  <a16:creationId xmlns:a16="http://schemas.microsoft.com/office/drawing/2014/main" id="{C2E3CEDE-3B1E-08EA-A82B-C5AB2D7F82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6428" y="2174014"/>
              <a:ext cx="229643" cy="94795"/>
            </a:xfrm>
            <a:custGeom>
              <a:avLst/>
              <a:gdLst>
                <a:gd name="T0" fmla="*/ 71 w 77"/>
                <a:gd name="T1" fmla="*/ 0 h 32"/>
                <a:gd name="T2" fmla="*/ 6 w 77"/>
                <a:gd name="T3" fmla="*/ 0 h 32"/>
                <a:gd name="T4" fmla="*/ 0 w 77"/>
                <a:gd name="T5" fmla="*/ 6 h 32"/>
                <a:gd name="T6" fmla="*/ 0 w 77"/>
                <a:gd name="T7" fmla="*/ 25 h 32"/>
                <a:gd name="T8" fmla="*/ 6 w 77"/>
                <a:gd name="T9" fmla="*/ 32 h 32"/>
                <a:gd name="T10" fmla="*/ 71 w 77"/>
                <a:gd name="T11" fmla="*/ 32 h 32"/>
                <a:gd name="T12" fmla="*/ 77 w 77"/>
                <a:gd name="T13" fmla="*/ 25 h 32"/>
                <a:gd name="T14" fmla="*/ 77 w 77"/>
                <a:gd name="T15" fmla="*/ 6 h 32"/>
                <a:gd name="T16" fmla="*/ 71 w 77"/>
                <a:gd name="T1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7" h="32">
                  <a:moveTo>
                    <a:pt x="71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2" y="0"/>
                    <a:pt x="0" y="3"/>
                    <a:pt x="0" y="6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9"/>
                    <a:pt x="2" y="32"/>
                    <a:pt x="6" y="32"/>
                  </a:cubicBezTo>
                  <a:cubicBezTo>
                    <a:pt x="71" y="32"/>
                    <a:pt x="71" y="32"/>
                    <a:pt x="71" y="32"/>
                  </a:cubicBezTo>
                  <a:cubicBezTo>
                    <a:pt x="74" y="32"/>
                    <a:pt x="77" y="29"/>
                    <a:pt x="77" y="25"/>
                  </a:cubicBezTo>
                  <a:cubicBezTo>
                    <a:pt x="77" y="6"/>
                    <a:pt x="77" y="6"/>
                    <a:pt x="77" y="6"/>
                  </a:cubicBezTo>
                  <a:cubicBezTo>
                    <a:pt x="77" y="3"/>
                    <a:pt x="74" y="0"/>
                    <a:pt x="7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defTabSz="893186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869" name="Freeform 54">
              <a:extLst>
                <a:ext uri="{FF2B5EF4-FFF2-40B4-BE49-F238E27FC236}">
                  <a16:creationId xmlns:a16="http://schemas.microsoft.com/office/drawing/2014/main" id="{09316CD3-CF57-C3FA-27C6-6B01B7E679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0785" y="2174014"/>
              <a:ext cx="96130" cy="94795"/>
            </a:xfrm>
            <a:custGeom>
              <a:avLst/>
              <a:gdLst>
                <a:gd name="T0" fmla="*/ 0 w 32"/>
                <a:gd name="T1" fmla="*/ 6 h 32"/>
                <a:gd name="T2" fmla="*/ 0 w 32"/>
                <a:gd name="T3" fmla="*/ 25 h 32"/>
                <a:gd name="T4" fmla="*/ 6 w 32"/>
                <a:gd name="T5" fmla="*/ 32 h 32"/>
                <a:gd name="T6" fmla="*/ 32 w 32"/>
                <a:gd name="T7" fmla="*/ 32 h 32"/>
                <a:gd name="T8" fmla="*/ 32 w 32"/>
                <a:gd name="T9" fmla="*/ 0 h 32"/>
                <a:gd name="T10" fmla="*/ 6 w 32"/>
                <a:gd name="T11" fmla="*/ 0 h 32"/>
                <a:gd name="T12" fmla="*/ 0 w 32"/>
                <a:gd name="T13" fmla="*/ 6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32">
                  <a:moveTo>
                    <a:pt x="0" y="6"/>
                  </a:moveTo>
                  <a:cubicBezTo>
                    <a:pt x="0" y="25"/>
                    <a:pt x="0" y="25"/>
                    <a:pt x="0" y="25"/>
                  </a:cubicBezTo>
                  <a:cubicBezTo>
                    <a:pt x="0" y="29"/>
                    <a:pt x="2" y="32"/>
                    <a:pt x="6" y="32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2" y="0"/>
                    <a:pt x="0" y="3"/>
                    <a:pt x="0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defTabSz="893186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870" name="Freeform 55">
              <a:extLst>
                <a:ext uri="{FF2B5EF4-FFF2-40B4-BE49-F238E27FC236}">
                  <a16:creationId xmlns:a16="http://schemas.microsoft.com/office/drawing/2014/main" id="{2DF5638C-94D3-7E8D-1123-4022E58E91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2914" y="2174014"/>
              <a:ext cx="97465" cy="94795"/>
            </a:xfrm>
            <a:custGeom>
              <a:avLst/>
              <a:gdLst>
                <a:gd name="T0" fmla="*/ 27 w 33"/>
                <a:gd name="T1" fmla="*/ 0 h 32"/>
                <a:gd name="T2" fmla="*/ 0 w 33"/>
                <a:gd name="T3" fmla="*/ 0 h 32"/>
                <a:gd name="T4" fmla="*/ 0 w 33"/>
                <a:gd name="T5" fmla="*/ 32 h 32"/>
                <a:gd name="T6" fmla="*/ 27 w 33"/>
                <a:gd name="T7" fmla="*/ 32 h 32"/>
                <a:gd name="T8" fmla="*/ 33 w 33"/>
                <a:gd name="T9" fmla="*/ 25 h 32"/>
                <a:gd name="T10" fmla="*/ 33 w 33"/>
                <a:gd name="T11" fmla="*/ 6 h 32"/>
                <a:gd name="T12" fmla="*/ 27 w 33"/>
                <a:gd name="T13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32">
                  <a:moveTo>
                    <a:pt x="2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7" y="32"/>
                    <a:pt x="27" y="32"/>
                    <a:pt x="27" y="32"/>
                  </a:cubicBezTo>
                  <a:cubicBezTo>
                    <a:pt x="30" y="32"/>
                    <a:pt x="33" y="29"/>
                    <a:pt x="33" y="25"/>
                  </a:cubicBezTo>
                  <a:cubicBezTo>
                    <a:pt x="33" y="6"/>
                    <a:pt x="33" y="6"/>
                    <a:pt x="33" y="6"/>
                  </a:cubicBezTo>
                  <a:cubicBezTo>
                    <a:pt x="33" y="3"/>
                    <a:pt x="30" y="0"/>
                    <a:pt x="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defTabSz="893186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871" name="Freeform 56">
              <a:extLst>
                <a:ext uri="{FF2B5EF4-FFF2-40B4-BE49-F238E27FC236}">
                  <a16:creationId xmlns:a16="http://schemas.microsoft.com/office/drawing/2014/main" id="{CBAF4451-AD30-C6F8-4860-859B082C3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2914" y="2041835"/>
              <a:ext cx="228309" cy="93460"/>
            </a:xfrm>
            <a:custGeom>
              <a:avLst/>
              <a:gdLst>
                <a:gd name="T0" fmla="*/ 6 w 77"/>
                <a:gd name="T1" fmla="*/ 31 h 31"/>
                <a:gd name="T2" fmla="*/ 71 w 77"/>
                <a:gd name="T3" fmla="*/ 31 h 31"/>
                <a:gd name="T4" fmla="*/ 77 w 77"/>
                <a:gd name="T5" fmla="*/ 25 h 31"/>
                <a:gd name="T6" fmla="*/ 77 w 77"/>
                <a:gd name="T7" fmla="*/ 6 h 31"/>
                <a:gd name="T8" fmla="*/ 71 w 77"/>
                <a:gd name="T9" fmla="*/ 0 h 31"/>
                <a:gd name="T10" fmla="*/ 6 w 77"/>
                <a:gd name="T11" fmla="*/ 0 h 31"/>
                <a:gd name="T12" fmla="*/ 0 w 77"/>
                <a:gd name="T13" fmla="*/ 6 h 31"/>
                <a:gd name="T14" fmla="*/ 0 w 77"/>
                <a:gd name="T15" fmla="*/ 25 h 31"/>
                <a:gd name="T16" fmla="*/ 6 w 77"/>
                <a:gd name="T17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7" h="31">
                  <a:moveTo>
                    <a:pt x="6" y="31"/>
                  </a:moveTo>
                  <a:cubicBezTo>
                    <a:pt x="71" y="31"/>
                    <a:pt x="71" y="31"/>
                    <a:pt x="71" y="31"/>
                  </a:cubicBezTo>
                  <a:cubicBezTo>
                    <a:pt x="74" y="31"/>
                    <a:pt x="77" y="28"/>
                    <a:pt x="77" y="25"/>
                  </a:cubicBezTo>
                  <a:cubicBezTo>
                    <a:pt x="77" y="6"/>
                    <a:pt x="77" y="6"/>
                    <a:pt x="77" y="6"/>
                  </a:cubicBezTo>
                  <a:cubicBezTo>
                    <a:pt x="77" y="2"/>
                    <a:pt x="74" y="0"/>
                    <a:pt x="71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2" y="0"/>
                    <a:pt x="0" y="2"/>
                    <a:pt x="0" y="6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8"/>
                    <a:pt x="2" y="31"/>
                    <a:pt x="6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defTabSz="893186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872" name="Freeform 57">
              <a:extLst>
                <a:ext uri="{FF2B5EF4-FFF2-40B4-BE49-F238E27FC236}">
                  <a16:creationId xmlns:a16="http://schemas.microsoft.com/office/drawing/2014/main" id="{CAB84269-D43F-49B0-0212-B2C11957DD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7271" y="2041835"/>
              <a:ext cx="229643" cy="93460"/>
            </a:xfrm>
            <a:custGeom>
              <a:avLst/>
              <a:gdLst>
                <a:gd name="T0" fmla="*/ 0 w 77"/>
                <a:gd name="T1" fmla="*/ 6 h 31"/>
                <a:gd name="T2" fmla="*/ 0 w 77"/>
                <a:gd name="T3" fmla="*/ 25 h 31"/>
                <a:gd name="T4" fmla="*/ 6 w 77"/>
                <a:gd name="T5" fmla="*/ 31 h 31"/>
                <a:gd name="T6" fmla="*/ 71 w 77"/>
                <a:gd name="T7" fmla="*/ 31 h 31"/>
                <a:gd name="T8" fmla="*/ 77 w 77"/>
                <a:gd name="T9" fmla="*/ 25 h 31"/>
                <a:gd name="T10" fmla="*/ 77 w 77"/>
                <a:gd name="T11" fmla="*/ 6 h 31"/>
                <a:gd name="T12" fmla="*/ 71 w 77"/>
                <a:gd name="T13" fmla="*/ 0 h 31"/>
                <a:gd name="T14" fmla="*/ 6 w 77"/>
                <a:gd name="T15" fmla="*/ 0 h 31"/>
                <a:gd name="T16" fmla="*/ 0 w 77"/>
                <a:gd name="T17" fmla="*/ 6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7" h="31">
                  <a:moveTo>
                    <a:pt x="0" y="6"/>
                  </a:moveTo>
                  <a:cubicBezTo>
                    <a:pt x="0" y="25"/>
                    <a:pt x="0" y="25"/>
                    <a:pt x="0" y="25"/>
                  </a:cubicBezTo>
                  <a:cubicBezTo>
                    <a:pt x="0" y="28"/>
                    <a:pt x="2" y="31"/>
                    <a:pt x="6" y="31"/>
                  </a:cubicBezTo>
                  <a:cubicBezTo>
                    <a:pt x="71" y="31"/>
                    <a:pt x="71" y="31"/>
                    <a:pt x="71" y="31"/>
                  </a:cubicBezTo>
                  <a:cubicBezTo>
                    <a:pt x="74" y="31"/>
                    <a:pt x="77" y="28"/>
                    <a:pt x="77" y="25"/>
                  </a:cubicBezTo>
                  <a:cubicBezTo>
                    <a:pt x="77" y="6"/>
                    <a:pt x="77" y="6"/>
                    <a:pt x="77" y="6"/>
                  </a:cubicBezTo>
                  <a:cubicBezTo>
                    <a:pt x="77" y="2"/>
                    <a:pt x="74" y="0"/>
                    <a:pt x="71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2" y="0"/>
                    <a:pt x="0" y="2"/>
                    <a:pt x="0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defTabSz="893186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>
                <a:solidFill>
                  <a:prstClr val="black"/>
                </a:solidFill>
                <a:latin typeface="+mn-ea"/>
              </a:endParaRPr>
            </a:p>
          </p:txBody>
        </p:sp>
      </p:grpSp>
      <p:sp>
        <p:nvSpPr>
          <p:cNvPr id="873" name="직사각형 872">
            <a:extLst>
              <a:ext uri="{FF2B5EF4-FFF2-40B4-BE49-F238E27FC236}">
                <a16:creationId xmlns:a16="http://schemas.microsoft.com/office/drawing/2014/main" id="{D8DFDD2C-5E42-109C-D5C5-A123B50C85AC}"/>
              </a:ext>
            </a:extLst>
          </p:cNvPr>
          <p:cNvSpPr/>
          <p:nvPr/>
        </p:nvSpPr>
        <p:spPr>
          <a:xfrm>
            <a:off x="4564160" y="5995710"/>
            <a:ext cx="339575" cy="4455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89319" tIns="44659" rIns="89319" bIns="44659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874" name="직사각형 873">
            <a:extLst>
              <a:ext uri="{FF2B5EF4-FFF2-40B4-BE49-F238E27FC236}">
                <a16:creationId xmlns:a16="http://schemas.microsoft.com/office/drawing/2014/main" id="{6FE3CAC2-4779-5AF4-08C9-B9B73FC9B10E}"/>
              </a:ext>
            </a:extLst>
          </p:cNvPr>
          <p:cNvSpPr/>
          <p:nvPr/>
        </p:nvSpPr>
        <p:spPr>
          <a:xfrm>
            <a:off x="4427599" y="6193151"/>
            <a:ext cx="673559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 defTabSz="457200" latinLnBrk="0"/>
            <a:r>
              <a:rPr lang="ko-KR" altLang="en-US" sz="80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그룹사</a:t>
            </a:r>
            <a:endParaRPr lang="en-US" altLang="ko-KR" sz="80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+mn-ea"/>
            </a:endParaRPr>
          </a:p>
          <a:p>
            <a:pPr algn="ctr" defTabSz="457200" latinLnBrk="0"/>
            <a:r>
              <a:rPr lang="ko-KR" altLang="en-US" sz="8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방화벽</a:t>
            </a:r>
            <a:endParaRPr lang="en-US" altLang="ko-KR" sz="80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45240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3BC3B2-1544-9958-19AF-A3F3579C5C7F}"/>
              </a:ext>
            </a:extLst>
          </p:cNvPr>
          <p:cNvSpPr txBox="1"/>
          <p:nvPr/>
        </p:nvSpPr>
        <p:spPr>
          <a:xfrm>
            <a:off x="218402" y="147447"/>
            <a:ext cx="74709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SMMS </a:t>
            </a:r>
            <a:r>
              <a:rPr lang="ko-KR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개발 정보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3CD4D6-5008-7230-D7A5-BCFEC6D00B4A}"/>
              </a:ext>
            </a:extLst>
          </p:cNvPr>
          <p:cNvSpPr txBox="1"/>
          <p:nvPr/>
        </p:nvSpPr>
        <p:spPr>
          <a:xfrm>
            <a:off x="218402" y="807227"/>
            <a:ext cx="61090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소스 코드 </a:t>
            </a:r>
            <a:r>
              <a:rPr lang="en-US" altLang="ko-KR" dirty="0"/>
              <a:t>: </a:t>
            </a:r>
            <a:r>
              <a:rPr lang="ko-KR" altLang="en-US" dirty="0"/>
              <a:t>http://git.rcs-qa.uplus.co.kr/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7C33212-726D-2304-D64C-7E76BB606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614" y="1176559"/>
            <a:ext cx="4579556" cy="16093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8A2372C-663C-3B10-BCA1-A14D39E6FB8C}"/>
              </a:ext>
            </a:extLst>
          </p:cNvPr>
          <p:cNvSpPr txBox="1"/>
          <p:nvPr/>
        </p:nvSpPr>
        <p:spPr>
          <a:xfrm>
            <a:off x="218402" y="2865865"/>
            <a:ext cx="7143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테스트 웹 </a:t>
            </a:r>
            <a:r>
              <a:rPr lang="en-US" altLang="ko-KR" dirty="0"/>
              <a:t>: </a:t>
            </a:r>
            <a:r>
              <a:rPr lang="ko-KR" altLang="en-US" dirty="0"/>
              <a:t>http://smms.shinhan.rcsmaap.co.kr/smms/login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2E2983-C598-79F9-B509-DF4DB1078EF0}"/>
              </a:ext>
            </a:extLst>
          </p:cNvPr>
          <p:cNvSpPr txBox="1"/>
          <p:nvPr/>
        </p:nvSpPr>
        <p:spPr>
          <a:xfrm>
            <a:off x="7477959" y="1056389"/>
            <a:ext cx="45246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테스트 서버 </a:t>
            </a:r>
            <a:r>
              <a:rPr lang="en-US" altLang="ko-KR" dirty="0"/>
              <a:t>: shinhan.rcsmaap.co.kr:3005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4E484E-4733-C016-40BB-CFBBCA081CF6}"/>
              </a:ext>
            </a:extLst>
          </p:cNvPr>
          <p:cNvSpPr txBox="1"/>
          <p:nvPr/>
        </p:nvSpPr>
        <p:spPr>
          <a:xfrm>
            <a:off x="7477959" y="1530223"/>
            <a:ext cx="45246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기타 정보는 개발 매뉴얼 참조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F2D3868E-DD40-5C7F-2E80-DF848C9D8F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614" y="3315178"/>
            <a:ext cx="4153428" cy="295404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EB555CB-02F3-177D-6173-CEA1C0136012}"/>
              </a:ext>
            </a:extLst>
          </p:cNvPr>
          <p:cNvSpPr txBox="1"/>
          <p:nvPr/>
        </p:nvSpPr>
        <p:spPr>
          <a:xfrm>
            <a:off x="7477959" y="2683326"/>
            <a:ext cx="452465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개발</a:t>
            </a:r>
            <a:r>
              <a:rPr lang="en-US" altLang="ko-KR" dirty="0"/>
              <a:t>/</a:t>
            </a:r>
            <a:r>
              <a:rPr lang="ko-KR" altLang="en-US" dirty="0"/>
              <a:t>반영 절차</a:t>
            </a:r>
            <a:r>
              <a:rPr lang="en-US" altLang="ko-KR" dirty="0"/>
              <a:t>(WEB)</a:t>
            </a:r>
          </a:p>
          <a:p>
            <a:r>
              <a:rPr lang="en-US" altLang="ko-KR" dirty="0"/>
              <a:t>1. </a:t>
            </a:r>
            <a:r>
              <a:rPr lang="ko-KR" altLang="en-US" dirty="0"/>
              <a:t>요구 사항 확인 </a:t>
            </a:r>
            <a:r>
              <a:rPr lang="en-US" altLang="ko-KR" dirty="0"/>
              <a:t>– DS</a:t>
            </a:r>
            <a:r>
              <a:rPr lang="ko-KR" altLang="en-US" dirty="0"/>
              <a:t> </a:t>
            </a:r>
            <a:r>
              <a:rPr lang="ko-KR" altLang="en-US" dirty="0" err="1"/>
              <a:t>선영석</a:t>
            </a:r>
            <a:r>
              <a:rPr lang="ko-KR" altLang="en-US" dirty="0"/>
              <a:t> 수석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개발</a:t>
            </a:r>
            <a:endParaRPr lang="en-US" altLang="ko-KR" dirty="0"/>
          </a:p>
          <a:p>
            <a:r>
              <a:rPr lang="en-US" altLang="ko-KR" dirty="0"/>
              <a:t>3. </a:t>
            </a:r>
            <a:r>
              <a:rPr lang="ko-KR" altLang="en-US" dirty="0"/>
              <a:t>테스트 서버 반영 및 확인</a:t>
            </a:r>
            <a:endParaRPr lang="en-US" altLang="ko-KR" dirty="0"/>
          </a:p>
          <a:p>
            <a:r>
              <a:rPr lang="en-US" altLang="ko-KR" dirty="0"/>
              <a:t>4. </a:t>
            </a:r>
            <a:r>
              <a:rPr lang="ko-KR" altLang="en-US" dirty="0"/>
              <a:t>변경 소스코드 전달</a:t>
            </a:r>
            <a:endParaRPr lang="en-US" altLang="ko-KR" dirty="0"/>
          </a:p>
          <a:p>
            <a:r>
              <a:rPr lang="en-US" altLang="ko-KR" dirty="0"/>
              <a:t>5. </a:t>
            </a:r>
            <a:r>
              <a:rPr lang="ko-KR" altLang="en-US" dirty="0"/>
              <a:t>확인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4D7AAE-9442-59C1-F154-32C24C17EAEB}"/>
              </a:ext>
            </a:extLst>
          </p:cNvPr>
          <p:cNvSpPr txBox="1"/>
          <p:nvPr/>
        </p:nvSpPr>
        <p:spPr>
          <a:xfrm>
            <a:off x="7477959" y="4760552"/>
            <a:ext cx="452465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개발</a:t>
            </a:r>
            <a:r>
              <a:rPr lang="en-US" altLang="ko-KR" dirty="0"/>
              <a:t>/</a:t>
            </a:r>
            <a:r>
              <a:rPr lang="ko-KR" altLang="en-US" dirty="0"/>
              <a:t>반영 절차</a:t>
            </a:r>
            <a:r>
              <a:rPr lang="en-US" altLang="ko-KR" dirty="0"/>
              <a:t>(AGENT)</a:t>
            </a:r>
          </a:p>
          <a:p>
            <a:r>
              <a:rPr lang="en-US" altLang="ko-KR" dirty="0"/>
              <a:t>1. </a:t>
            </a:r>
            <a:r>
              <a:rPr lang="ko-KR" altLang="en-US" dirty="0"/>
              <a:t>요구 사항 확인 </a:t>
            </a:r>
            <a:r>
              <a:rPr lang="en-US" altLang="ko-KR" dirty="0"/>
              <a:t>– </a:t>
            </a:r>
            <a:r>
              <a:rPr lang="ko-KR" altLang="en-US" dirty="0"/>
              <a:t>각 그룹사 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개발</a:t>
            </a:r>
            <a:endParaRPr lang="en-US" altLang="ko-KR" dirty="0"/>
          </a:p>
          <a:p>
            <a:r>
              <a:rPr lang="en-US" altLang="ko-KR" dirty="0"/>
              <a:t>3. </a:t>
            </a:r>
            <a:r>
              <a:rPr lang="ko-KR" altLang="en-US" dirty="0"/>
              <a:t>테스트 서버 반영 및 확인</a:t>
            </a:r>
            <a:endParaRPr lang="en-US" altLang="ko-KR" dirty="0"/>
          </a:p>
          <a:p>
            <a:r>
              <a:rPr lang="en-US" altLang="ko-KR" dirty="0"/>
              <a:t>4. </a:t>
            </a:r>
            <a:r>
              <a:rPr lang="ko-KR" altLang="en-US" dirty="0"/>
              <a:t>운영서버 반영 및 확인</a:t>
            </a:r>
          </a:p>
        </p:txBody>
      </p:sp>
    </p:spTree>
    <p:extLst>
      <p:ext uri="{BB962C8B-B14F-4D97-AF65-F5344CB8AC3E}">
        <p14:creationId xmlns:p14="http://schemas.microsoft.com/office/powerpoint/2010/main" val="2535049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4A7E3D-3FD4-AF6F-90F3-0A064C3FD53F}"/>
              </a:ext>
            </a:extLst>
          </p:cNvPr>
          <p:cNvSpPr txBox="1"/>
          <p:nvPr/>
        </p:nvSpPr>
        <p:spPr>
          <a:xfrm>
            <a:off x="218402" y="147447"/>
            <a:ext cx="74709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SMMS AGENT(1/2)</a:t>
            </a:r>
            <a:endParaRPr lang="ko-KR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3EF249-223F-5715-A2A2-6C0AAD79EFA8}"/>
              </a:ext>
            </a:extLst>
          </p:cNvPr>
          <p:cNvSpPr txBox="1"/>
          <p:nvPr/>
        </p:nvSpPr>
        <p:spPr>
          <a:xfrm>
            <a:off x="394792" y="4249444"/>
            <a:ext cx="352406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- </a:t>
            </a:r>
            <a:r>
              <a:rPr lang="ko-KR" altLang="en-US" dirty="0"/>
              <a:t>연동 순서</a:t>
            </a:r>
            <a:endParaRPr lang="en-US" altLang="ko-KR" dirty="0"/>
          </a:p>
          <a:p>
            <a:r>
              <a:rPr lang="en-US" altLang="ko-KR" dirty="0"/>
              <a:t>1. </a:t>
            </a:r>
            <a:r>
              <a:rPr lang="ko-KR" altLang="en-US" dirty="0"/>
              <a:t>연동 환경 확인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메타테이블 생성</a:t>
            </a:r>
            <a:endParaRPr lang="en-US" altLang="ko-KR" dirty="0"/>
          </a:p>
          <a:p>
            <a:r>
              <a:rPr lang="en-US" altLang="ko-KR" dirty="0"/>
              <a:t>3. </a:t>
            </a:r>
            <a:r>
              <a:rPr lang="en-US" altLang="ko-KR" dirty="0" err="1"/>
              <a:t>agent.yml</a:t>
            </a:r>
            <a:r>
              <a:rPr lang="en-US" altLang="ko-KR" dirty="0"/>
              <a:t> </a:t>
            </a:r>
            <a:r>
              <a:rPr lang="ko-KR" altLang="en-US" dirty="0"/>
              <a:t>파일 설정</a:t>
            </a:r>
            <a:endParaRPr lang="en-US" altLang="ko-KR" dirty="0"/>
          </a:p>
          <a:p>
            <a:r>
              <a:rPr lang="en-US" altLang="ko-KR" dirty="0"/>
              <a:t>4. custom.xml </a:t>
            </a:r>
            <a:r>
              <a:rPr lang="ko-KR" altLang="en-US" dirty="0"/>
              <a:t>파일 작성</a:t>
            </a:r>
            <a:endParaRPr lang="en-US" altLang="ko-KR" dirty="0"/>
          </a:p>
          <a:p>
            <a:r>
              <a:rPr lang="en-US" altLang="ko-KR" dirty="0"/>
              <a:t>5. agent.xml</a:t>
            </a:r>
            <a:r>
              <a:rPr lang="ko-KR" altLang="en-US" dirty="0"/>
              <a:t> 파일 작성</a:t>
            </a:r>
            <a:endParaRPr lang="en-US" altLang="ko-KR" dirty="0"/>
          </a:p>
          <a:p>
            <a:r>
              <a:rPr lang="en-US" altLang="ko-KR" dirty="0"/>
              <a:t>6. </a:t>
            </a:r>
            <a:r>
              <a:rPr lang="ko-KR" altLang="en-US" dirty="0"/>
              <a:t>빌드 및 배포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30B5C811-84C5-14CA-AD2A-907BDB36EDED}"/>
              </a:ext>
            </a:extLst>
          </p:cNvPr>
          <p:cNvGrpSpPr/>
          <p:nvPr/>
        </p:nvGrpSpPr>
        <p:grpSpPr>
          <a:xfrm>
            <a:off x="394792" y="1081008"/>
            <a:ext cx="3404257" cy="1001080"/>
            <a:chOff x="782745" y="1488219"/>
            <a:chExt cx="3404257" cy="1001080"/>
          </a:xfrm>
        </p:grpSpPr>
        <p:sp>
          <p:nvSpPr>
            <p:cNvPr id="5" name="모서리가 둥근 직사각형 146">
              <a:extLst>
                <a:ext uri="{FF2B5EF4-FFF2-40B4-BE49-F238E27FC236}">
                  <a16:creationId xmlns:a16="http://schemas.microsoft.com/office/drawing/2014/main" id="{6400057B-EE8F-568A-3C68-8EA7D1E162A6}"/>
                </a:ext>
              </a:extLst>
            </p:cNvPr>
            <p:cNvSpPr/>
            <p:nvPr/>
          </p:nvSpPr>
          <p:spPr>
            <a:xfrm>
              <a:off x="844651" y="1573681"/>
              <a:ext cx="3270149" cy="845267"/>
            </a:xfrm>
            <a:prstGeom prst="roundRect">
              <a:avLst>
                <a:gd name="adj" fmla="val 0"/>
              </a:avLst>
            </a:prstGeom>
            <a:solidFill>
              <a:srgbClr val="D4E3F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6" name="모서리가 둥근 직사각형 43">
              <a:extLst>
                <a:ext uri="{FF2B5EF4-FFF2-40B4-BE49-F238E27FC236}">
                  <a16:creationId xmlns:a16="http://schemas.microsoft.com/office/drawing/2014/main" id="{358B945E-CFE1-5E33-05DF-4123A8426C4D}"/>
                </a:ext>
              </a:extLst>
            </p:cNvPr>
            <p:cNvSpPr/>
            <p:nvPr/>
          </p:nvSpPr>
          <p:spPr>
            <a:xfrm>
              <a:off x="782745" y="1488219"/>
              <a:ext cx="3404257" cy="1001080"/>
            </a:xfrm>
            <a:prstGeom prst="roundRect">
              <a:avLst>
                <a:gd name="adj" fmla="val 4458"/>
              </a:avLst>
            </a:prstGeom>
            <a:noFill/>
            <a:ln w="19050" cap="flat" cmpd="sng" algn="ctr">
              <a:solidFill>
                <a:srgbClr val="718BC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5ABCB137-017C-EAAC-BDA4-1B19A597978C}"/>
                </a:ext>
              </a:extLst>
            </p:cNvPr>
            <p:cNvGrpSpPr/>
            <p:nvPr/>
          </p:nvGrpSpPr>
          <p:grpSpPr>
            <a:xfrm>
              <a:off x="890294" y="2042096"/>
              <a:ext cx="951534" cy="380908"/>
              <a:chOff x="2390679" y="3043337"/>
              <a:chExt cx="898585" cy="362660"/>
            </a:xfrm>
          </p:grpSpPr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998C757B-48CC-1279-E330-8A76DD547D2A}"/>
                  </a:ext>
                </a:extLst>
              </p:cNvPr>
              <p:cNvGrpSpPr/>
              <p:nvPr/>
            </p:nvGrpSpPr>
            <p:grpSpPr>
              <a:xfrm>
                <a:off x="2548087" y="3043337"/>
                <a:ext cx="741177" cy="225928"/>
                <a:chOff x="2638426" y="6588126"/>
                <a:chExt cx="2890392" cy="881063"/>
              </a:xfrm>
              <a:solidFill>
                <a:srgbClr val="718BC5"/>
              </a:solidFill>
            </p:grpSpPr>
            <p:sp>
              <p:nvSpPr>
                <p:cNvPr id="18" name="Freeform 401">
                  <a:extLst>
                    <a:ext uri="{FF2B5EF4-FFF2-40B4-BE49-F238E27FC236}">
                      <a16:creationId xmlns:a16="http://schemas.microsoft.com/office/drawing/2014/main" id="{B0AD6D50-8303-B6DE-43E2-776E7FCF540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727326" y="6588126"/>
                  <a:ext cx="690563" cy="881063"/>
                </a:xfrm>
                <a:custGeom>
                  <a:avLst/>
                  <a:gdLst>
                    <a:gd name="T0" fmla="*/ 1209 w 1209"/>
                    <a:gd name="T1" fmla="*/ 1261 h 1544"/>
                    <a:gd name="T2" fmla="*/ 1209 w 1209"/>
                    <a:gd name="T3" fmla="*/ 25 h 1544"/>
                    <a:gd name="T4" fmla="*/ 1184 w 1209"/>
                    <a:gd name="T5" fmla="*/ 0 h 1544"/>
                    <a:gd name="T6" fmla="*/ 26 w 1209"/>
                    <a:gd name="T7" fmla="*/ 0 h 1544"/>
                    <a:gd name="T8" fmla="*/ 0 w 1209"/>
                    <a:gd name="T9" fmla="*/ 25 h 1544"/>
                    <a:gd name="T10" fmla="*/ 0 w 1209"/>
                    <a:gd name="T11" fmla="*/ 386 h 1544"/>
                    <a:gd name="T12" fmla="*/ 51 w 1209"/>
                    <a:gd name="T13" fmla="*/ 386 h 1544"/>
                    <a:gd name="T14" fmla="*/ 51 w 1209"/>
                    <a:gd name="T15" fmla="*/ 51 h 1544"/>
                    <a:gd name="T16" fmla="*/ 1158 w 1209"/>
                    <a:gd name="T17" fmla="*/ 51 h 1544"/>
                    <a:gd name="T18" fmla="*/ 1158 w 1209"/>
                    <a:gd name="T19" fmla="*/ 1235 h 1544"/>
                    <a:gd name="T20" fmla="*/ 926 w 1209"/>
                    <a:gd name="T21" fmla="*/ 1235 h 1544"/>
                    <a:gd name="T22" fmla="*/ 901 w 1209"/>
                    <a:gd name="T23" fmla="*/ 1261 h 1544"/>
                    <a:gd name="T24" fmla="*/ 901 w 1209"/>
                    <a:gd name="T25" fmla="*/ 1492 h 1544"/>
                    <a:gd name="T26" fmla="*/ 51 w 1209"/>
                    <a:gd name="T27" fmla="*/ 1492 h 1544"/>
                    <a:gd name="T28" fmla="*/ 51 w 1209"/>
                    <a:gd name="T29" fmla="*/ 1106 h 1544"/>
                    <a:gd name="T30" fmla="*/ 0 w 1209"/>
                    <a:gd name="T31" fmla="*/ 1106 h 1544"/>
                    <a:gd name="T32" fmla="*/ 0 w 1209"/>
                    <a:gd name="T33" fmla="*/ 1518 h 1544"/>
                    <a:gd name="T34" fmla="*/ 26 w 1209"/>
                    <a:gd name="T35" fmla="*/ 1544 h 1544"/>
                    <a:gd name="T36" fmla="*/ 926 w 1209"/>
                    <a:gd name="T37" fmla="*/ 1544 h 1544"/>
                    <a:gd name="T38" fmla="*/ 944 w 1209"/>
                    <a:gd name="T39" fmla="*/ 1536 h 1544"/>
                    <a:gd name="T40" fmla="*/ 1202 w 1209"/>
                    <a:gd name="T41" fmla="*/ 1279 h 1544"/>
                    <a:gd name="T42" fmla="*/ 1207 w 1209"/>
                    <a:gd name="T43" fmla="*/ 1271 h 1544"/>
                    <a:gd name="T44" fmla="*/ 1207 w 1209"/>
                    <a:gd name="T45" fmla="*/ 1269 h 1544"/>
                    <a:gd name="T46" fmla="*/ 1209 w 1209"/>
                    <a:gd name="T47" fmla="*/ 1261 h 1544"/>
                    <a:gd name="T48" fmla="*/ 952 w 1209"/>
                    <a:gd name="T49" fmla="*/ 1286 h 1544"/>
                    <a:gd name="T50" fmla="*/ 1122 w 1209"/>
                    <a:gd name="T51" fmla="*/ 1286 h 1544"/>
                    <a:gd name="T52" fmla="*/ 952 w 1209"/>
                    <a:gd name="T53" fmla="*/ 1456 h 1544"/>
                    <a:gd name="T54" fmla="*/ 952 w 1209"/>
                    <a:gd name="T55" fmla="*/ 1286 h 1544"/>
                    <a:gd name="T56" fmla="*/ 952 w 1209"/>
                    <a:gd name="T57" fmla="*/ 1286 h 1544"/>
                    <a:gd name="T58" fmla="*/ 952 w 1209"/>
                    <a:gd name="T59" fmla="*/ 1286 h 15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1209" h="1544">
                      <a:moveTo>
                        <a:pt x="1209" y="1261"/>
                      </a:moveTo>
                      <a:cubicBezTo>
                        <a:pt x="1209" y="25"/>
                        <a:pt x="1209" y="25"/>
                        <a:pt x="1209" y="25"/>
                      </a:cubicBezTo>
                      <a:cubicBezTo>
                        <a:pt x="1209" y="10"/>
                        <a:pt x="1199" y="0"/>
                        <a:pt x="1184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cubicBezTo>
                        <a:pt x="10" y="0"/>
                        <a:pt x="0" y="10"/>
                        <a:pt x="0" y="25"/>
                      </a:cubicBezTo>
                      <a:cubicBezTo>
                        <a:pt x="0" y="386"/>
                        <a:pt x="0" y="386"/>
                        <a:pt x="0" y="386"/>
                      </a:cubicBezTo>
                      <a:cubicBezTo>
                        <a:pt x="51" y="386"/>
                        <a:pt x="51" y="386"/>
                        <a:pt x="51" y="386"/>
                      </a:cubicBezTo>
                      <a:cubicBezTo>
                        <a:pt x="51" y="51"/>
                        <a:pt x="51" y="51"/>
                        <a:pt x="51" y="51"/>
                      </a:cubicBezTo>
                      <a:cubicBezTo>
                        <a:pt x="1158" y="51"/>
                        <a:pt x="1158" y="51"/>
                        <a:pt x="1158" y="51"/>
                      </a:cubicBezTo>
                      <a:cubicBezTo>
                        <a:pt x="1158" y="1235"/>
                        <a:pt x="1158" y="1235"/>
                        <a:pt x="1158" y="1235"/>
                      </a:cubicBezTo>
                      <a:cubicBezTo>
                        <a:pt x="926" y="1235"/>
                        <a:pt x="926" y="1235"/>
                        <a:pt x="926" y="1235"/>
                      </a:cubicBezTo>
                      <a:cubicBezTo>
                        <a:pt x="911" y="1235"/>
                        <a:pt x="901" y="1245"/>
                        <a:pt x="901" y="1261"/>
                      </a:cubicBezTo>
                      <a:cubicBezTo>
                        <a:pt x="901" y="1492"/>
                        <a:pt x="901" y="1492"/>
                        <a:pt x="901" y="1492"/>
                      </a:cubicBezTo>
                      <a:cubicBezTo>
                        <a:pt x="51" y="1492"/>
                        <a:pt x="51" y="1492"/>
                        <a:pt x="51" y="1492"/>
                      </a:cubicBezTo>
                      <a:cubicBezTo>
                        <a:pt x="51" y="1106"/>
                        <a:pt x="51" y="1106"/>
                        <a:pt x="51" y="1106"/>
                      </a:cubicBezTo>
                      <a:cubicBezTo>
                        <a:pt x="0" y="1106"/>
                        <a:pt x="0" y="1106"/>
                        <a:pt x="0" y="1106"/>
                      </a:cubicBezTo>
                      <a:cubicBezTo>
                        <a:pt x="0" y="1518"/>
                        <a:pt x="0" y="1518"/>
                        <a:pt x="0" y="1518"/>
                      </a:cubicBezTo>
                      <a:cubicBezTo>
                        <a:pt x="0" y="1534"/>
                        <a:pt x="10" y="1544"/>
                        <a:pt x="26" y="1544"/>
                      </a:cubicBezTo>
                      <a:cubicBezTo>
                        <a:pt x="926" y="1544"/>
                        <a:pt x="926" y="1544"/>
                        <a:pt x="926" y="1544"/>
                      </a:cubicBezTo>
                      <a:cubicBezTo>
                        <a:pt x="934" y="1544"/>
                        <a:pt x="939" y="1541"/>
                        <a:pt x="944" y="1536"/>
                      </a:cubicBezTo>
                      <a:cubicBezTo>
                        <a:pt x="1202" y="1279"/>
                        <a:pt x="1202" y="1279"/>
                        <a:pt x="1202" y="1279"/>
                      </a:cubicBezTo>
                      <a:cubicBezTo>
                        <a:pt x="1204" y="1276"/>
                        <a:pt x="1204" y="1274"/>
                        <a:pt x="1207" y="1271"/>
                      </a:cubicBezTo>
                      <a:cubicBezTo>
                        <a:pt x="1207" y="1269"/>
                        <a:pt x="1207" y="1269"/>
                        <a:pt x="1207" y="1269"/>
                      </a:cubicBezTo>
                      <a:cubicBezTo>
                        <a:pt x="1209" y="1266"/>
                        <a:pt x="1209" y="1263"/>
                        <a:pt x="1209" y="1261"/>
                      </a:cubicBezTo>
                      <a:close/>
                      <a:moveTo>
                        <a:pt x="952" y="1286"/>
                      </a:moveTo>
                      <a:cubicBezTo>
                        <a:pt x="1122" y="1286"/>
                        <a:pt x="1122" y="1286"/>
                        <a:pt x="1122" y="1286"/>
                      </a:cubicBezTo>
                      <a:cubicBezTo>
                        <a:pt x="952" y="1456"/>
                        <a:pt x="952" y="1456"/>
                        <a:pt x="952" y="1456"/>
                      </a:cubicBezTo>
                      <a:lnTo>
                        <a:pt x="952" y="1286"/>
                      </a:lnTo>
                      <a:close/>
                      <a:moveTo>
                        <a:pt x="952" y="1286"/>
                      </a:moveTo>
                      <a:cubicBezTo>
                        <a:pt x="952" y="1286"/>
                        <a:pt x="952" y="1286"/>
                        <a:pt x="952" y="1286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19" name="Freeform 402">
                  <a:extLst>
                    <a:ext uri="{FF2B5EF4-FFF2-40B4-BE49-F238E27FC236}">
                      <a16:creationId xmlns:a16="http://schemas.microsoft.com/office/drawing/2014/main" id="{62A32902-22F7-0CF3-CC30-7BFBE327E88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638426" y="6823076"/>
                  <a:ext cx="338138" cy="323850"/>
                </a:xfrm>
                <a:custGeom>
                  <a:avLst/>
                  <a:gdLst>
                    <a:gd name="T0" fmla="*/ 334 w 591"/>
                    <a:gd name="T1" fmla="*/ 567 h 567"/>
                    <a:gd name="T2" fmla="*/ 591 w 591"/>
                    <a:gd name="T3" fmla="*/ 567 h 567"/>
                    <a:gd name="T4" fmla="*/ 591 w 591"/>
                    <a:gd name="T5" fmla="*/ 515 h 567"/>
                    <a:gd name="T6" fmla="*/ 514 w 591"/>
                    <a:gd name="T7" fmla="*/ 515 h 567"/>
                    <a:gd name="T8" fmla="*/ 514 w 591"/>
                    <a:gd name="T9" fmla="*/ 26 h 567"/>
                    <a:gd name="T10" fmla="*/ 488 w 591"/>
                    <a:gd name="T11" fmla="*/ 0 h 567"/>
                    <a:gd name="T12" fmla="*/ 334 w 591"/>
                    <a:gd name="T13" fmla="*/ 0 h 567"/>
                    <a:gd name="T14" fmla="*/ 308 w 591"/>
                    <a:gd name="T15" fmla="*/ 26 h 567"/>
                    <a:gd name="T16" fmla="*/ 308 w 591"/>
                    <a:gd name="T17" fmla="*/ 181 h 567"/>
                    <a:gd name="T18" fmla="*/ 180 w 591"/>
                    <a:gd name="T19" fmla="*/ 181 h 567"/>
                    <a:gd name="T20" fmla="*/ 154 w 591"/>
                    <a:gd name="T21" fmla="*/ 206 h 567"/>
                    <a:gd name="T22" fmla="*/ 154 w 591"/>
                    <a:gd name="T23" fmla="*/ 309 h 567"/>
                    <a:gd name="T24" fmla="*/ 25 w 591"/>
                    <a:gd name="T25" fmla="*/ 309 h 567"/>
                    <a:gd name="T26" fmla="*/ 0 w 591"/>
                    <a:gd name="T27" fmla="*/ 335 h 567"/>
                    <a:gd name="T28" fmla="*/ 0 w 591"/>
                    <a:gd name="T29" fmla="*/ 541 h 567"/>
                    <a:gd name="T30" fmla="*/ 25 w 591"/>
                    <a:gd name="T31" fmla="*/ 567 h 567"/>
                    <a:gd name="T32" fmla="*/ 334 w 591"/>
                    <a:gd name="T33" fmla="*/ 567 h 567"/>
                    <a:gd name="T34" fmla="*/ 360 w 591"/>
                    <a:gd name="T35" fmla="*/ 52 h 567"/>
                    <a:gd name="T36" fmla="*/ 463 w 591"/>
                    <a:gd name="T37" fmla="*/ 52 h 567"/>
                    <a:gd name="T38" fmla="*/ 463 w 591"/>
                    <a:gd name="T39" fmla="*/ 515 h 567"/>
                    <a:gd name="T40" fmla="*/ 360 w 591"/>
                    <a:gd name="T41" fmla="*/ 515 h 567"/>
                    <a:gd name="T42" fmla="*/ 360 w 591"/>
                    <a:gd name="T43" fmla="*/ 52 h 567"/>
                    <a:gd name="T44" fmla="*/ 205 w 591"/>
                    <a:gd name="T45" fmla="*/ 232 h 567"/>
                    <a:gd name="T46" fmla="*/ 308 w 591"/>
                    <a:gd name="T47" fmla="*/ 232 h 567"/>
                    <a:gd name="T48" fmla="*/ 308 w 591"/>
                    <a:gd name="T49" fmla="*/ 515 h 567"/>
                    <a:gd name="T50" fmla="*/ 205 w 591"/>
                    <a:gd name="T51" fmla="*/ 515 h 567"/>
                    <a:gd name="T52" fmla="*/ 205 w 591"/>
                    <a:gd name="T53" fmla="*/ 232 h 567"/>
                    <a:gd name="T54" fmla="*/ 51 w 591"/>
                    <a:gd name="T55" fmla="*/ 361 h 567"/>
                    <a:gd name="T56" fmla="*/ 154 w 591"/>
                    <a:gd name="T57" fmla="*/ 361 h 567"/>
                    <a:gd name="T58" fmla="*/ 154 w 591"/>
                    <a:gd name="T59" fmla="*/ 515 h 567"/>
                    <a:gd name="T60" fmla="*/ 51 w 591"/>
                    <a:gd name="T61" fmla="*/ 515 h 567"/>
                    <a:gd name="T62" fmla="*/ 51 w 591"/>
                    <a:gd name="T63" fmla="*/ 361 h 567"/>
                    <a:gd name="T64" fmla="*/ 51 w 591"/>
                    <a:gd name="T65" fmla="*/ 361 h 567"/>
                    <a:gd name="T66" fmla="*/ 51 w 591"/>
                    <a:gd name="T67" fmla="*/ 361 h 5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591" h="567">
                      <a:moveTo>
                        <a:pt x="334" y="567"/>
                      </a:moveTo>
                      <a:cubicBezTo>
                        <a:pt x="591" y="567"/>
                        <a:pt x="591" y="567"/>
                        <a:pt x="591" y="567"/>
                      </a:cubicBezTo>
                      <a:cubicBezTo>
                        <a:pt x="591" y="515"/>
                        <a:pt x="591" y="515"/>
                        <a:pt x="591" y="515"/>
                      </a:cubicBezTo>
                      <a:cubicBezTo>
                        <a:pt x="514" y="515"/>
                        <a:pt x="514" y="515"/>
                        <a:pt x="514" y="515"/>
                      </a:cubicBezTo>
                      <a:cubicBezTo>
                        <a:pt x="514" y="26"/>
                        <a:pt x="514" y="26"/>
                        <a:pt x="514" y="26"/>
                      </a:cubicBezTo>
                      <a:cubicBezTo>
                        <a:pt x="514" y="11"/>
                        <a:pt x="504" y="0"/>
                        <a:pt x="488" y="0"/>
                      </a:cubicBezTo>
                      <a:cubicBezTo>
                        <a:pt x="334" y="0"/>
                        <a:pt x="334" y="0"/>
                        <a:pt x="334" y="0"/>
                      </a:cubicBezTo>
                      <a:cubicBezTo>
                        <a:pt x="319" y="0"/>
                        <a:pt x="308" y="11"/>
                        <a:pt x="308" y="26"/>
                      </a:cubicBezTo>
                      <a:cubicBezTo>
                        <a:pt x="308" y="181"/>
                        <a:pt x="308" y="181"/>
                        <a:pt x="308" y="181"/>
                      </a:cubicBezTo>
                      <a:cubicBezTo>
                        <a:pt x="180" y="181"/>
                        <a:pt x="180" y="181"/>
                        <a:pt x="180" y="181"/>
                      </a:cubicBezTo>
                      <a:cubicBezTo>
                        <a:pt x="164" y="181"/>
                        <a:pt x="154" y="191"/>
                        <a:pt x="154" y="206"/>
                      </a:cubicBezTo>
                      <a:cubicBezTo>
                        <a:pt x="154" y="309"/>
                        <a:pt x="154" y="309"/>
                        <a:pt x="154" y="309"/>
                      </a:cubicBezTo>
                      <a:cubicBezTo>
                        <a:pt x="25" y="309"/>
                        <a:pt x="25" y="309"/>
                        <a:pt x="25" y="309"/>
                      </a:cubicBezTo>
                      <a:cubicBezTo>
                        <a:pt x="10" y="309"/>
                        <a:pt x="0" y="320"/>
                        <a:pt x="0" y="335"/>
                      </a:cubicBezTo>
                      <a:cubicBezTo>
                        <a:pt x="0" y="541"/>
                        <a:pt x="0" y="541"/>
                        <a:pt x="0" y="541"/>
                      </a:cubicBezTo>
                      <a:cubicBezTo>
                        <a:pt x="0" y="556"/>
                        <a:pt x="10" y="567"/>
                        <a:pt x="25" y="567"/>
                      </a:cubicBezTo>
                      <a:lnTo>
                        <a:pt x="334" y="567"/>
                      </a:lnTo>
                      <a:close/>
                      <a:moveTo>
                        <a:pt x="360" y="52"/>
                      </a:moveTo>
                      <a:cubicBezTo>
                        <a:pt x="463" y="52"/>
                        <a:pt x="463" y="52"/>
                        <a:pt x="463" y="52"/>
                      </a:cubicBezTo>
                      <a:cubicBezTo>
                        <a:pt x="463" y="515"/>
                        <a:pt x="463" y="515"/>
                        <a:pt x="463" y="515"/>
                      </a:cubicBezTo>
                      <a:cubicBezTo>
                        <a:pt x="360" y="515"/>
                        <a:pt x="360" y="515"/>
                        <a:pt x="360" y="515"/>
                      </a:cubicBezTo>
                      <a:lnTo>
                        <a:pt x="360" y="52"/>
                      </a:lnTo>
                      <a:close/>
                      <a:moveTo>
                        <a:pt x="205" y="232"/>
                      </a:moveTo>
                      <a:cubicBezTo>
                        <a:pt x="308" y="232"/>
                        <a:pt x="308" y="232"/>
                        <a:pt x="308" y="232"/>
                      </a:cubicBezTo>
                      <a:cubicBezTo>
                        <a:pt x="308" y="515"/>
                        <a:pt x="308" y="515"/>
                        <a:pt x="308" y="515"/>
                      </a:cubicBezTo>
                      <a:cubicBezTo>
                        <a:pt x="205" y="515"/>
                        <a:pt x="205" y="515"/>
                        <a:pt x="205" y="515"/>
                      </a:cubicBezTo>
                      <a:lnTo>
                        <a:pt x="205" y="232"/>
                      </a:lnTo>
                      <a:close/>
                      <a:moveTo>
                        <a:pt x="51" y="361"/>
                      </a:moveTo>
                      <a:cubicBezTo>
                        <a:pt x="154" y="361"/>
                        <a:pt x="154" y="361"/>
                        <a:pt x="154" y="361"/>
                      </a:cubicBezTo>
                      <a:cubicBezTo>
                        <a:pt x="154" y="515"/>
                        <a:pt x="154" y="515"/>
                        <a:pt x="154" y="515"/>
                      </a:cubicBezTo>
                      <a:cubicBezTo>
                        <a:pt x="51" y="515"/>
                        <a:pt x="51" y="515"/>
                        <a:pt x="51" y="515"/>
                      </a:cubicBezTo>
                      <a:lnTo>
                        <a:pt x="51" y="361"/>
                      </a:lnTo>
                      <a:close/>
                      <a:moveTo>
                        <a:pt x="51" y="361"/>
                      </a:moveTo>
                      <a:cubicBezTo>
                        <a:pt x="51" y="361"/>
                        <a:pt x="51" y="361"/>
                        <a:pt x="51" y="361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20" name="Freeform 403">
                  <a:extLst>
                    <a:ext uri="{FF2B5EF4-FFF2-40B4-BE49-F238E27FC236}">
                      <a16:creationId xmlns:a16="http://schemas.microsoft.com/office/drawing/2014/main" id="{B92F196E-A468-77DC-1DD4-CD84AB04835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990851" y="6675438"/>
                  <a:ext cx="338138" cy="279400"/>
                </a:xfrm>
                <a:custGeom>
                  <a:avLst/>
                  <a:gdLst>
                    <a:gd name="T0" fmla="*/ 592 w 592"/>
                    <a:gd name="T1" fmla="*/ 463 h 489"/>
                    <a:gd name="T2" fmla="*/ 592 w 592"/>
                    <a:gd name="T3" fmla="*/ 26 h 489"/>
                    <a:gd name="T4" fmla="*/ 566 w 592"/>
                    <a:gd name="T5" fmla="*/ 0 h 489"/>
                    <a:gd name="T6" fmla="*/ 26 w 592"/>
                    <a:gd name="T7" fmla="*/ 0 h 489"/>
                    <a:gd name="T8" fmla="*/ 0 w 592"/>
                    <a:gd name="T9" fmla="*/ 26 h 489"/>
                    <a:gd name="T10" fmla="*/ 0 w 592"/>
                    <a:gd name="T11" fmla="*/ 463 h 489"/>
                    <a:gd name="T12" fmla="*/ 26 w 592"/>
                    <a:gd name="T13" fmla="*/ 489 h 489"/>
                    <a:gd name="T14" fmla="*/ 566 w 592"/>
                    <a:gd name="T15" fmla="*/ 489 h 489"/>
                    <a:gd name="T16" fmla="*/ 592 w 592"/>
                    <a:gd name="T17" fmla="*/ 463 h 489"/>
                    <a:gd name="T18" fmla="*/ 541 w 592"/>
                    <a:gd name="T19" fmla="*/ 155 h 489"/>
                    <a:gd name="T20" fmla="*/ 232 w 592"/>
                    <a:gd name="T21" fmla="*/ 155 h 489"/>
                    <a:gd name="T22" fmla="*/ 232 w 592"/>
                    <a:gd name="T23" fmla="*/ 51 h 489"/>
                    <a:gd name="T24" fmla="*/ 541 w 592"/>
                    <a:gd name="T25" fmla="*/ 51 h 489"/>
                    <a:gd name="T26" fmla="*/ 541 w 592"/>
                    <a:gd name="T27" fmla="*/ 155 h 489"/>
                    <a:gd name="T28" fmla="*/ 180 w 592"/>
                    <a:gd name="T29" fmla="*/ 51 h 489"/>
                    <a:gd name="T30" fmla="*/ 180 w 592"/>
                    <a:gd name="T31" fmla="*/ 155 h 489"/>
                    <a:gd name="T32" fmla="*/ 52 w 592"/>
                    <a:gd name="T33" fmla="*/ 155 h 489"/>
                    <a:gd name="T34" fmla="*/ 52 w 592"/>
                    <a:gd name="T35" fmla="*/ 51 h 489"/>
                    <a:gd name="T36" fmla="*/ 180 w 592"/>
                    <a:gd name="T37" fmla="*/ 51 h 489"/>
                    <a:gd name="T38" fmla="*/ 52 w 592"/>
                    <a:gd name="T39" fmla="*/ 206 h 489"/>
                    <a:gd name="T40" fmla="*/ 180 w 592"/>
                    <a:gd name="T41" fmla="*/ 206 h 489"/>
                    <a:gd name="T42" fmla="*/ 180 w 592"/>
                    <a:gd name="T43" fmla="*/ 438 h 489"/>
                    <a:gd name="T44" fmla="*/ 52 w 592"/>
                    <a:gd name="T45" fmla="*/ 438 h 489"/>
                    <a:gd name="T46" fmla="*/ 52 w 592"/>
                    <a:gd name="T47" fmla="*/ 206 h 489"/>
                    <a:gd name="T48" fmla="*/ 232 w 592"/>
                    <a:gd name="T49" fmla="*/ 438 h 489"/>
                    <a:gd name="T50" fmla="*/ 232 w 592"/>
                    <a:gd name="T51" fmla="*/ 206 h 489"/>
                    <a:gd name="T52" fmla="*/ 541 w 592"/>
                    <a:gd name="T53" fmla="*/ 206 h 489"/>
                    <a:gd name="T54" fmla="*/ 541 w 592"/>
                    <a:gd name="T55" fmla="*/ 438 h 489"/>
                    <a:gd name="T56" fmla="*/ 232 w 592"/>
                    <a:gd name="T57" fmla="*/ 438 h 489"/>
                    <a:gd name="T58" fmla="*/ 232 w 592"/>
                    <a:gd name="T59" fmla="*/ 438 h 489"/>
                    <a:gd name="T60" fmla="*/ 232 w 592"/>
                    <a:gd name="T61" fmla="*/ 438 h 4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592" h="489">
                      <a:moveTo>
                        <a:pt x="592" y="463"/>
                      </a:moveTo>
                      <a:cubicBezTo>
                        <a:pt x="592" y="26"/>
                        <a:pt x="592" y="26"/>
                        <a:pt x="592" y="26"/>
                      </a:cubicBezTo>
                      <a:cubicBezTo>
                        <a:pt x="592" y="10"/>
                        <a:pt x="582" y="0"/>
                        <a:pt x="566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cubicBezTo>
                        <a:pt x="10" y="0"/>
                        <a:pt x="0" y="10"/>
                        <a:pt x="0" y="26"/>
                      </a:cubicBezTo>
                      <a:cubicBezTo>
                        <a:pt x="0" y="463"/>
                        <a:pt x="0" y="463"/>
                        <a:pt x="0" y="463"/>
                      </a:cubicBezTo>
                      <a:cubicBezTo>
                        <a:pt x="0" y="479"/>
                        <a:pt x="10" y="489"/>
                        <a:pt x="26" y="489"/>
                      </a:cubicBezTo>
                      <a:cubicBezTo>
                        <a:pt x="566" y="489"/>
                        <a:pt x="566" y="489"/>
                        <a:pt x="566" y="489"/>
                      </a:cubicBezTo>
                      <a:cubicBezTo>
                        <a:pt x="582" y="489"/>
                        <a:pt x="592" y="479"/>
                        <a:pt x="592" y="463"/>
                      </a:cubicBezTo>
                      <a:close/>
                      <a:moveTo>
                        <a:pt x="541" y="155"/>
                      </a:moveTo>
                      <a:cubicBezTo>
                        <a:pt x="232" y="155"/>
                        <a:pt x="232" y="155"/>
                        <a:pt x="232" y="155"/>
                      </a:cubicBezTo>
                      <a:cubicBezTo>
                        <a:pt x="232" y="51"/>
                        <a:pt x="232" y="51"/>
                        <a:pt x="232" y="51"/>
                      </a:cubicBezTo>
                      <a:cubicBezTo>
                        <a:pt x="541" y="51"/>
                        <a:pt x="541" y="51"/>
                        <a:pt x="541" y="51"/>
                      </a:cubicBezTo>
                      <a:lnTo>
                        <a:pt x="541" y="155"/>
                      </a:lnTo>
                      <a:close/>
                      <a:moveTo>
                        <a:pt x="180" y="51"/>
                      </a:moveTo>
                      <a:cubicBezTo>
                        <a:pt x="180" y="155"/>
                        <a:pt x="180" y="155"/>
                        <a:pt x="180" y="155"/>
                      </a:cubicBezTo>
                      <a:cubicBezTo>
                        <a:pt x="52" y="155"/>
                        <a:pt x="52" y="155"/>
                        <a:pt x="52" y="155"/>
                      </a:cubicBezTo>
                      <a:cubicBezTo>
                        <a:pt x="52" y="51"/>
                        <a:pt x="52" y="51"/>
                        <a:pt x="52" y="51"/>
                      </a:cubicBezTo>
                      <a:lnTo>
                        <a:pt x="180" y="51"/>
                      </a:lnTo>
                      <a:close/>
                      <a:moveTo>
                        <a:pt x="52" y="206"/>
                      </a:moveTo>
                      <a:cubicBezTo>
                        <a:pt x="180" y="206"/>
                        <a:pt x="180" y="206"/>
                        <a:pt x="180" y="206"/>
                      </a:cubicBezTo>
                      <a:cubicBezTo>
                        <a:pt x="180" y="438"/>
                        <a:pt x="180" y="438"/>
                        <a:pt x="180" y="438"/>
                      </a:cubicBezTo>
                      <a:cubicBezTo>
                        <a:pt x="52" y="438"/>
                        <a:pt x="52" y="438"/>
                        <a:pt x="52" y="438"/>
                      </a:cubicBezTo>
                      <a:lnTo>
                        <a:pt x="52" y="206"/>
                      </a:lnTo>
                      <a:close/>
                      <a:moveTo>
                        <a:pt x="232" y="438"/>
                      </a:moveTo>
                      <a:cubicBezTo>
                        <a:pt x="232" y="206"/>
                        <a:pt x="232" y="206"/>
                        <a:pt x="232" y="206"/>
                      </a:cubicBezTo>
                      <a:cubicBezTo>
                        <a:pt x="541" y="206"/>
                        <a:pt x="541" y="206"/>
                        <a:pt x="541" y="206"/>
                      </a:cubicBezTo>
                      <a:cubicBezTo>
                        <a:pt x="541" y="438"/>
                        <a:pt x="541" y="438"/>
                        <a:pt x="541" y="438"/>
                      </a:cubicBezTo>
                      <a:lnTo>
                        <a:pt x="232" y="438"/>
                      </a:lnTo>
                      <a:close/>
                      <a:moveTo>
                        <a:pt x="232" y="438"/>
                      </a:moveTo>
                      <a:cubicBezTo>
                        <a:pt x="232" y="438"/>
                        <a:pt x="232" y="438"/>
                        <a:pt x="232" y="438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21" name="Rectangle 404">
                  <a:extLst>
                    <a:ext uri="{FF2B5EF4-FFF2-40B4-BE49-F238E27FC236}">
                      <a16:creationId xmlns:a16="http://schemas.microsoft.com/office/drawing/2014/main" id="{29B5CF18-975B-1130-0000-618CFD6B5E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06726" y="6999288"/>
                  <a:ext cx="307975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22" name="Rectangle 405">
                  <a:extLst>
                    <a:ext uri="{FF2B5EF4-FFF2-40B4-BE49-F238E27FC236}">
                      <a16:creationId xmlns:a16="http://schemas.microsoft.com/office/drawing/2014/main" id="{75EA70AB-908C-C213-8534-8252A030CB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06726" y="7072313"/>
                  <a:ext cx="307975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23" name="Rectangle 407">
                  <a:extLst>
                    <a:ext uri="{FF2B5EF4-FFF2-40B4-BE49-F238E27FC236}">
                      <a16:creationId xmlns:a16="http://schemas.microsoft.com/office/drawing/2014/main" id="{5C9AA93B-B2CD-3A14-0557-A7E439105D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06725" y="7146926"/>
                  <a:ext cx="307975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24" name="Rectangle 408">
                  <a:extLst>
                    <a:ext uri="{FF2B5EF4-FFF2-40B4-BE49-F238E27FC236}">
                      <a16:creationId xmlns:a16="http://schemas.microsoft.com/office/drawing/2014/main" id="{7BD2EAC9-6B31-B78F-B1E1-50C5B5BF14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00350" y="6675438"/>
                  <a:ext cx="88900" cy="3016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25" name="Rectangle 409">
                  <a:extLst>
                    <a:ext uri="{FF2B5EF4-FFF2-40B4-BE49-F238E27FC236}">
                      <a16:creationId xmlns:a16="http://schemas.microsoft.com/office/drawing/2014/main" id="{CE87041B-6F92-544C-3196-582DC60B5B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97054" y="6753303"/>
                  <a:ext cx="131764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26" name="Rectangle 410">
                  <a:extLst>
                    <a:ext uri="{FF2B5EF4-FFF2-40B4-BE49-F238E27FC236}">
                      <a16:creationId xmlns:a16="http://schemas.microsoft.com/office/drawing/2014/main" id="{EDDD6794-BBF7-4A09-A71A-07D0805E14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00350" y="7219951"/>
                  <a:ext cx="103188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27" name="Rectangle 411">
                  <a:extLst>
                    <a:ext uri="{FF2B5EF4-FFF2-40B4-BE49-F238E27FC236}">
                      <a16:creationId xmlns:a16="http://schemas.microsoft.com/office/drawing/2014/main" id="{74416938-850D-22C3-3A9B-40D637B351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47988" y="7219951"/>
                  <a:ext cx="101600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28" name="Rectangle 412">
                  <a:extLst>
                    <a:ext uri="{FF2B5EF4-FFF2-40B4-BE49-F238E27FC236}">
                      <a16:creationId xmlns:a16="http://schemas.microsoft.com/office/drawing/2014/main" id="{2E8F0BE0-0B93-74D5-75BF-AAE1703641D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94038" y="7219951"/>
                  <a:ext cx="103188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29" name="Rectangle 413">
                  <a:extLst>
                    <a:ext uri="{FF2B5EF4-FFF2-40B4-BE49-F238E27FC236}">
                      <a16:creationId xmlns:a16="http://schemas.microsoft.com/office/drawing/2014/main" id="{927DD054-E2E7-905B-F2D5-9819EE44E0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00350" y="7292976"/>
                  <a:ext cx="103188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30" name="Rectangle 414">
                  <a:extLst>
                    <a:ext uri="{FF2B5EF4-FFF2-40B4-BE49-F238E27FC236}">
                      <a16:creationId xmlns:a16="http://schemas.microsoft.com/office/drawing/2014/main" id="{DB2A6EBA-4794-AC70-A110-9060F3B04B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47988" y="7292976"/>
                  <a:ext cx="101600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31" name="Rectangle 415">
                  <a:extLst>
                    <a:ext uri="{FF2B5EF4-FFF2-40B4-BE49-F238E27FC236}">
                      <a16:creationId xmlns:a16="http://schemas.microsoft.com/office/drawing/2014/main" id="{EDFACF4B-A6DA-1ADF-72AF-24A81EF407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94038" y="7292976"/>
                  <a:ext cx="103188" cy="28575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32" name="Rectangle 416">
                  <a:extLst>
                    <a:ext uri="{FF2B5EF4-FFF2-40B4-BE49-F238E27FC236}">
                      <a16:creationId xmlns:a16="http://schemas.microsoft.com/office/drawing/2014/main" id="{68261E39-0F8E-A1C6-92AD-A7F9CE2CCD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00350" y="7366001"/>
                  <a:ext cx="103188" cy="3016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33" name="Rectangle 417">
                  <a:extLst>
                    <a:ext uri="{FF2B5EF4-FFF2-40B4-BE49-F238E27FC236}">
                      <a16:creationId xmlns:a16="http://schemas.microsoft.com/office/drawing/2014/main" id="{6C5CBD61-38AD-44AE-BF58-1E8553DAB9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47988" y="7366001"/>
                  <a:ext cx="101600" cy="3016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34" name="Rectangle 418">
                  <a:extLst>
                    <a:ext uri="{FF2B5EF4-FFF2-40B4-BE49-F238E27FC236}">
                      <a16:creationId xmlns:a16="http://schemas.microsoft.com/office/drawing/2014/main" id="{FF280B4E-5BD2-4BBC-DA8E-A19E489C6B3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94038" y="7366001"/>
                  <a:ext cx="103188" cy="3016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53" tIns="45727" rIns="91453" bIns="45727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42973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21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</p:grpSp>
          <p:sp>
            <p:nvSpPr>
              <p:cNvPr id="17" name="직사각형 12">
                <a:extLst>
                  <a:ext uri="{FF2B5EF4-FFF2-40B4-BE49-F238E27FC236}">
                    <a16:creationId xmlns:a16="http://schemas.microsoft.com/office/drawing/2014/main" id="{1D134FB4-C980-3EA0-BF15-732E290B8B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0679" y="3274133"/>
                <a:ext cx="514694" cy="131864"/>
              </a:xfrm>
              <a:prstGeom prst="rect">
                <a:avLst/>
              </a:prstGeom>
              <a:solidFill>
                <a:srgbClr val="70AD47"/>
              </a:solidFill>
              <a:ln w="12700" cap="flat" cmpd="sng" algn="ctr">
                <a:solidFill>
                  <a:srgbClr val="70AD47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wrap="non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5pPr>
                <a:lvl6pPr marL="2514600" indent="-228600" defTabSz="890588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6pPr>
                <a:lvl7pPr marL="2971800" indent="-228600" defTabSz="890588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7pPr>
                <a:lvl8pPr marL="3429000" indent="-228600" defTabSz="890588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8pPr>
                <a:lvl9pPr marL="3886200" indent="-228600" defTabSz="890588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9pPr>
              </a:lstStyle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b="0" i="0" u="none" strike="noStrike" kern="0" cap="none" spc="-50" normalizeH="0" baseline="0" noProof="0" dirty="0">
                    <a:ln>
                      <a:solidFill>
                        <a:prstClr val="white">
                          <a:alpha val="500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메타테이블</a:t>
                </a:r>
                <a:endParaRPr kumimoji="0" lang="en-US" altLang="ko-KR" sz="900" b="0" i="0" u="none" strike="noStrike" kern="0" cap="none" spc="-50" normalizeH="0" baseline="0" noProof="0" dirty="0">
                  <a:ln>
                    <a:solidFill>
                      <a:prstClr val="white">
                        <a:alpha val="500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endParaRPr>
              </a:p>
            </p:txBody>
          </p:sp>
        </p:grp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700DBCC9-9793-3E47-37D0-916FCDFDBF52}"/>
                </a:ext>
              </a:extLst>
            </p:cNvPr>
            <p:cNvSpPr/>
            <p:nvPr/>
          </p:nvSpPr>
          <p:spPr>
            <a:xfrm>
              <a:off x="2793094" y="1659340"/>
              <a:ext cx="1230063" cy="714662"/>
            </a:xfrm>
            <a:prstGeom prst="rect">
              <a:avLst/>
            </a:prstGeom>
            <a:solidFill>
              <a:srgbClr val="70AD47"/>
            </a:solidFill>
            <a:ln w="12700" cap="flat" cmpd="sng" algn="ctr">
              <a:solidFill>
                <a:srgbClr val="70AD47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lIns="89319" tIns="44659" rIns="89319" bIns="44659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+mn-ea"/>
                  <a:cs typeface="+mn-cs"/>
                </a:rPr>
                <a:t>SMMS-Agent </a:t>
              </a:r>
            </a:p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+mn-ea"/>
                  <a:cs typeface="+mn-cs"/>
                </a:rPr>
                <a:t>(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+mn-ea"/>
                  <a:cs typeface="+mn-cs"/>
                </a:rPr>
                <a:t>송신 </a:t>
              </a:r>
              <a:r>
                <a:rPr kumimoji="0" lang="en-US" altLang="ko-KR" sz="7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+mn-ea"/>
                  <a:cs typeface="+mn-cs"/>
                </a:rPr>
                <a:t>Thread)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+mn-ea"/>
                  <a:cs typeface="+mn-cs"/>
                </a:rPr>
                <a:t>  </a:t>
              </a: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F9FBFB51-5BAA-D65F-11F8-92D405CF1015}"/>
                </a:ext>
              </a:extLst>
            </p:cNvPr>
            <p:cNvGrpSpPr/>
            <p:nvPr/>
          </p:nvGrpSpPr>
          <p:grpSpPr>
            <a:xfrm>
              <a:off x="877133" y="1609757"/>
              <a:ext cx="606724" cy="271535"/>
              <a:chOff x="958525" y="1526415"/>
              <a:chExt cx="606724" cy="271535"/>
            </a:xfrm>
          </p:grpSpPr>
          <p:sp>
            <p:nvSpPr>
              <p:cNvPr id="14" name="원통 295">
                <a:extLst>
                  <a:ext uri="{FF2B5EF4-FFF2-40B4-BE49-F238E27FC236}">
                    <a16:creationId xmlns:a16="http://schemas.microsoft.com/office/drawing/2014/main" id="{87D708BB-3C83-424C-06A3-A8B9F3878122}"/>
                  </a:ext>
                </a:extLst>
              </p:cNvPr>
              <p:cNvSpPr/>
              <p:nvPr/>
            </p:nvSpPr>
            <p:spPr>
              <a:xfrm>
                <a:off x="958525" y="1526415"/>
                <a:ext cx="606724" cy="271535"/>
              </a:xfrm>
              <a:prstGeom prst="can">
                <a:avLst/>
              </a:prstGeom>
              <a:solidFill>
                <a:srgbClr val="354976"/>
              </a:solidFill>
              <a:ln w="9525" cap="flat" cmpd="sng" algn="ctr">
                <a:solidFill>
                  <a:sysClr val="window" lastClr="FFFFFF"/>
                </a:solidFill>
                <a:prstDash val="solid"/>
                <a:miter lim="800000"/>
              </a:ln>
              <a:effectLst/>
            </p:spPr>
            <p:txBody>
              <a:bodyPr lIns="89319" tIns="44659" rIns="89319" bIns="44659"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C435F2A8-C6B7-0676-1F9C-5C8BA591CC4C}"/>
                  </a:ext>
                </a:extLst>
              </p:cNvPr>
              <p:cNvSpPr/>
              <p:nvPr/>
            </p:nvSpPr>
            <p:spPr>
              <a:xfrm>
                <a:off x="966515" y="1621112"/>
                <a:ext cx="590746" cy="153888"/>
              </a:xfrm>
              <a:prstGeom prst="rect">
                <a:avLst/>
              </a:prstGeom>
            </p:spPr>
            <p:txBody>
              <a:bodyPr wrap="square" lIns="0" tIns="0" rIns="0" bIns="0" anchor="ctr">
                <a:spAutoFit/>
              </a:bodyPr>
              <a:lstStyle/>
              <a:p>
                <a:pPr algn="ctr" defTabSz="457200" latinLnBrk="0"/>
                <a:r>
                  <a:rPr lang="en-US" altLang="ko-KR" sz="100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+mn-ea"/>
                  </a:rPr>
                  <a:t>UMS DB</a:t>
                </a:r>
              </a:p>
            </p:txBody>
          </p:sp>
        </p:grp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66103750-BFF3-EA8E-9ECA-CCFF14FE17F7}"/>
                </a:ext>
              </a:extLst>
            </p:cNvPr>
            <p:cNvCxnSpPr>
              <a:cxnSpLocks/>
            </p:cNvCxnSpPr>
            <p:nvPr/>
          </p:nvCxnSpPr>
          <p:spPr>
            <a:xfrm>
              <a:off x="1173443" y="1885681"/>
              <a:ext cx="0" cy="146890"/>
            </a:xfrm>
            <a:prstGeom prst="straightConnector1">
              <a:avLst/>
            </a:prstGeom>
            <a:noFill/>
            <a:ln w="6350" cap="flat" cmpd="sng" algn="ctr">
              <a:solidFill>
                <a:srgbClr val="FF0000"/>
              </a:solidFill>
              <a:prstDash val="solid"/>
              <a:miter lim="800000"/>
              <a:tailEnd type="triangle" w="sm" len="sm"/>
            </a:ln>
            <a:effectLst/>
          </p:spPr>
        </p:cxn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DA5D7A15-D6F1-A649-5CA0-6B120A80D67F}"/>
                </a:ext>
              </a:extLst>
            </p:cNvPr>
            <p:cNvSpPr/>
            <p:nvPr/>
          </p:nvSpPr>
          <p:spPr>
            <a:xfrm>
              <a:off x="1780167" y="1651644"/>
              <a:ext cx="775357" cy="279780"/>
            </a:xfrm>
            <a:prstGeom prst="rect">
              <a:avLst/>
            </a:prstGeom>
            <a:solidFill>
              <a:sysClr val="window" lastClr="FFFFFF"/>
            </a:solidFill>
            <a:ln w="9525" cap="flat" cmpd="sng" algn="ctr">
              <a:noFill/>
              <a:prstDash val="solid"/>
              <a:miter lim="800000"/>
            </a:ln>
            <a:effectLst/>
          </p:spPr>
          <p:txBody>
            <a:bodyPr lIns="89319" tIns="44659" rIns="89319" bIns="44659" rtlCol="0" anchor="ctr"/>
            <a:lstStyle/>
            <a:p>
              <a:pPr algn="ctr" defTabSz="457200" latinLnBrk="0"/>
              <a:r>
                <a:rPr lang="ko-KR" altLang="en-US" sz="1000" kern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</a:rPr>
                <a:t>분배기</a:t>
              </a:r>
            </a:p>
          </p:txBody>
        </p:sp>
        <p:cxnSp>
          <p:nvCxnSpPr>
            <p:cNvPr id="12" name="연결선: 꺾임 301">
              <a:extLst>
                <a:ext uri="{FF2B5EF4-FFF2-40B4-BE49-F238E27FC236}">
                  <a16:creationId xmlns:a16="http://schemas.microsoft.com/office/drawing/2014/main" id="{880AD621-3413-D39C-F306-A87960789E3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1296219" y="1803343"/>
              <a:ext cx="481810" cy="361541"/>
            </a:xfrm>
            <a:prstGeom prst="bentConnector3">
              <a:avLst>
                <a:gd name="adj1" fmla="val 50000"/>
              </a:avLst>
            </a:prstGeom>
            <a:noFill/>
            <a:ln w="22225" cap="flat" cmpd="sng" algn="ctr">
              <a:solidFill>
                <a:srgbClr val="FF0000"/>
              </a:solidFill>
              <a:prstDash val="solid"/>
              <a:miter lim="800000"/>
              <a:tailEnd type="triangle" w="sm" len="sm"/>
            </a:ln>
            <a:effectLst/>
          </p:spPr>
        </p:cxnSp>
        <p:cxnSp>
          <p:nvCxnSpPr>
            <p:cNvPr id="13" name="연결선: 꺾임 854">
              <a:extLst>
                <a:ext uri="{FF2B5EF4-FFF2-40B4-BE49-F238E27FC236}">
                  <a16:creationId xmlns:a16="http://schemas.microsoft.com/office/drawing/2014/main" id="{7701467D-A98D-ED41-D113-48084BDA14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5869" y="2260610"/>
              <a:ext cx="1287878" cy="90009"/>
            </a:xfrm>
            <a:prstGeom prst="bentConnector3">
              <a:avLst/>
            </a:prstGeom>
            <a:noFill/>
            <a:ln w="635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  <a:tailEnd type="triangle" w="sm" len="sm"/>
            </a:ln>
            <a:effectLst/>
          </p:spPr>
        </p:cxn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423CC922-8EEE-1E6A-33F6-12DB800870A8}"/>
              </a:ext>
            </a:extLst>
          </p:cNvPr>
          <p:cNvSpPr txBox="1"/>
          <p:nvPr/>
        </p:nvSpPr>
        <p:spPr>
          <a:xfrm>
            <a:off x="500524" y="998374"/>
            <a:ext cx="966889" cy="169277"/>
          </a:xfrm>
          <a:prstGeom prst="rect">
            <a:avLst/>
          </a:prstGeom>
          <a:solidFill>
            <a:sysClr val="window" lastClr="FFFFFF"/>
          </a:solidFill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54976"/>
                </a:solidFill>
                <a:latin typeface="+mn-ea"/>
              </a:rPr>
              <a:t>각 그룹사</a:t>
            </a:r>
            <a:endParaRPr kumimoji="0" lang="ko-KR" altLang="en-US" sz="11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354976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AF02010-D142-5D58-ECC5-500E8DC365E7}"/>
              </a:ext>
            </a:extLst>
          </p:cNvPr>
          <p:cNvSpPr txBox="1"/>
          <p:nvPr/>
        </p:nvSpPr>
        <p:spPr>
          <a:xfrm>
            <a:off x="456698" y="2353718"/>
            <a:ext cx="61888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각 그룹사 환경</a:t>
            </a:r>
            <a:endParaRPr lang="en-US" altLang="ko-KR" dirty="0"/>
          </a:p>
        </p:txBody>
      </p:sp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77FDE058-1596-97C3-A2CE-785910227F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3402665"/>
              </p:ext>
            </p:extLst>
          </p:nvPr>
        </p:nvGraphicFramePr>
        <p:xfrm>
          <a:off x="496389" y="2728745"/>
          <a:ext cx="1064187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0110">
                  <a:extLst>
                    <a:ext uri="{9D8B030D-6E8A-4147-A177-3AD203B41FA5}">
                      <a16:colId xmlns:a16="http://schemas.microsoft.com/office/drawing/2014/main" val="2004923022"/>
                    </a:ext>
                  </a:extLst>
                </a:gridCol>
                <a:gridCol w="1827012">
                  <a:extLst>
                    <a:ext uri="{9D8B030D-6E8A-4147-A177-3AD203B41FA5}">
                      <a16:colId xmlns:a16="http://schemas.microsoft.com/office/drawing/2014/main" val="2601759759"/>
                    </a:ext>
                  </a:extLst>
                </a:gridCol>
                <a:gridCol w="1214283">
                  <a:extLst>
                    <a:ext uri="{9D8B030D-6E8A-4147-A177-3AD203B41FA5}">
                      <a16:colId xmlns:a16="http://schemas.microsoft.com/office/drawing/2014/main" val="4208267926"/>
                    </a:ext>
                  </a:extLst>
                </a:gridCol>
                <a:gridCol w="1676916">
                  <a:extLst>
                    <a:ext uri="{9D8B030D-6E8A-4147-A177-3AD203B41FA5}">
                      <a16:colId xmlns:a16="http://schemas.microsoft.com/office/drawing/2014/main" val="3793417068"/>
                    </a:ext>
                  </a:extLst>
                </a:gridCol>
                <a:gridCol w="1535068">
                  <a:extLst>
                    <a:ext uri="{9D8B030D-6E8A-4147-A177-3AD203B41FA5}">
                      <a16:colId xmlns:a16="http://schemas.microsoft.com/office/drawing/2014/main" val="3252102603"/>
                    </a:ext>
                  </a:extLst>
                </a:gridCol>
                <a:gridCol w="1779924">
                  <a:extLst>
                    <a:ext uri="{9D8B030D-6E8A-4147-A177-3AD203B41FA5}">
                      <a16:colId xmlns:a16="http://schemas.microsoft.com/office/drawing/2014/main" val="2718071226"/>
                    </a:ext>
                  </a:extLst>
                </a:gridCol>
                <a:gridCol w="1478561">
                  <a:extLst>
                    <a:ext uri="{9D8B030D-6E8A-4147-A177-3AD203B41FA5}">
                      <a16:colId xmlns:a16="http://schemas.microsoft.com/office/drawing/2014/main" val="42051869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신한 은행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신한 카드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신한 투자증권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신한 라이프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신한 저축은행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제주 은행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27412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이중화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Y(3set)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확인 필요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9914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분배기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엔트러사이트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LG U+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LG U+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M1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LG U+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확인 필요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2875971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A10463E0-7B05-24CF-02DE-5E690326B719}"/>
              </a:ext>
            </a:extLst>
          </p:cNvPr>
          <p:cNvSpPr txBox="1"/>
          <p:nvPr/>
        </p:nvSpPr>
        <p:spPr>
          <a:xfrm>
            <a:off x="4596678" y="4249444"/>
            <a:ext cx="67767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- </a:t>
            </a:r>
            <a:r>
              <a:rPr lang="ko-KR" altLang="en-US" dirty="0"/>
              <a:t>특이 로그 발생시 대처 방안</a:t>
            </a:r>
            <a:endParaRPr lang="en-US" altLang="ko-KR" dirty="0"/>
          </a:p>
          <a:p>
            <a:r>
              <a:rPr lang="en-US" altLang="ko-KR" dirty="0"/>
              <a:t>1. queue full : </a:t>
            </a:r>
            <a:r>
              <a:rPr lang="ko-KR" altLang="en-US" dirty="0"/>
              <a:t>에이전트 재 가동</a:t>
            </a:r>
            <a:r>
              <a:rPr lang="en-US" altLang="ko-KR" dirty="0"/>
              <a:t>(</a:t>
            </a:r>
            <a:r>
              <a:rPr lang="ko-KR" altLang="en-US" dirty="0"/>
              <a:t>담당자 보고 후 진행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2. 403 error : </a:t>
            </a:r>
            <a:r>
              <a:rPr lang="ko-KR" altLang="en-US" dirty="0"/>
              <a:t>실시간 로그 확인 후 계속 될 경우 </a:t>
            </a:r>
            <a:r>
              <a:rPr lang="en-US" altLang="ko-KR" dirty="0"/>
              <a:t>DS </a:t>
            </a:r>
            <a:r>
              <a:rPr lang="ko-KR" altLang="en-US" dirty="0"/>
              <a:t>방화벽 확인</a:t>
            </a:r>
            <a:endParaRPr lang="en-US" altLang="ko-KR" dirty="0"/>
          </a:p>
          <a:p>
            <a:r>
              <a:rPr lang="en-US" altLang="ko-KR" dirty="0"/>
              <a:t>3. Query error : custom.xml or agent.xml </a:t>
            </a:r>
            <a:r>
              <a:rPr lang="ko-KR" altLang="en-US" dirty="0"/>
              <a:t>파일 수정 후 재 가동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1A8B7E1-A14B-0295-49CC-40F0A5D989EE}"/>
              </a:ext>
            </a:extLst>
          </p:cNvPr>
          <p:cNvSpPr txBox="1"/>
          <p:nvPr/>
        </p:nvSpPr>
        <p:spPr>
          <a:xfrm>
            <a:off x="4596678" y="5673286"/>
            <a:ext cx="75953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- </a:t>
            </a:r>
            <a:r>
              <a:rPr lang="ko-KR" altLang="en-US" dirty="0"/>
              <a:t>연동 진행 예정</a:t>
            </a:r>
            <a:r>
              <a:rPr lang="en-US" altLang="ko-KR" dirty="0"/>
              <a:t> : </a:t>
            </a:r>
            <a:r>
              <a:rPr lang="ko-KR" altLang="en-US" dirty="0"/>
              <a:t>신한은행</a:t>
            </a:r>
            <a:r>
              <a:rPr lang="en-US" altLang="ko-KR" dirty="0"/>
              <a:t>, </a:t>
            </a:r>
            <a:r>
              <a:rPr lang="ko-KR" altLang="en-US" dirty="0"/>
              <a:t>신한신용정보</a:t>
            </a:r>
            <a:r>
              <a:rPr lang="en-US" altLang="ko-KR" dirty="0"/>
              <a:t>, </a:t>
            </a:r>
            <a:r>
              <a:rPr lang="ko-KR" altLang="en-US" dirty="0"/>
              <a:t>미래신용정보</a:t>
            </a:r>
            <a:r>
              <a:rPr lang="en-US" altLang="ko-KR" dirty="0"/>
              <a:t>, </a:t>
            </a:r>
            <a:r>
              <a:rPr lang="ko-KR" altLang="en-US" dirty="0"/>
              <a:t>고려신용정보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10394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9CD99A-7E73-D248-C3AB-66CDF40EAE54}"/>
              </a:ext>
            </a:extLst>
          </p:cNvPr>
          <p:cNvSpPr txBox="1"/>
          <p:nvPr/>
        </p:nvSpPr>
        <p:spPr>
          <a:xfrm>
            <a:off x="218402" y="147447"/>
            <a:ext cx="74709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SMMS AGENT(2/2)</a:t>
            </a:r>
            <a:endParaRPr lang="ko-KR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0849519-9FDF-521B-DD6E-52F19A19F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02" y="1057272"/>
            <a:ext cx="2848498" cy="50958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33D5D02-36C3-2BC2-EFD1-88E05F0F12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9510" y="1057272"/>
            <a:ext cx="3532165" cy="491379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9B49C77E-8A8D-5A47-4714-CBFFA4CDB6C1}"/>
              </a:ext>
            </a:extLst>
          </p:cNvPr>
          <p:cNvSpPr/>
          <p:nvPr/>
        </p:nvSpPr>
        <p:spPr>
          <a:xfrm>
            <a:off x="218402" y="1872343"/>
            <a:ext cx="2786055" cy="60089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  <a:noFill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269CC7C-229A-9B08-26C0-7EF29E388B90}"/>
              </a:ext>
            </a:extLst>
          </p:cNvPr>
          <p:cNvSpPr/>
          <p:nvPr/>
        </p:nvSpPr>
        <p:spPr>
          <a:xfrm>
            <a:off x="218401" y="2503714"/>
            <a:ext cx="2786055" cy="6662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  <a:noFill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B78D9E7-0120-7002-A13A-96CD73967EBD}"/>
              </a:ext>
            </a:extLst>
          </p:cNvPr>
          <p:cNvSpPr/>
          <p:nvPr/>
        </p:nvSpPr>
        <p:spPr>
          <a:xfrm>
            <a:off x="218400" y="3849189"/>
            <a:ext cx="2786055" cy="4616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  <a:noFill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17A0D18-86B3-C01A-0DDA-964688A3FC1B}"/>
              </a:ext>
            </a:extLst>
          </p:cNvPr>
          <p:cNvSpPr/>
          <p:nvPr/>
        </p:nvSpPr>
        <p:spPr>
          <a:xfrm>
            <a:off x="222279" y="5064522"/>
            <a:ext cx="2786055" cy="10886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  <a:noFill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A19EA01-6C2D-54DF-A1CE-2CACFC027783}"/>
              </a:ext>
            </a:extLst>
          </p:cNvPr>
          <p:cNvSpPr/>
          <p:nvPr/>
        </p:nvSpPr>
        <p:spPr>
          <a:xfrm>
            <a:off x="6047264" y="3709851"/>
            <a:ext cx="3532165" cy="7837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  <a:noFill/>
            </a:endParaRPr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DBEE170C-889A-A84C-301F-3929CF40F730}"/>
              </a:ext>
            </a:extLst>
          </p:cNvPr>
          <p:cNvSpPr/>
          <p:nvPr/>
        </p:nvSpPr>
        <p:spPr>
          <a:xfrm>
            <a:off x="3213463" y="2055223"/>
            <a:ext cx="287383" cy="26125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919A1114-8610-AEAD-2E4C-988BDAE45B1B}"/>
              </a:ext>
            </a:extLst>
          </p:cNvPr>
          <p:cNvSpPr/>
          <p:nvPr/>
        </p:nvSpPr>
        <p:spPr>
          <a:xfrm>
            <a:off x="3213462" y="2706188"/>
            <a:ext cx="287383" cy="26125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7954ECD9-3823-5FAC-3282-6C649726F87E}"/>
              </a:ext>
            </a:extLst>
          </p:cNvPr>
          <p:cNvSpPr/>
          <p:nvPr/>
        </p:nvSpPr>
        <p:spPr>
          <a:xfrm>
            <a:off x="3213462" y="3949392"/>
            <a:ext cx="287383" cy="26125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8166202C-BE98-5458-94C5-5B891B11C764}"/>
              </a:ext>
            </a:extLst>
          </p:cNvPr>
          <p:cNvSpPr/>
          <p:nvPr/>
        </p:nvSpPr>
        <p:spPr>
          <a:xfrm>
            <a:off x="3192164" y="5478205"/>
            <a:ext cx="287383" cy="26125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553F5129-3BC3-90C0-5E44-5279EBFC8DB6}"/>
              </a:ext>
            </a:extLst>
          </p:cNvPr>
          <p:cNvSpPr/>
          <p:nvPr/>
        </p:nvSpPr>
        <p:spPr>
          <a:xfrm>
            <a:off x="9771489" y="4049597"/>
            <a:ext cx="287383" cy="26125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0894E99-7848-6BD3-B3AD-D471D69DF5AB}"/>
              </a:ext>
            </a:extLst>
          </p:cNvPr>
          <p:cNvSpPr/>
          <p:nvPr/>
        </p:nvSpPr>
        <p:spPr>
          <a:xfrm>
            <a:off x="218399" y="1047373"/>
            <a:ext cx="2786055" cy="14570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  <a:noFill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67526A5-32AF-868D-C3E9-80C21C0938E8}"/>
              </a:ext>
            </a:extLst>
          </p:cNvPr>
          <p:cNvSpPr/>
          <p:nvPr/>
        </p:nvSpPr>
        <p:spPr>
          <a:xfrm>
            <a:off x="218398" y="1250610"/>
            <a:ext cx="2786055" cy="14570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  <a:noFill/>
            </a:endParaRPr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55BC8F04-85A4-9627-1C83-02A18F1C128B}"/>
              </a:ext>
            </a:extLst>
          </p:cNvPr>
          <p:cNvSpPr/>
          <p:nvPr/>
        </p:nvSpPr>
        <p:spPr>
          <a:xfrm>
            <a:off x="3157331" y="994697"/>
            <a:ext cx="287383" cy="26125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641A5909-8017-232B-1C9A-5D1ADFEF2683}"/>
              </a:ext>
            </a:extLst>
          </p:cNvPr>
          <p:cNvSpPr/>
          <p:nvPr/>
        </p:nvSpPr>
        <p:spPr>
          <a:xfrm>
            <a:off x="3157330" y="1250610"/>
            <a:ext cx="287383" cy="26125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6D9B301-6B74-9B4D-F23E-E47DBD53C889}"/>
              </a:ext>
            </a:extLst>
          </p:cNvPr>
          <p:cNvSpPr txBox="1"/>
          <p:nvPr/>
        </p:nvSpPr>
        <p:spPr>
          <a:xfrm>
            <a:off x="3440501" y="1002214"/>
            <a:ext cx="25250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/bin/env.sh process </a:t>
            </a:r>
            <a:r>
              <a:rPr lang="ko-KR" altLang="en-US" sz="1000" dirty="0"/>
              <a:t>값과 동일하게 설정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883C470-BB17-53F5-92CD-1C41E054F6A4}"/>
              </a:ext>
            </a:extLst>
          </p:cNvPr>
          <p:cNvSpPr txBox="1"/>
          <p:nvPr/>
        </p:nvSpPr>
        <p:spPr>
          <a:xfrm>
            <a:off x="3440501" y="1242667"/>
            <a:ext cx="12554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고객사 </a:t>
            </a:r>
            <a:r>
              <a:rPr lang="en-US" altLang="ko-KR" sz="1000" dirty="0" err="1"/>
              <a:t>natip</a:t>
            </a:r>
            <a:r>
              <a:rPr lang="en-US" altLang="ko-KR" sz="1000" dirty="0"/>
              <a:t> </a:t>
            </a:r>
            <a:r>
              <a:rPr lang="ko-KR" altLang="en-US" sz="1000" dirty="0"/>
              <a:t>설정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5C0A1D0-766D-E3D3-53E9-BBD9B9D6BE13}"/>
              </a:ext>
            </a:extLst>
          </p:cNvPr>
          <p:cNvSpPr txBox="1"/>
          <p:nvPr/>
        </p:nvSpPr>
        <p:spPr>
          <a:xfrm>
            <a:off x="3523092" y="2049677"/>
            <a:ext cx="13837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고객사 </a:t>
            </a:r>
            <a:r>
              <a:rPr lang="en-US" altLang="ko-KR" sz="1000" dirty="0"/>
              <a:t>DB</a:t>
            </a:r>
            <a:r>
              <a:rPr lang="ko-KR" altLang="en-US" sz="1000"/>
              <a:t>정보</a:t>
            </a:r>
            <a:r>
              <a:rPr lang="en-US" altLang="ko-KR" sz="1000"/>
              <a:t> </a:t>
            </a:r>
            <a:r>
              <a:rPr lang="ko-KR" altLang="en-US" sz="1000" dirty="0"/>
              <a:t>설정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CACFD8-7095-88EB-F163-68D6377367DE}"/>
              </a:ext>
            </a:extLst>
          </p:cNvPr>
          <p:cNvSpPr txBox="1"/>
          <p:nvPr/>
        </p:nvSpPr>
        <p:spPr>
          <a:xfrm>
            <a:off x="3536319" y="2723605"/>
            <a:ext cx="15343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DS web </a:t>
            </a:r>
            <a:r>
              <a:rPr lang="ko-KR" altLang="en-US" sz="1000" dirty="0"/>
              <a:t>서버 정보 설정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A97D41B-56F1-AE60-8DE2-63EAAFF7709D}"/>
              </a:ext>
            </a:extLst>
          </p:cNvPr>
          <p:cNvSpPr txBox="1"/>
          <p:nvPr/>
        </p:nvSpPr>
        <p:spPr>
          <a:xfrm>
            <a:off x="3590649" y="3956909"/>
            <a:ext cx="25074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Agent</a:t>
            </a:r>
            <a:r>
              <a:rPr lang="ko-KR" altLang="en-US" sz="1000" dirty="0"/>
              <a:t>명 설정 </a:t>
            </a:r>
            <a:endParaRPr lang="en-US" altLang="ko-KR" sz="1000" dirty="0"/>
          </a:p>
          <a:p>
            <a:r>
              <a:rPr lang="en-US" altLang="ko-KR" sz="1000" dirty="0"/>
              <a:t>(DB web</a:t>
            </a:r>
            <a:r>
              <a:rPr lang="ko-KR" altLang="en-US" sz="1000" dirty="0"/>
              <a:t>의 </a:t>
            </a:r>
            <a:r>
              <a:rPr lang="en-US" altLang="ko-KR" sz="1000" dirty="0"/>
              <a:t>agent </a:t>
            </a:r>
            <a:r>
              <a:rPr lang="ko-KR" altLang="en-US" sz="1000" dirty="0" err="1"/>
              <a:t>정보와동일</a:t>
            </a:r>
            <a:r>
              <a:rPr lang="ko-KR" altLang="en-US" sz="1000" dirty="0"/>
              <a:t> 하게 설정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829BA38-0511-5EE9-3067-77B924F250C9}"/>
              </a:ext>
            </a:extLst>
          </p:cNvPr>
          <p:cNvSpPr txBox="1"/>
          <p:nvPr/>
        </p:nvSpPr>
        <p:spPr>
          <a:xfrm>
            <a:off x="3500845" y="5476135"/>
            <a:ext cx="104387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수집 주기 설정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7713462-9579-B5BC-3EA4-899D81AE7676}"/>
              </a:ext>
            </a:extLst>
          </p:cNvPr>
          <p:cNvSpPr txBox="1"/>
          <p:nvPr/>
        </p:nvSpPr>
        <p:spPr>
          <a:xfrm>
            <a:off x="10158548" y="4033853"/>
            <a:ext cx="104387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수집 채널 설정</a:t>
            </a: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771FA1CE-6F4F-722B-AC5D-01519B7B2C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5340" y="4357019"/>
            <a:ext cx="2332110" cy="102910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70880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4F3D08-665D-C3EE-F98D-A6B6991222A4}"/>
              </a:ext>
            </a:extLst>
          </p:cNvPr>
          <p:cNvSpPr txBox="1"/>
          <p:nvPr/>
        </p:nvSpPr>
        <p:spPr>
          <a:xfrm>
            <a:off x="218402" y="147447"/>
            <a:ext cx="74709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SMMS HISTORY</a:t>
            </a:r>
            <a:endParaRPr lang="ko-KR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491594B-E6A4-33A2-552A-DDAC4DA738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7467022"/>
              </p:ext>
            </p:extLst>
          </p:nvPr>
        </p:nvGraphicFramePr>
        <p:xfrm>
          <a:off x="429788" y="1326936"/>
          <a:ext cx="10641874" cy="476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0110">
                  <a:extLst>
                    <a:ext uri="{9D8B030D-6E8A-4147-A177-3AD203B41FA5}">
                      <a16:colId xmlns:a16="http://schemas.microsoft.com/office/drawing/2014/main" val="2004923022"/>
                    </a:ext>
                  </a:extLst>
                </a:gridCol>
                <a:gridCol w="1827012">
                  <a:extLst>
                    <a:ext uri="{9D8B030D-6E8A-4147-A177-3AD203B41FA5}">
                      <a16:colId xmlns:a16="http://schemas.microsoft.com/office/drawing/2014/main" val="2601759759"/>
                    </a:ext>
                  </a:extLst>
                </a:gridCol>
                <a:gridCol w="1214283">
                  <a:extLst>
                    <a:ext uri="{9D8B030D-6E8A-4147-A177-3AD203B41FA5}">
                      <a16:colId xmlns:a16="http://schemas.microsoft.com/office/drawing/2014/main" val="4208267926"/>
                    </a:ext>
                  </a:extLst>
                </a:gridCol>
                <a:gridCol w="6470469">
                  <a:extLst>
                    <a:ext uri="{9D8B030D-6E8A-4147-A177-3AD203B41FA5}">
                      <a16:colId xmlns:a16="http://schemas.microsoft.com/office/drawing/2014/main" val="37934170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No.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고객사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내용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27412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신한카드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AGENT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AGENT </a:t>
                      </a:r>
                      <a:r>
                        <a:rPr lang="ko-KR" altLang="en-US" dirty="0"/>
                        <a:t>채널 추가 외 </a:t>
                      </a:r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9914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신한</a:t>
                      </a:r>
                      <a:r>
                        <a:rPr lang="en-US" altLang="ko-KR" dirty="0"/>
                        <a:t>DS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WEB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경로조작 및 </a:t>
                      </a:r>
                      <a:r>
                        <a:rPr lang="ko-KR" altLang="en-US" dirty="0" err="1"/>
                        <a:t>자원삽입</a:t>
                      </a:r>
                      <a:r>
                        <a:rPr lang="ko-KR" altLang="en-US" dirty="0"/>
                        <a:t> 취약점 조치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2875971"/>
                  </a:ext>
                </a:extLst>
              </a:tr>
              <a:tr h="32867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신한</a:t>
                      </a:r>
                      <a:r>
                        <a:rPr lang="en-US" altLang="ko-KR" dirty="0"/>
                        <a:t>DS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WEB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대시보드 배치 변경 및 개발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9441106"/>
                  </a:ext>
                </a:extLst>
              </a:tr>
              <a:tr h="29159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신한은행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AGENT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AGENT </a:t>
                      </a:r>
                      <a:r>
                        <a:rPr lang="ko-KR" altLang="en-US" dirty="0"/>
                        <a:t>개선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0321193"/>
                  </a:ext>
                </a:extLst>
              </a:tr>
              <a:tr h="2545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신한은행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AGENT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AGENT </a:t>
                      </a:r>
                      <a:r>
                        <a:rPr lang="ko-KR" altLang="en-US" dirty="0"/>
                        <a:t>신규연동 지원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2235577"/>
                  </a:ext>
                </a:extLst>
              </a:tr>
              <a:tr h="21742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신한투자증권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AGENT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AGENT </a:t>
                      </a:r>
                      <a:r>
                        <a:rPr lang="ko-KR" altLang="en-US" dirty="0"/>
                        <a:t>신규연동 지원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6915209"/>
                  </a:ext>
                </a:extLst>
              </a:tr>
              <a:tr h="1803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신한투자증권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AGENT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AGENT </a:t>
                      </a:r>
                      <a:r>
                        <a:rPr lang="ko-KR" altLang="en-US" dirty="0"/>
                        <a:t>쿼리변경 지원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1091627"/>
                  </a:ext>
                </a:extLst>
              </a:tr>
              <a:tr h="1432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신한</a:t>
                      </a:r>
                      <a:r>
                        <a:rPr lang="en-US" altLang="ko-KR" dirty="0"/>
                        <a:t>DS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API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암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복호화 변경 지원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3482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9.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신한</a:t>
                      </a:r>
                      <a:r>
                        <a:rPr lang="en-US" altLang="ko-KR" dirty="0"/>
                        <a:t>DS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DB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DB </a:t>
                      </a:r>
                      <a:r>
                        <a:rPr lang="ko-KR" altLang="en-US" dirty="0"/>
                        <a:t>업그레이드 지원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74014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신한카드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DB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DB </a:t>
                      </a:r>
                      <a:r>
                        <a:rPr lang="ko-KR" altLang="en-US" dirty="0"/>
                        <a:t>변경 지원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19945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11.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신한투자증권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DB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DB </a:t>
                      </a:r>
                      <a:r>
                        <a:rPr lang="ko-KR" altLang="en-US" dirty="0"/>
                        <a:t>변경 지원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372482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12.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신한</a:t>
                      </a:r>
                      <a:r>
                        <a:rPr lang="en-US" altLang="ko-KR" dirty="0"/>
                        <a:t>DS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WEB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그룹사 정보 변경 지원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231799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EC9BAA8-AA44-8BBB-C7E5-BCA4372C8C7C}"/>
              </a:ext>
            </a:extLst>
          </p:cNvPr>
          <p:cNvSpPr txBox="1"/>
          <p:nvPr/>
        </p:nvSpPr>
        <p:spPr>
          <a:xfrm>
            <a:off x="429788" y="957604"/>
            <a:ext cx="35240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개발</a:t>
            </a:r>
            <a:r>
              <a:rPr lang="en-US" altLang="ko-KR" dirty="0"/>
              <a:t>/</a:t>
            </a:r>
            <a:r>
              <a:rPr lang="ko-KR" altLang="en-US" dirty="0"/>
              <a:t>지원 내역</a:t>
            </a:r>
            <a:r>
              <a:rPr lang="en-US" altLang="ko-KR" dirty="0"/>
              <a:t>(22.08 ~ )</a:t>
            </a:r>
          </a:p>
        </p:txBody>
      </p:sp>
    </p:spTree>
    <p:extLst>
      <p:ext uri="{BB962C8B-B14F-4D97-AF65-F5344CB8AC3E}">
        <p14:creationId xmlns:p14="http://schemas.microsoft.com/office/powerpoint/2010/main" val="37489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C183CB-89D0-2ED2-E7DF-E23C6F57A40B}"/>
              </a:ext>
            </a:extLst>
          </p:cNvPr>
          <p:cNvSpPr txBox="1"/>
          <p:nvPr/>
        </p:nvSpPr>
        <p:spPr>
          <a:xfrm>
            <a:off x="218402" y="147447"/>
            <a:ext cx="74709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SMMS </a:t>
            </a:r>
            <a:r>
              <a:rPr lang="ko-KR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정기점검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E8979D-1A6D-C639-8CAF-F6BC4EFD5416}"/>
              </a:ext>
            </a:extLst>
          </p:cNvPr>
          <p:cNvSpPr txBox="1"/>
          <p:nvPr/>
        </p:nvSpPr>
        <p:spPr>
          <a:xfrm>
            <a:off x="218402" y="800850"/>
            <a:ext cx="110766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- </a:t>
            </a:r>
            <a:r>
              <a:rPr lang="ko-KR" altLang="en-US" dirty="0"/>
              <a:t>점검 </a:t>
            </a:r>
            <a:r>
              <a:rPr lang="en-US" altLang="ko-KR" dirty="0"/>
              <a:t>: </a:t>
            </a:r>
            <a:r>
              <a:rPr lang="ko-KR" altLang="en-US" dirty="0"/>
              <a:t>신한투자증권</a:t>
            </a:r>
            <a:r>
              <a:rPr lang="en-US" altLang="ko-KR" dirty="0"/>
              <a:t>(</a:t>
            </a:r>
            <a:r>
              <a:rPr lang="ko-KR" altLang="en-US" dirty="0"/>
              <a:t>월 </a:t>
            </a:r>
            <a:r>
              <a:rPr lang="en-US" altLang="ko-KR" dirty="0"/>
              <a:t>1</a:t>
            </a:r>
            <a:r>
              <a:rPr lang="ko-KR" altLang="en-US" dirty="0"/>
              <a:t>주차</a:t>
            </a:r>
            <a:r>
              <a:rPr lang="en-US" altLang="ko-KR" dirty="0"/>
              <a:t>), </a:t>
            </a:r>
            <a:r>
              <a:rPr lang="ko-KR" altLang="en-US" dirty="0"/>
              <a:t>신한저축은행</a:t>
            </a:r>
            <a:r>
              <a:rPr lang="en-US" altLang="ko-KR" dirty="0"/>
              <a:t>(</a:t>
            </a:r>
            <a:r>
              <a:rPr lang="ko-KR" altLang="en-US" dirty="0"/>
              <a:t>월 </a:t>
            </a:r>
            <a:r>
              <a:rPr lang="en-US" altLang="ko-KR" dirty="0"/>
              <a:t>2</a:t>
            </a:r>
            <a:r>
              <a:rPr lang="ko-KR" altLang="en-US" dirty="0"/>
              <a:t>주차</a:t>
            </a:r>
            <a:r>
              <a:rPr lang="en-US" altLang="ko-KR" dirty="0"/>
              <a:t>), </a:t>
            </a:r>
            <a:r>
              <a:rPr lang="ko-KR" altLang="en-US" dirty="0"/>
              <a:t>신한라이프</a:t>
            </a:r>
            <a:r>
              <a:rPr lang="en-US" altLang="ko-KR" dirty="0"/>
              <a:t>(</a:t>
            </a:r>
            <a:r>
              <a:rPr lang="ko-KR" altLang="en-US" dirty="0"/>
              <a:t>월 </a:t>
            </a:r>
            <a:r>
              <a:rPr lang="en-US" altLang="ko-KR" dirty="0"/>
              <a:t>3</a:t>
            </a:r>
            <a:r>
              <a:rPr lang="ko-KR" altLang="en-US" dirty="0"/>
              <a:t>주차</a:t>
            </a:r>
            <a:r>
              <a:rPr lang="en-US" altLang="ko-KR" dirty="0"/>
              <a:t>), </a:t>
            </a:r>
            <a:r>
              <a:rPr lang="ko-KR" altLang="en-US" dirty="0"/>
              <a:t>신한</a:t>
            </a:r>
            <a:r>
              <a:rPr lang="en-US" altLang="ko-KR" dirty="0"/>
              <a:t>DS(</a:t>
            </a:r>
            <a:r>
              <a:rPr lang="ko-KR" altLang="en-US" dirty="0"/>
              <a:t>월</a:t>
            </a:r>
            <a:r>
              <a:rPr lang="en-US" altLang="ko-KR" dirty="0"/>
              <a:t> 20</a:t>
            </a:r>
            <a:r>
              <a:rPr lang="ko-KR" altLang="en-US" dirty="0"/>
              <a:t>일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84AD7E-3369-D222-FDB1-DB666E82B75C}"/>
              </a:ext>
            </a:extLst>
          </p:cNvPr>
          <p:cNvSpPr txBox="1"/>
          <p:nvPr/>
        </p:nvSpPr>
        <p:spPr>
          <a:xfrm>
            <a:off x="218401" y="1361920"/>
            <a:ext cx="110766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- </a:t>
            </a:r>
            <a:r>
              <a:rPr lang="ko-KR" altLang="en-US" dirty="0"/>
              <a:t>필요 문서 </a:t>
            </a:r>
            <a:r>
              <a:rPr lang="en-US" altLang="ko-KR" dirty="0"/>
              <a:t>: SMMS_</a:t>
            </a:r>
            <a:r>
              <a:rPr lang="ko-KR" altLang="en-US" dirty="0"/>
              <a:t>유지보수</a:t>
            </a:r>
            <a:r>
              <a:rPr lang="en-US" altLang="ko-KR" dirty="0"/>
              <a:t>_</a:t>
            </a:r>
            <a:r>
              <a:rPr lang="ko-KR" altLang="en-US" dirty="0"/>
              <a:t>날짜</a:t>
            </a:r>
            <a:r>
              <a:rPr lang="en-US" altLang="ko-KR" dirty="0"/>
              <a:t>.pdf, SMMS_</a:t>
            </a:r>
            <a:r>
              <a:rPr lang="ko-KR" altLang="en-US" dirty="0"/>
              <a:t>유지보수</a:t>
            </a:r>
            <a:r>
              <a:rPr lang="en-US" altLang="ko-KR" dirty="0"/>
              <a:t>_</a:t>
            </a:r>
            <a:r>
              <a:rPr lang="ko-KR" altLang="en-US" dirty="0"/>
              <a:t>날짜</a:t>
            </a:r>
            <a:r>
              <a:rPr lang="en-US" altLang="ko-KR" dirty="0"/>
              <a:t>.xlsx, SMMS_</a:t>
            </a:r>
            <a:r>
              <a:rPr lang="ko-KR" altLang="en-US" dirty="0"/>
              <a:t>유지보수</a:t>
            </a:r>
            <a:r>
              <a:rPr lang="en-US" altLang="ko-KR" dirty="0"/>
              <a:t>_</a:t>
            </a:r>
            <a:r>
              <a:rPr lang="ko-KR" altLang="en-US" dirty="0"/>
              <a:t>공수분석</a:t>
            </a:r>
            <a:r>
              <a:rPr lang="en-US" altLang="ko-KR" dirty="0"/>
              <a:t>_</a:t>
            </a:r>
            <a:r>
              <a:rPr lang="ko-KR" altLang="en-US" dirty="0"/>
              <a:t>날짜</a:t>
            </a:r>
            <a:r>
              <a:rPr lang="en-US" altLang="ko-KR" dirty="0"/>
              <a:t>.xlsx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3C8328-C11F-6E1D-1C62-9CE326E43743}"/>
              </a:ext>
            </a:extLst>
          </p:cNvPr>
          <p:cNvSpPr txBox="1"/>
          <p:nvPr/>
        </p:nvSpPr>
        <p:spPr>
          <a:xfrm>
            <a:off x="218401" y="1922990"/>
            <a:ext cx="110766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- </a:t>
            </a:r>
            <a:r>
              <a:rPr lang="ko-KR" altLang="en-US" dirty="0"/>
              <a:t>필요 문서 작성 후 매월 </a:t>
            </a:r>
            <a:r>
              <a:rPr lang="en-US" altLang="ko-KR" dirty="0"/>
              <a:t>20</a:t>
            </a:r>
            <a:r>
              <a:rPr lang="ko-KR" altLang="en-US" dirty="0"/>
              <a:t>일</a:t>
            </a:r>
            <a:r>
              <a:rPr lang="en-US" altLang="ko-KR" dirty="0"/>
              <a:t>(</a:t>
            </a:r>
            <a:r>
              <a:rPr lang="ko-KR" altLang="en-US" dirty="0"/>
              <a:t>휴일일 경우 전후 날짜 조정</a:t>
            </a:r>
            <a:r>
              <a:rPr lang="en-US" altLang="ko-KR" dirty="0"/>
              <a:t>) </a:t>
            </a:r>
            <a:r>
              <a:rPr lang="en-US" altLang="ko-KR" sz="1800" dirty="0">
                <a:effectLst/>
                <a:latin typeface="맑은 고딕" panose="020B0503020000020004" pitchFamily="50" charset="-127"/>
                <a:cs typeface="Times New Roman" panose="02020603050405020304" pitchFamily="18" charset="0"/>
                <a:hlinkClick r:id="rId2"/>
              </a:rPr>
              <a:t>shyunpark@lgupluspartners.co.kr</a:t>
            </a:r>
            <a:r>
              <a:rPr lang="en-US" altLang="ko-KR" sz="1800" dirty="0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800" dirty="0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로 발송</a:t>
            </a:r>
            <a:endParaRPr lang="en-US" altLang="ko-KR" sz="1800" dirty="0">
              <a:effectLst/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ko-KR" altLang="en-US" dirty="0">
                <a:latin typeface="맑은 고딕" panose="020B0503020000020004" pitchFamily="50" charset="-127"/>
                <a:cs typeface="Times New Roman" panose="02020603050405020304" pitchFamily="18" charset="0"/>
              </a:rPr>
              <a:t>참조 </a:t>
            </a:r>
            <a:r>
              <a:rPr lang="en-US" altLang="ko-KR" dirty="0">
                <a:latin typeface="맑은 고딕" panose="020B0503020000020004" pitchFamily="50" charset="-127"/>
                <a:cs typeface="Times New Roman" panose="02020603050405020304" pitchFamily="18" charset="0"/>
              </a:rPr>
              <a:t>: </a:t>
            </a:r>
            <a:r>
              <a:rPr lang="en-US" altLang="ko-KR" sz="1800" dirty="0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shyunpark@ectech.co.kr , jbcheong@ectech.co.kr , plpark@ectech.co.kr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882E40-8B8F-73CF-FAFE-0B4AD0C860BF}"/>
              </a:ext>
            </a:extLst>
          </p:cNvPr>
          <p:cNvSpPr txBox="1"/>
          <p:nvPr/>
        </p:nvSpPr>
        <p:spPr>
          <a:xfrm>
            <a:off x="218401" y="2761059"/>
            <a:ext cx="1107661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- </a:t>
            </a:r>
            <a:r>
              <a:rPr lang="ko-KR" altLang="en-US" dirty="0"/>
              <a:t>정기</a:t>
            </a:r>
            <a:r>
              <a:rPr lang="en-US" altLang="ko-KR" dirty="0"/>
              <a:t>PM : 3</a:t>
            </a:r>
            <a:r>
              <a:rPr lang="ko-KR" altLang="en-US" dirty="0"/>
              <a:t>월</a:t>
            </a:r>
            <a:r>
              <a:rPr lang="en-US" altLang="ko-KR" dirty="0"/>
              <a:t>, 6</a:t>
            </a:r>
            <a:r>
              <a:rPr lang="ko-KR" altLang="en-US" dirty="0"/>
              <a:t>월</a:t>
            </a:r>
            <a:r>
              <a:rPr lang="en-US" altLang="ko-KR" dirty="0"/>
              <a:t>, 9</a:t>
            </a:r>
            <a:r>
              <a:rPr lang="ko-KR" altLang="en-US" dirty="0"/>
              <a:t>월</a:t>
            </a:r>
            <a:r>
              <a:rPr lang="en-US" altLang="ko-KR" dirty="0"/>
              <a:t>, 12</a:t>
            </a:r>
            <a:r>
              <a:rPr lang="ko-KR" altLang="en-US" dirty="0"/>
              <a:t>월 각 분기별 진행</a:t>
            </a:r>
            <a:r>
              <a:rPr lang="en-US" altLang="ko-KR" dirty="0"/>
              <a:t>(DS </a:t>
            </a:r>
            <a:r>
              <a:rPr lang="ko-KR" altLang="en-US" dirty="0" err="1"/>
              <a:t>선영석</a:t>
            </a:r>
            <a:r>
              <a:rPr lang="ko-KR" altLang="en-US" dirty="0"/>
              <a:t> 수석 일정 통지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해당일 </a:t>
            </a:r>
            <a:r>
              <a:rPr lang="en-US" altLang="ko-KR" dirty="0"/>
              <a:t>17</a:t>
            </a:r>
            <a:r>
              <a:rPr lang="ko-KR" altLang="en-US" dirty="0"/>
              <a:t>시 </a:t>
            </a:r>
            <a:r>
              <a:rPr lang="en-US" altLang="ko-KR" dirty="0"/>
              <a:t>30</a:t>
            </a:r>
            <a:r>
              <a:rPr lang="ko-KR" altLang="en-US" dirty="0"/>
              <a:t>분 신한 </a:t>
            </a:r>
            <a:r>
              <a:rPr lang="en-US" altLang="ko-KR" dirty="0"/>
              <a:t>DS </a:t>
            </a:r>
            <a:r>
              <a:rPr lang="ko-KR" altLang="en-US" dirty="0"/>
              <a:t>방문 후 </a:t>
            </a:r>
            <a:r>
              <a:rPr lang="en-US" altLang="ko-KR" dirty="0"/>
              <a:t>PM </a:t>
            </a:r>
            <a:r>
              <a:rPr lang="ko-KR" altLang="en-US" dirty="0"/>
              <a:t>진행</a:t>
            </a:r>
            <a:endParaRPr lang="en-US" altLang="ko-KR" dirty="0"/>
          </a:p>
          <a:p>
            <a:r>
              <a:rPr lang="ko-KR" altLang="en-US" dirty="0"/>
              <a:t>참고 </a:t>
            </a:r>
            <a:r>
              <a:rPr lang="en-US" altLang="ko-KR" dirty="0"/>
              <a:t>: SMMS_PM_</a:t>
            </a:r>
            <a:r>
              <a:rPr lang="ko-KR" altLang="en-US" dirty="0"/>
              <a:t>절차</a:t>
            </a:r>
            <a:r>
              <a:rPr lang="en-US" altLang="ko-KR" dirty="0"/>
              <a:t>.txt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6BD3C6-6DC9-1769-2E5B-41D132E9B9CB}"/>
              </a:ext>
            </a:extLst>
          </p:cNvPr>
          <p:cNvSpPr txBox="1"/>
          <p:nvPr/>
        </p:nvSpPr>
        <p:spPr>
          <a:xfrm>
            <a:off x="218400" y="3876127"/>
            <a:ext cx="110766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- </a:t>
            </a:r>
            <a:r>
              <a:rPr lang="ko-KR" altLang="en-US" dirty="0"/>
              <a:t>담당자 정보 </a:t>
            </a:r>
            <a:r>
              <a:rPr lang="en-US" altLang="ko-KR" dirty="0"/>
              <a:t>: SMMS_</a:t>
            </a:r>
            <a:r>
              <a:rPr lang="ko-KR" altLang="en-US" dirty="0"/>
              <a:t>개발</a:t>
            </a:r>
            <a:r>
              <a:rPr lang="en-US" altLang="ko-KR" dirty="0"/>
              <a:t>_</a:t>
            </a:r>
            <a:r>
              <a:rPr lang="ko-KR" altLang="en-US" dirty="0"/>
              <a:t>매뉴얼</a:t>
            </a:r>
            <a:r>
              <a:rPr lang="en-US" altLang="ko-KR" dirty="0"/>
              <a:t>_v2.0.docx</a:t>
            </a:r>
            <a:r>
              <a:rPr lang="ko-KR" altLang="en-US" dirty="0"/>
              <a:t> 참고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82EC54-374A-088E-1C48-88DFF3BF6C62}"/>
              </a:ext>
            </a:extLst>
          </p:cNvPr>
          <p:cNvSpPr txBox="1"/>
          <p:nvPr/>
        </p:nvSpPr>
        <p:spPr>
          <a:xfrm>
            <a:off x="244867" y="4437197"/>
            <a:ext cx="606884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- </a:t>
            </a:r>
            <a:r>
              <a:rPr lang="ko-KR" altLang="en-US" dirty="0"/>
              <a:t>점검 요령 </a:t>
            </a:r>
            <a:r>
              <a:rPr lang="en-US" altLang="ko-KR" dirty="0"/>
              <a:t>: </a:t>
            </a:r>
          </a:p>
          <a:p>
            <a:pPr marL="342900" indent="-342900">
              <a:buAutoNum type="arabicPeriod"/>
            </a:pPr>
            <a:r>
              <a:rPr lang="ko-KR" altLang="en-US" dirty="0"/>
              <a:t>점검 양식 출력</a:t>
            </a:r>
            <a:r>
              <a:rPr lang="en-US" altLang="ko-KR" dirty="0"/>
              <a:t>(SMMS_</a:t>
            </a:r>
            <a:r>
              <a:rPr lang="ko-KR" altLang="en-US" dirty="0"/>
              <a:t>유지보수</a:t>
            </a:r>
            <a:r>
              <a:rPr lang="en-US" altLang="ko-KR" dirty="0"/>
              <a:t>_</a:t>
            </a:r>
            <a:r>
              <a:rPr lang="ko-KR" altLang="en-US" dirty="0"/>
              <a:t>그룹사점검양식</a:t>
            </a:r>
            <a:r>
              <a:rPr lang="en-US" altLang="ko-KR" dirty="0"/>
              <a:t>.</a:t>
            </a:r>
            <a:r>
              <a:rPr lang="en-US" altLang="ko-KR" dirty="0" err="1"/>
              <a:t>xls</a:t>
            </a:r>
            <a:r>
              <a:rPr lang="en-US" altLang="ko-KR" dirty="0"/>
              <a:t>)</a:t>
            </a:r>
          </a:p>
          <a:p>
            <a:pPr marL="342900" indent="-342900">
              <a:buAutoNum type="arabicPeriod"/>
            </a:pPr>
            <a:r>
              <a:rPr lang="ko-KR" altLang="en-US" dirty="0"/>
              <a:t>고객사 방문 후 에이전트 설치 서버 접속</a:t>
            </a:r>
            <a:r>
              <a:rPr lang="en-US" altLang="ko-KR" dirty="0"/>
              <a:t>(</a:t>
            </a:r>
            <a:r>
              <a:rPr lang="ko-KR" altLang="en-US" dirty="0"/>
              <a:t>담당자 접속</a:t>
            </a:r>
            <a:r>
              <a:rPr lang="en-US" altLang="ko-KR" dirty="0"/>
              <a:t>)</a:t>
            </a:r>
          </a:p>
          <a:p>
            <a:pPr marL="342900" indent="-342900">
              <a:buAutoNum type="arabicPeriod"/>
            </a:pPr>
            <a:r>
              <a:rPr lang="ko-KR" altLang="en-US" dirty="0"/>
              <a:t>점검결과이상유무 체크</a:t>
            </a:r>
            <a:endParaRPr lang="en-US" altLang="ko-KR" dirty="0"/>
          </a:p>
          <a:p>
            <a:pPr marL="800100" lvl="1" indent="-342900">
              <a:buAutoNum type="arabicPeriod"/>
            </a:pPr>
            <a:r>
              <a:rPr lang="ko-KR" altLang="en-US" dirty="0"/>
              <a:t>에이전트 에러로그 및 로그 용량 등</a:t>
            </a:r>
            <a:endParaRPr lang="en-US" altLang="ko-KR" dirty="0"/>
          </a:p>
          <a:p>
            <a:pPr marL="800100" lvl="1" indent="-342900">
              <a:buAutoNum type="arabicPeriod"/>
            </a:pPr>
            <a:r>
              <a:rPr lang="ko-KR" altLang="en-US" dirty="0"/>
              <a:t>에이전트 시스템 점유 </a:t>
            </a:r>
            <a:r>
              <a:rPr lang="en-US" altLang="ko-KR" dirty="0"/>
              <a:t>CPU/MEM</a:t>
            </a:r>
          </a:p>
          <a:p>
            <a:pPr marL="800100" lvl="1" indent="-342900">
              <a:buAutoNum type="arabicPeriod"/>
            </a:pPr>
            <a:r>
              <a:rPr lang="ko-KR" altLang="en-US" dirty="0"/>
              <a:t>시스템 상태 확인 등</a:t>
            </a:r>
            <a:endParaRPr lang="en-US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C4DBE4-FD29-8B9E-9A45-9FD1611A1439}"/>
              </a:ext>
            </a:extLst>
          </p:cNvPr>
          <p:cNvSpPr txBox="1"/>
          <p:nvPr/>
        </p:nvSpPr>
        <p:spPr>
          <a:xfrm>
            <a:off x="6313714" y="4714196"/>
            <a:ext cx="606884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4. </a:t>
            </a:r>
            <a:r>
              <a:rPr lang="ko-KR" altLang="en-US" dirty="0"/>
              <a:t>담당자 </a:t>
            </a:r>
            <a:r>
              <a:rPr lang="en-US" altLang="ko-KR" dirty="0"/>
              <a:t>PC</a:t>
            </a:r>
            <a:r>
              <a:rPr lang="ko-KR" altLang="en-US" dirty="0"/>
              <a:t>에서 </a:t>
            </a:r>
            <a:r>
              <a:rPr lang="en-US" altLang="ko-KR" dirty="0"/>
              <a:t>DS </a:t>
            </a:r>
            <a:r>
              <a:rPr lang="ko-KR" altLang="en-US" dirty="0"/>
              <a:t>웹 확인</a:t>
            </a:r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정산 담당자와 시스템 담당자가 다를 경우 접속 불가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5. </a:t>
            </a:r>
            <a:r>
              <a:rPr lang="ko-KR" altLang="en-US" dirty="0"/>
              <a:t>업무 정합성 검증</a:t>
            </a:r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특이사항 발생시 전달 </a:t>
            </a:r>
            <a:r>
              <a:rPr lang="en-US" altLang="ko-KR" dirty="0"/>
              <a:t>DS</a:t>
            </a:r>
            <a:r>
              <a:rPr lang="ko-KR" altLang="en-US" dirty="0"/>
              <a:t> 담당자가 통보함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6. </a:t>
            </a:r>
            <a:r>
              <a:rPr lang="ko-KR" altLang="en-US" dirty="0"/>
              <a:t>검토 이 후 </a:t>
            </a:r>
            <a:r>
              <a:rPr lang="en-US" altLang="ko-KR" dirty="0"/>
              <a:t>20</a:t>
            </a:r>
            <a:r>
              <a:rPr lang="ko-KR" altLang="en-US" dirty="0"/>
              <a:t>일까지 상기 필요 문서 작성 및 전달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07359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SMMS리뷰</Template>
  <TotalTime>257</TotalTime>
  <Words>837</Words>
  <Application>Microsoft Office PowerPoint</Application>
  <PresentationFormat>와이드스크린</PresentationFormat>
  <Paragraphs>206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downright86@gmail.com</dc:creator>
  <cp:lastModifiedBy>downright86@gmail.com</cp:lastModifiedBy>
  <cp:revision>44</cp:revision>
  <dcterms:created xsi:type="dcterms:W3CDTF">2023-10-23T01:56:38Z</dcterms:created>
  <dcterms:modified xsi:type="dcterms:W3CDTF">2023-10-26T00:30:13Z</dcterms:modified>
</cp:coreProperties>
</file>